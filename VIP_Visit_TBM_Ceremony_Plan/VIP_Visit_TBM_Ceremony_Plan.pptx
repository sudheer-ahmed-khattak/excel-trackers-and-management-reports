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a6b6b9f-2aa5-db63-9ff0-c788bf710462}">
          <p14:sldIdLst>
            <p14:sldId id="256"/>
            <p14:sldId id="257"/>
          </p14:sldIdLst>
        </p14:section>
        <p14:section name="Program" id="{7e0bdfbc-479e-d689-2847-58cdff57fef7}">
          <p14:sldIdLst>
            <p14:sldId id="258"/>
            <p14:sldId id="259"/>
          </p14:sldIdLst>
        </p14:section>
        <p14:section name="Logistics" id="{ce9a13a0-9a69-6139-6e41-8930f5f91ae7}">
          <p14:sldIdLst>
            <p14:sldId id="260"/>
            <p14:sldId id="261"/>
            <p14:sldId id="262"/>
          </p14:sldIdLst>
        </p14:section>
        <p14:section name="Readiness" id="{b4305d23-5d2e-a719-db53-fa3dc6113f59}">
          <p14:sldIdLst>
            <p14:sldId id="263"/>
            <p14:sldId id="264"/>
            <p14:sldId id="265"/>
          </p14:sldIdLst>
        </p14:section>
        <p14:section name="Close" id="{aceb4b9b-7cca-a393-cf2a-0afaba3bc71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3D3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0F3D3E"/>
                </a:solidFill>
                <a:latin typeface="+mj-lt"/>
              </a:rPr>
              <a:t>Guest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Guests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794A"/>
              </a:solidFill>
              <a:effectLst/>
            </c:spPr>
          </c:dPt>
          <c:dPt>
            <c:idx val="1"/>
            <c:bubble3D val="0"/>
            <c:spPr>
              <a:solidFill>
                <a:srgbClr val="1F6F6B"/>
              </a:solidFill>
              <a:effectLst/>
            </c:spPr>
          </c:dPt>
          <c:dPt>
            <c:idx val="2"/>
            <c:bubble3D val="0"/>
            <c:spPr>
              <a:solidFill>
                <a:srgbClr val="0F3D3E"/>
              </a:solidFill>
              <a:effectLst/>
            </c:spPr>
          </c:dPt>
          <c:dPt>
            <c:idx val="3"/>
            <c:bubble3D val="0"/>
            <c:spPr>
              <a:solidFill>
                <a:srgbClr val="D9A441"/>
              </a:solidFill>
              <a:effectLst/>
            </c:spPr>
          </c:dPt>
          <c:dPt>
            <c:idx val="4"/>
            <c:bubble3D val="0"/>
            <c:spPr>
              <a:solidFill>
                <a:srgbClr val="7FA8A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T1 VIP</c:v>
                </c:pt>
                <c:pt idx="1">
                  <c:v>T2 Client</c:v>
                </c:pt>
                <c:pt idx="2">
                  <c:v>T3 JV</c:v>
                </c:pt>
                <c:pt idx="3">
                  <c:v>T4 Media</c:v>
                </c:pt>
                <c:pt idx="4">
                  <c:v>T5 Workforce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14</c:v>
                </c:pt>
                <c:pt idx="1">
                  <c:v>28</c:v>
                </c:pt>
                <c:pt idx="2">
                  <c:v>36</c:v>
                </c:pt>
                <c:pt idx="3">
                  <c:v>8</c:v>
                </c:pt>
                <c:pt idx="4">
                  <c:v>34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plan for the VIP visit and TBM breakthrough ceremony. All names, companies and figures are fictional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5486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Coastal Tunnel Package – Lot 3  ·  VIP Visit &amp; TBM Breakthrough Ceremony  ·  Demo data</a:t>
            </a:r>
            <a:endParaRPr lang="en-US" sz="8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Coastal Tunnel Package – Lot 3  ·  VIP Visit &amp; TBM Breakthrough Ceremony  ·  Demo data</a:t>
            </a:r>
            <a:endParaRPr lang="en-US" sz="8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EVENT PLAN  ·  COASTAL TUNNEL PACKAGE – LOT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Visit &amp; TBM Breakthrough Ceremony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Run-of-show, guest protocol, site access, transport and hospitality plan for the Al-Noor TBM breakthrough</a:t>
            </a:r>
            <a:endParaRPr lang="en-US" sz="1500" dirty="0"/>
          </a:p>
        </p:txBody>
      </p:sp>
      <p:sp>
        <p:nvSpPr>
          <p:cNvPr id="5" name="ring-0"/>
          <p:cNvSpPr/>
          <p:nvPr/>
        </p:nvSpPr>
        <p:spPr>
          <a:xfrm>
            <a:off x="6035040" y="1005840"/>
            <a:ext cx="2651760" cy="26517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6" name="ring-1"/>
          <p:cNvSpPr/>
          <p:nvPr/>
        </p:nvSpPr>
        <p:spPr>
          <a:xfrm>
            <a:off x="6309360" y="1280160"/>
            <a:ext cx="2103120" cy="210312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ring-2"/>
          <p:cNvSpPr/>
          <p:nvPr/>
        </p:nvSpPr>
        <p:spPr>
          <a:xfrm>
            <a:off x="6583680" y="1554480"/>
            <a:ext cx="1554480" cy="155448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2"/>
            </a:solidFill>
            <a:prstDash val="solid"/>
          </a:ln>
        </p:spPr>
      </p:sp>
      <p:sp>
        <p:nvSpPr>
          <p:cNvPr id="8" name="ring-core"/>
          <p:cNvSpPr/>
          <p:nvPr/>
        </p:nvSpPr>
        <p:spPr>
          <a:xfrm>
            <a:off x="6858000" y="1828800"/>
            <a:ext cx="1005840" cy="10058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9" name="ring-fla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103120"/>
            <a:ext cx="457200" cy="457200"/>
          </a:xfrm>
          <a:prstGeom prst="rect">
            <a:avLst/>
          </a:prstGeom>
        </p:spPr>
      </p:pic>
      <p:pic>
        <p:nvPicPr>
          <p:cNvPr id="10" name="meta-icon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69080"/>
            <a:ext cx="237744" cy="237744"/>
          </a:xfrm>
          <a:prstGeom prst="rect">
            <a:avLst/>
          </a:prstGeom>
        </p:spPr>
      </p:pic>
      <p:sp>
        <p:nvSpPr>
          <p:cNvPr id="11" name="text-1"/>
          <p:cNvSpPr txBox="1"/>
          <p:nvPr/>
        </p:nvSpPr>
        <p:spPr>
          <a:xfrm>
            <a:off x="877824" y="40416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Thu, 19 Nov 2026</a:t>
            </a:r>
            <a:endParaRPr lang="en-US" sz="1100" dirty="0"/>
          </a:p>
        </p:txBody>
      </p:sp>
      <p:pic>
        <p:nvPicPr>
          <p:cNvPr id="12" name="meta-icon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069080"/>
            <a:ext cx="237744" cy="237744"/>
          </a:xfrm>
          <a:prstGeom prst="rect">
            <a:avLst/>
          </a:prstGeom>
        </p:spPr>
      </p:pic>
      <p:sp>
        <p:nvSpPr>
          <p:cNvPr id="13" name="text-2"/>
          <p:cNvSpPr txBox="1"/>
          <p:nvPr/>
        </p:nvSpPr>
        <p:spPr>
          <a:xfrm>
            <a:off x="3392424" y="40416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North Portal Shaft, Site Camp 2</a:t>
            </a:r>
            <a:endParaRPr lang="en-US" sz="1100" dirty="0"/>
          </a:p>
        </p:txBody>
      </p:sp>
      <p:pic>
        <p:nvPicPr>
          <p:cNvPr id="14" name="meta-icon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069080"/>
            <a:ext cx="237744" cy="237744"/>
          </a:xfrm>
          <a:prstGeom prst="rect">
            <a:avLst/>
          </a:prstGeom>
        </p:spPr>
      </p:pic>
      <p:sp>
        <p:nvSpPr>
          <p:cNvPr id="15" name="text-3"/>
          <p:cNvSpPr txBox="1"/>
          <p:nvPr/>
        </p:nvSpPr>
        <p:spPr>
          <a:xfrm>
            <a:off x="5907024" y="40416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Prepared by Executive Office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at a glance</a:t>
            </a:r>
            <a:endParaRPr lang="en-US" sz="2400" dirty="0"/>
          </a:p>
        </p:txBody>
      </p:sp>
      <p:sp>
        <p:nvSpPr>
          <p:cNvPr id="3" name="card-4"/>
          <p:cNvSpPr/>
          <p:nvPr/>
        </p:nvSpPr>
        <p:spPr>
          <a:xfrm>
            <a:off x="45720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" name="dot-5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289304"/>
            <a:ext cx="256032" cy="256032"/>
          </a:xfrm>
          <a:prstGeom prst="rect">
            <a:avLst/>
          </a:prstGeom>
        </p:spPr>
      </p:pic>
      <p:sp>
        <p:nvSpPr>
          <p:cNvPr id="6" name="text-7"/>
          <p:cNvSpPr txBox="1"/>
          <p:nvPr/>
        </p:nvSpPr>
        <p:spPr>
          <a:xfrm>
            <a:off x="6400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200" dirty="0"/>
          </a:p>
        </p:txBody>
      </p:sp>
      <p:sp>
        <p:nvSpPr>
          <p:cNvPr id="7" name="text-8"/>
          <p:cNvSpPr txBox="1"/>
          <p:nvPr/>
        </p:nvSpPr>
        <p:spPr>
          <a:xfrm>
            <a:off x="1207008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Invited guests</a:t>
            </a:r>
            <a:endParaRPr lang="en-US" sz="950" dirty="0"/>
          </a:p>
        </p:txBody>
      </p:sp>
      <p:sp>
        <p:nvSpPr>
          <p:cNvPr id="8" name="card-9"/>
          <p:cNvSpPr/>
          <p:nvPr/>
        </p:nvSpPr>
        <p:spPr>
          <a:xfrm>
            <a:off x="256032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9" name="dot-10"/>
          <p:cNvSpPr/>
          <p:nvPr/>
        </p:nvSpPr>
        <p:spPr>
          <a:xfrm>
            <a:off x="274320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289304"/>
            <a:ext cx="256032" cy="256032"/>
          </a:xfrm>
          <a:prstGeom prst="rect">
            <a:avLst/>
          </a:prstGeom>
        </p:spPr>
      </p:pic>
      <p:sp>
        <p:nvSpPr>
          <p:cNvPr id="11" name="text-12"/>
          <p:cNvSpPr txBox="1"/>
          <p:nvPr/>
        </p:nvSpPr>
        <p:spPr>
          <a:xfrm>
            <a:off x="27432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12" name="text-13"/>
          <p:cNvSpPr txBox="1"/>
          <p:nvPr/>
        </p:nvSpPr>
        <p:spPr>
          <a:xfrm>
            <a:off x="3310128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VIP delegates</a:t>
            </a:r>
            <a:endParaRPr lang="en-US" sz="950" dirty="0"/>
          </a:p>
        </p:txBody>
      </p:sp>
      <p:sp>
        <p:nvSpPr>
          <p:cNvPr id="13" name="card-14"/>
          <p:cNvSpPr/>
          <p:nvPr/>
        </p:nvSpPr>
        <p:spPr>
          <a:xfrm>
            <a:off x="466344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4" name="dot-15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289304"/>
            <a:ext cx="256032" cy="256032"/>
          </a:xfrm>
          <a:prstGeom prst="rect">
            <a:avLst/>
          </a:prstGeom>
        </p:spPr>
      </p:pic>
      <p:sp>
        <p:nvSpPr>
          <p:cNvPr id="16" name="text-17"/>
          <p:cNvSpPr txBox="1"/>
          <p:nvPr/>
        </p:nvSpPr>
        <p:spPr>
          <a:xfrm>
            <a:off x="484632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 15 m</a:t>
            </a:r>
            <a:endParaRPr lang="en-US" sz="2200" dirty="0"/>
          </a:p>
        </p:txBody>
      </p:sp>
      <p:sp>
        <p:nvSpPr>
          <p:cNvPr id="17" name="text-18"/>
          <p:cNvSpPr txBox="1"/>
          <p:nvPr/>
        </p:nvSpPr>
        <p:spPr>
          <a:xfrm>
            <a:off x="5413248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Gate-in to departure</a:t>
            </a:r>
            <a:endParaRPr lang="en-US" sz="950" dirty="0"/>
          </a:p>
        </p:txBody>
      </p:sp>
      <p:sp>
        <p:nvSpPr>
          <p:cNvPr id="18" name="card-19"/>
          <p:cNvSpPr/>
          <p:nvPr/>
        </p:nvSpPr>
        <p:spPr>
          <a:xfrm>
            <a:off x="676656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9" name="dot-20"/>
          <p:cNvSpPr/>
          <p:nvPr/>
        </p:nvSpPr>
        <p:spPr>
          <a:xfrm>
            <a:off x="694944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1289304"/>
            <a:ext cx="256032" cy="256032"/>
          </a:xfrm>
          <a:prstGeom prst="rect">
            <a:avLst/>
          </a:prstGeom>
        </p:spPr>
      </p:pic>
      <p:sp>
        <p:nvSpPr>
          <p:cNvPr id="21" name="text-22"/>
          <p:cNvSpPr txBox="1"/>
          <p:nvPr/>
        </p:nvSpPr>
        <p:spPr>
          <a:xfrm>
            <a:off x="694944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200" dirty="0"/>
          </a:p>
        </p:txBody>
      </p:sp>
      <p:sp>
        <p:nvSpPr>
          <p:cNvPr id="22" name="text-23"/>
          <p:cNvSpPr txBox="1"/>
          <p:nvPr/>
        </p:nvSpPr>
        <p:spPr>
          <a:xfrm>
            <a:off x="7516368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Vehicles in movement plan</a:t>
            </a:r>
            <a:endParaRPr lang="en-US" sz="950" dirty="0"/>
          </a:p>
        </p:txBody>
      </p:sp>
      <p:sp>
        <p:nvSpPr>
          <p:cNvPr id="23" name="card-24"/>
          <p:cNvSpPr/>
          <p:nvPr/>
        </p:nvSpPr>
        <p:spPr>
          <a:xfrm>
            <a:off x="457200" y="2377440"/>
            <a:ext cx="406908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24" name="text-25"/>
          <p:cNvSpPr txBox="1"/>
          <p:nvPr/>
        </p:nvSpPr>
        <p:spPr>
          <a:xfrm>
            <a:off x="6858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Objective</a:t>
            </a:r>
            <a:endParaRPr lang="en-US" sz="1300" dirty="0"/>
          </a:p>
        </p:txBody>
      </p:sp>
      <p:sp>
        <p:nvSpPr>
          <p:cNvPr id="25" name="text-26"/>
          <p:cNvSpPr txBox="1"/>
          <p:nvPr/>
        </p:nvSpPr>
        <p:spPr>
          <a:xfrm>
            <a:off x="685800" y="28529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Celebrate the Al-Noor TBM breakthrough at the North Portal with the client leadership, deliver a safe and seamless VIP experience, and capture high-quality media for project communications.</a:t>
            </a:r>
            <a:endParaRPr lang="en-US" sz="1100" dirty="0"/>
          </a:p>
        </p:txBody>
      </p:sp>
      <p:sp>
        <p:nvSpPr>
          <p:cNvPr id="26" name="text-27"/>
          <p:cNvSpPr txBox="1"/>
          <p:nvPr/>
        </p:nvSpPr>
        <p:spPr>
          <a:xfrm>
            <a:off x="68580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Zero safety incidents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Program runs within 10 minutes of schedule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All guests accredited before entering Zone C</a:t>
            </a:r>
            <a:endParaRPr lang="en-US" sz="1050" dirty="0"/>
          </a:p>
        </p:txBody>
      </p:sp>
      <p:sp>
        <p:nvSpPr>
          <p:cNvPr id="27" name="card-28"/>
          <p:cNvSpPr/>
          <p:nvPr/>
        </p:nvSpPr>
        <p:spPr>
          <a:xfrm>
            <a:off x="4663440" y="237744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28" name="text-29"/>
          <p:cNvSpPr txBox="1"/>
          <p:nvPr/>
        </p:nvSpPr>
        <p:spPr>
          <a:xfrm>
            <a:off x="489204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Key details</a:t>
            </a:r>
            <a:endParaRPr lang="en-US" sz="1300" dirty="0"/>
          </a:p>
        </p:txBody>
      </p:sp>
      <p:sp>
        <p:nvSpPr>
          <p:cNvPr id="29" name="text-30"/>
          <p:cNvSpPr txBox="1"/>
          <p:nvPr/>
        </p:nvSpPr>
        <p:spPr>
          <a:xfrm>
            <a:off x="4892040" y="28803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Chief guest</a:t>
            </a:r>
            <a:endParaRPr lang="en-US" sz="1000" dirty="0"/>
          </a:p>
        </p:txBody>
      </p:sp>
      <p:sp>
        <p:nvSpPr>
          <p:cNvPr id="30" name="text-31"/>
          <p:cNvSpPr txBox="1"/>
          <p:nvPr/>
        </p:nvSpPr>
        <p:spPr>
          <a:xfrm>
            <a:off x="5943600" y="2880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H.E. Faisal Al-Rashidi, CEO, CGDA</a:t>
            </a:r>
            <a:endParaRPr lang="en-US" sz="1000" dirty="0"/>
          </a:p>
        </p:txBody>
      </p:sp>
      <p:sp>
        <p:nvSpPr>
          <p:cNvPr id="31" name="text-32"/>
          <p:cNvSpPr txBox="1"/>
          <p:nvPr/>
        </p:nvSpPr>
        <p:spPr>
          <a:xfrm>
            <a:off x="4892040" y="31638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Host</a:t>
            </a:r>
            <a:endParaRPr lang="en-US" sz="1000" dirty="0"/>
          </a:p>
        </p:txBody>
      </p:sp>
      <p:sp>
        <p:nvSpPr>
          <p:cNvPr id="32" name="text-33"/>
          <p:cNvSpPr txBox="1"/>
          <p:nvPr/>
        </p:nvSpPr>
        <p:spPr>
          <a:xfrm>
            <a:off x="5943600" y="31638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Project Director, Desert Horizon JV</a:t>
            </a:r>
            <a:endParaRPr lang="en-US" sz="1000" dirty="0"/>
          </a:p>
        </p:txBody>
      </p:sp>
      <p:sp>
        <p:nvSpPr>
          <p:cNvPr id="33" name="text-34"/>
          <p:cNvSpPr txBox="1"/>
          <p:nvPr/>
        </p:nvSpPr>
        <p:spPr>
          <a:xfrm>
            <a:off x="4892040" y="34472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Consultant</a:t>
            </a:r>
            <a:endParaRPr lang="en-US" sz="1000" dirty="0"/>
          </a:p>
        </p:txBody>
      </p:sp>
      <p:sp>
        <p:nvSpPr>
          <p:cNvPr id="34" name="text-35"/>
          <p:cNvSpPr txBox="1"/>
          <p:nvPr/>
        </p:nvSpPr>
        <p:spPr>
          <a:xfrm>
            <a:off x="5943600" y="3447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Meridian Engineering Partners</a:t>
            </a:r>
            <a:endParaRPr lang="en-US" sz="1000" dirty="0"/>
          </a:p>
        </p:txBody>
      </p:sp>
      <p:sp>
        <p:nvSpPr>
          <p:cNvPr id="35" name="text-36"/>
          <p:cNvSpPr txBox="1"/>
          <p:nvPr/>
        </p:nvSpPr>
        <p:spPr>
          <a:xfrm>
            <a:off x="4892040" y="37307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Venue</a:t>
            </a:r>
            <a:endParaRPr lang="en-US" sz="1000" dirty="0"/>
          </a:p>
        </p:txBody>
      </p:sp>
      <p:sp>
        <p:nvSpPr>
          <p:cNvPr id="36" name="text-37"/>
          <p:cNvSpPr txBox="1"/>
          <p:nvPr/>
        </p:nvSpPr>
        <p:spPr>
          <a:xfrm>
            <a:off x="5943600" y="37307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North Portal Shaft, Site Camp 2</a:t>
            </a:r>
            <a:endParaRPr lang="en-US" sz="1000" dirty="0"/>
          </a:p>
        </p:txBody>
      </p:sp>
      <p:sp>
        <p:nvSpPr>
          <p:cNvPr id="37" name="text-38"/>
          <p:cNvSpPr txBox="1"/>
          <p:nvPr/>
        </p:nvSpPr>
        <p:spPr>
          <a:xfrm>
            <a:off x="4892040" y="4014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Dress code</a:t>
            </a:r>
            <a:endParaRPr lang="en-US" sz="1000" dirty="0"/>
          </a:p>
        </p:txBody>
      </p:sp>
      <p:sp>
        <p:nvSpPr>
          <p:cNvPr id="38" name="text-39"/>
          <p:cNvSpPr txBox="1"/>
          <p:nvPr/>
        </p:nvSpPr>
        <p:spPr>
          <a:xfrm>
            <a:off x="5943600" y="4014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Formal / national dress + full PPE</a:t>
            </a:r>
            <a:endParaRPr lang="en-US" sz="1000" dirty="0"/>
          </a:p>
        </p:txBody>
      </p:sp>
      <p:sp>
        <p:nvSpPr>
          <p:cNvPr id="39" name="text-40"/>
          <p:cNvSpPr txBox="1"/>
          <p:nvPr/>
        </p:nvSpPr>
        <p:spPr>
          <a:xfrm>
            <a:off x="4892040" y="42976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Media</a:t>
            </a:r>
            <a:endParaRPr lang="en-US" sz="1000" dirty="0"/>
          </a:p>
        </p:txBody>
      </p:sp>
      <p:sp>
        <p:nvSpPr>
          <p:cNvPr id="40" name="text-41"/>
          <p:cNvSpPr txBox="1"/>
          <p:nvPr/>
        </p:nvSpPr>
        <p:spPr>
          <a:xfrm>
            <a:off x="5943600" y="4297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Accredited press only, embargo till 14:00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of show – ceremony day</a:t>
            </a:r>
            <a:endParaRPr lang="en-US" sz="2400" dirty="0"/>
          </a:p>
        </p:txBody>
      </p:sp>
      <p:sp>
        <p:nvSpPr>
          <p:cNvPr id="3" name="card-42"/>
          <p:cNvSpPr/>
          <p:nvPr/>
        </p:nvSpPr>
        <p:spPr>
          <a:xfrm>
            <a:off x="457200" y="100584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" name="text-43"/>
          <p:cNvSpPr txBox="1"/>
          <p:nvPr/>
        </p:nvSpPr>
        <p:spPr>
          <a:xfrm>
            <a:off x="594360" y="10058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08:30</a:t>
            </a:r>
            <a:endParaRPr lang="en-US" sz="1500" dirty="0"/>
          </a:p>
        </p:txBody>
      </p:sp>
      <p:sp>
        <p:nvSpPr>
          <p:cNvPr id="5" name="shape-44"/>
          <p:cNvSpPr/>
          <p:nvPr/>
        </p:nvSpPr>
        <p:spPr>
          <a:xfrm>
            <a:off x="1325880" y="113385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-45"/>
          <p:cNvSpPr txBox="1"/>
          <p:nvPr/>
        </p:nvSpPr>
        <p:spPr>
          <a:xfrm>
            <a:off x="1463040" y="10881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Advance team on site</a:t>
            </a:r>
            <a:endParaRPr lang="en-US" sz="1150" dirty="0"/>
          </a:p>
        </p:txBody>
      </p:sp>
      <p:sp>
        <p:nvSpPr>
          <p:cNvPr id="7" name="text-46"/>
          <p:cNvSpPr txBox="1"/>
          <p:nvPr/>
        </p:nvSpPr>
        <p:spPr>
          <a:xfrm>
            <a:off x="1463040" y="13350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Security sweep, PPE and badges staged</a:t>
            </a:r>
            <a:endParaRPr lang="en-US" sz="950" dirty="0"/>
          </a:p>
        </p:txBody>
      </p:sp>
      <p:sp>
        <p:nvSpPr>
          <p:cNvPr id="8" name="card-47"/>
          <p:cNvSpPr/>
          <p:nvPr/>
        </p:nvSpPr>
        <p:spPr>
          <a:xfrm>
            <a:off x="457200" y="173736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9" name="text-48"/>
          <p:cNvSpPr txBox="1"/>
          <p:nvPr/>
        </p:nvSpPr>
        <p:spPr>
          <a:xfrm>
            <a:off x="594360" y="173736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09:15</a:t>
            </a:r>
            <a:endParaRPr lang="en-US" sz="1500" dirty="0"/>
          </a:p>
        </p:txBody>
      </p:sp>
      <p:sp>
        <p:nvSpPr>
          <p:cNvPr id="10" name="shape-49"/>
          <p:cNvSpPr/>
          <p:nvPr/>
        </p:nvSpPr>
        <p:spPr>
          <a:xfrm>
            <a:off x="1325880" y="186537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-50"/>
          <p:cNvSpPr txBox="1"/>
          <p:nvPr/>
        </p:nvSpPr>
        <p:spPr>
          <a:xfrm>
            <a:off x="1463040" y="1819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VIP convoy departs</a:t>
            </a:r>
            <a:endParaRPr lang="en-US" sz="1150" dirty="0"/>
          </a:p>
        </p:txBody>
      </p:sp>
      <p:sp>
        <p:nvSpPr>
          <p:cNvPr id="12" name="text-51"/>
          <p:cNvSpPr txBox="1"/>
          <p:nvPr/>
        </p:nvSpPr>
        <p:spPr>
          <a:xfrm>
            <a:off x="1463040" y="20665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From Gateway Tower HQ, lead car + 6 vehicles</a:t>
            </a:r>
            <a:endParaRPr lang="en-US" sz="950" dirty="0"/>
          </a:p>
        </p:txBody>
      </p:sp>
      <p:sp>
        <p:nvSpPr>
          <p:cNvPr id="13" name="card-52"/>
          <p:cNvSpPr/>
          <p:nvPr/>
        </p:nvSpPr>
        <p:spPr>
          <a:xfrm>
            <a:off x="457200" y="246888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4" name="text-53"/>
          <p:cNvSpPr txBox="1"/>
          <p:nvPr/>
        </p:nvSpPr>
        <p:spPr>
          <a:xfrm>
            <a:off x="594360" y="246888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09:45</a:t>
            </a:r>
            <a:endParaRPr lang="en-US" sz="1500" dirty="0"/>
          </a:p>
        </p:txBody>
      </p:sp>
      <p:sp>
        <p:nvSpPr>
          <p:cNvPr id="15" name="shape-54"/>
          <p:cNvSpPr/>
          <p:nvPr/>
        </p:nvSpPr>
        <p:spPr>
          <a:xfrm>
            <a:off x="1325880" y="259689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-55"/>
          <p:cNvSpPr txBox="1"/>
          <p:nvPr/>
        </p:nvSpPr>
        <p:spPr>
          <a:xfrm>
            <a:off x="1463040" y="2551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Arrival &amp; accreditation</a:t>
            </a:r>
            <a:endParaRPr lang="en-US" sz="1150" dirty="0"/>
          </a:p>
        </p:txBody>
      </p:sp>
      <p:sp>
        <p:nvSpPr>
          <p:cNvPr id="17" name="text-56"/>
          <p:cNvSpPr txBox="1"/>
          <p:nvPr/>
        </p:nvSpPr>
        <p:spPr>
          <a:xfrm>
            <a:off x="1463040" y="27980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North Portal gate, wristbands issued</a:t>
            </a:r>
            <a:endParaRPr lang="en-US" sz="950" dirty="0"/>
          </a:p>
        </p:txBody>
      </p:sp>
      <p:sp>
        <p:nvSpPr>
          <p:cNvPr id="18" name="card-57"/>
          <p:cNvSpPr/>
          <p:nvPr/>
        </p:nvSpPr>
        <p:spPr>
          <a:xfrm>
            <a:off x="457200" y="320040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9" name="text-58"/>
          <p:cNvSpPr txBox="1"/>
          <p:nvPr/>
        </p:nvSpPr>
        <p:spPr>
          <a:xfrm>
            <a:off x="594360" y="320040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10:00</a:t>
            </a:r>
            <a:endParaRPr lang="en-US" sz="1500" dirty="0"/>
          </a:p>
        </p:txBody>
      </p:sp>
      <p:sp>
        <p:nvSpPr>
          <p:cNvPr id="20" name="shape-59"/>
          <p:cNvSpPr/>
          <p:nvPr/>
        </p:nvSpPr>
        <p:spPr>
          <a:xfrm>
            <a:off x="1325880" y="332841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-60"/>
          <p:cNvSpPr txBox="1"/>
          <p:nvPr/>
        </p:nvSpPr>
        <p:spPr>
          <a:xfrm>
            <a:off x="1463040" y="32826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Welcome tea</a:t>
            </a:r>
            <a:endParaRPr lang="en-US" sz="1150" dirty="0"/>
          </a:p>
        </p:txBody>
      </p:sp>
      <p:sp>
        <p:nvSpPr>
          <p:cNvPr id="22" name="text-61"/>
          <p:cNvSpPr txBox="1"/>
          <p:nvPr/>
        </p:nvSpPr>
        <p:spPr>
          <a:xfrm>
            <a:off x="1463040" y="35295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VIP majlis tent, Arabic coffee and dates</a:t>
            </a:r>
            <a:endParaRPr lang="en-US" sz="950" dirty="0"/>
          </a:p>
        </p:txBody>
      </p:sp>
      <p:sp>
        <p:nvSpPr>
          <p:cNvPr id="23" name="card-62"/>
          <p:cNvSpPr/>
          <p:nvPr/>
        </p:nvSpPr>
        <p:spPr>
          <a:xfrm>
            <a:off x="457200" y="393192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24" name="text-63"/>
          <p:cNvSpPr txBox="1"/>
          <p:nvPr/>
        </p:nvSpPr>
        <p:spPr>
          <a:xfrm>
            <a:off x="594360" y="39319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10:20</a:t>
            </a:r>
            <a:endParaRPr lang="en-US" sz="1500" dirty="0"/>
          </a:p>
        </p:txBody>
      </p:sp>
      <p:sp>
        <p:nvSpPr>
          <p:cNvPr id="25" name="shape-64"/>
          <p:cNvSpPr/>
          <p:nvPr/>
        </p:nvSpPr>
        <p:spPr>
          <a:xfrm>
            <a:off x="1325880" y="405993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-65"/>
          <p:cNvSpPr txBox="1"/>
          <p:nvPr/>
        </p:nvSpPr>
        <p:spPr>
          <a:xfrm>
            <a:off x="1463040" y="40142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Safety induction</a:t>
            </a:r>
            <a:endParaRPr lang="en-US" sz="1150" dirty="0"/>
          </a:p>
        </p:txBody>
      </p:sp>
      <p:sp>
        <p:nvSpPr>
          <p:cNvPr id="27" name="text-66"/>
          <p:cNvSpPr txBox="1"/>
          <p:nvPr/>
        </p:nvSpPr>
        <p:spPr>
          <a:xfrm>
            <a:off x="1463040" y="42611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5-minute briefing by HSE Manager</a:t>
            </a:r>
            <a:endParaRPr lang="en-US" sz="950" dirty="0"/>
          </a:p>
        </p:txBody>
      </p:sp>
      <p:sp>
        <p:nvSpPr>
          <p:cNvPr id="28" name="card-67"/>
          <p:cNvSpPr/>
          <p:nvPr/>
        </p:nvSpPr>
        <p:spPr>
          <a:xfrm>
            <a:off x="4663440" y="100584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29" name="text-68"/>
          <p:cNvSpPr txBox="1"/>
          <p:nvPr/>
        </p:nvSpPr>
        <p:spPr>
          <a:xfrm>
            <a:off x="4800600" y="10058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10:30</a:t>
            </a:r>
            <a:endParaRPr lang="en-US" sz="1500" dirty="0"/>
          </a:p>
        </p:txBody>
      </p:sp>
      <p:sp>
        <p:nvSpPr>
          <p:cNvPr id="30" name="shape-69"/>
          <p:cNvSpPr/>
          <p:nvPr/>
        </p:nvSpPr>
        <p:spPr>
          <a:xfrm>
            <a:off x="5532120" y="113385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-70"/>
          <p:cNvSpPr txBox="1"/>
          <p:nvPr/>
        </p:nvSpPr>
        <p:spPr>
          <a:xfrm>
            <a:off x="5669280" y="10881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Project briefing</a:t>
            </a:r>
            <a:endParaRPr lang="en-US" sz="1150" dirty="0"/>
          </a:p>
        </p:txBody>
      </p:sp>
      <p:sp>
        <p:nvSpPr>
          <p:cNvPr id="32" name="text-71"/>
          <p:cNvSpPr txBox="1"/>
          <p:nvPr/>
        </p:nvSpPr>
        <p:spPr>
          <a:xfrm>
            <a:off x="5669280" y="13350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Project Director, progress and milestones</a:t>
            </a:r>
            <a:endParaRPr lang="en-US" sz="950" dirty="0"/>
          </a:p>
        </p:txBody>
      </p:sp>
      <p:sp>
        <p:nvSpPr>
          <p:cNvPr id="33" name="card-72"/>
          <p:cNvSpPr/>
          <p:nvPr/>
        </p:nvSpPr>
        <p:spPr>
          <a:xfrm>
            <a:off x="4663440" y="173736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34" name="text-73"/>
          <p:cNvSpPr txBox="1"/>
          <p:nvPr/>
        </p:nvSpPr>
        <p:spPr>
          <a:xfrm>
            <a:off x="4800600" y="173736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10:50</a:t>
            </a:r>
            <a:endParaRPr lang="en-US" sz="1500" dirty="0"/>
          </a:p>
        </p:txBody>
      </p:sp>
      <p:sp>
        <p:nvSpPr>
          <p:cNvPr id="35" name="shape-74"/>
          <p:cNvSpPr/>
          <p:nvPr/>
        </p:nvSpPr>
        <p:spPr>
          <a:xfrm>
            <a:off x="5532120" y="186537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-75"/>
          <p:cNvSpPr txBox="1"/>
          <p:nvPr/>
        </p:nvSpPr>
        <p:spPr>
          <a:xfrm>
            <a:off x="5669280" y="1819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Move to viewing platform</a:t>
            </a:r>
            <a:endParaRPr lang="en-US" sz="1150" dirty="0"/>
          </a:p>
        </p:txBody>
      </p:sp>
      <p:sp>
        <p:nvSpPr>
          <p:cNvPr id="37" name="text-76"/>
          <p:cNvSpPr txBox="1"/>
          <p:nvPr/>
        </p:nvSpPr>
        <p:spPr>
          <a:xfrm>
            <a:off x="5669280" y="20665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Escorted in groups of 20</a:t>
            </a:r>
            <a:endParaRPr lang="en-US" sz="950" dirty="0"/>
          </a:p>
        </p:txBody>
      </p:sp>
      <p:sp>
        <p:nvSpPr>
          <p:cNvPr id="38" name="card-77"/>
          <p:cNvSpPr/>
          <p:nvPr/>
        </p:nvSpPr>
        <p:spPr>
          <a:xfrm>
            <a:off x="4663440" y="246888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39" name="text-78"/>
          <p:cNvSpPr txBox="1"/>
          <p:nvPr/>
        </p:nvSpPr>
        <p:spPr>
          <a:xfrm>
            <a:off x="4800600" y="246888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11:05</a:t>
            </a:r>
            <a:endParaRPr lang="en-US" sz="1500" dirty="0"/>
          </a:p>
        </p:txBody>
      </p:sp>
      <p:sp>
        <p:nvSpPr>
          <p:cNvPr id="40" name="shape-79"/>
          <p:cNvSpPr/>
          <p:nvPr/>
        </p:nvSpPr>
        <p:spPr>
          <a:xfrm>
            <a:off x="5532120" y="2596896"/>
            <a:ext cx="18288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text-80"/>
          <p:cNvSpPr txBox="1"/>
          <p:nvPr/>
        </p:nvSpPr>
        <p:spPr>
          <a:xfrm>
            <a:off x="5669280" y="2551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Breakthrough moment</a:t>
            </a:r>
            <a:endParaRPr lang="en-US" sz="1150" dirty="0"/>
          </a:p>
        </p:txBody>
      </p:sp>
      <p:sp>
        <p:nvSpPr>
          <p:cNvPr id="42" name="text-81"/>
          <p:cNvSpPr txBox="1"/>
          <p:nvPr/>
        </p:nvSpPr>
        <p:spPr>
          <a:xfrm>
            <a:off x="5669280" y="27980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TBM cutterhead emerges, plaque unveiling</a:t>
            </a:r>
            <a:endParaRPr lang="en-US" sz="950" dirty="0"/>
          </a:p>
        </p:txBody>
      </p:sp>
      <p:sp>
        <p:nvSpPr>
          <p:cNvPr id="43" name="card-82"/>
          <p:cNvSpPr/>
          <p:nvPr/>
        </p:nvSpPr>
        <p:spPr>
          <a:xfrm>
            <a:off x="4663440" y="320040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4" name="text-83"/>
          <p:cNvSpPr txBox="1"/>
          <p:nvPr/>
        </p:nvSpPr>
        <p:spPr>
          <a:xfrm>
            <a:off x="4800600" y="320040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11:25</a:t>
            </a:r>
            <a:endParaRPr lang="en-US" sz="1500" dirty="0"/>
          </a:p>
        </p:txBody>
      </p:sp>
      <p:sp>
        <p:nvSpPr>
          <p:cNvPr id="45" name="shape-84"/>
          <p:cNvSpPr/>
          <p:nvPr/>
        </p:nvSpPr>
        <p:spPr>
          <a:xfrm>
            <a:off x="5532120" y="332841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6" name="text-85"/>
          <p:cNvSpPr txBox="1"/>
          <p:nvPr/>
        </p:nvSpPr>
        <p:spPr>
          <a:xfrm>
            <a:off x="5669280" y="32826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Group photo &amp; media</a:t>
            </a:r>
            <a:endParaRPr lang="en-US" sz="1150" dirty="0"/>
          </a:p>
        </p:txBody>
      </p:sp>
      <p:sp>
        <p:nvSpPr>
          <p:cNvPr id="47" name="text-86"/>
          <p:cNvSpPr txBox="1"/>
          <p:nvPr/>
        </p:nvSpPr>
        <p:spPr>
          <a:xfrm>
            <a:off x="5669280" y="35295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Statements by client and JV leadership</a:t>
            </a:r>
            <a:endParaRPr lang="en-US" sz="950" dirty="0"/>
          </a:p>
        </p:txBody>
      </p:sp>
      <p:sp>
        <p:nvSpPr>
          <p:cNvPr id="48" name="card-87"/>
          <p:cNvSpPr/>
          <p:nvPr/>
        </p:nvSpPr>
        <p:spPr>
          <a:xfrm>
            <a:off x="4663440" y="393192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9" name="text-88"/>
          <p:cNvSpPr txBox="1"/>
          <p:nvPr/>
        </p:nvSpPr>
        <p:spPr>
          <a:xfrm>
            <a:off x="4800600" y="39319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11:45</a:t>
            </a:r>
            <a:endParaRPr lang="en-US" sz="1500" dirty="0"/>
          </a:p>
        </p:txBody>
      </p:sp>
      <p:sp>
        <p:nvSpPr>
          <p:cNvPr id="50" name="shape-89"/>
          <p:cNvSpPr/>
          <p:nvPr/>
        </p:nvSpPr>
        <p:spPr>
          <a:xfrm>
            <a:off x="5532120" y="4059936"/>
            <a:ext cx="18288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-90"/>
          <p:cNvSpPr txBox="1"/>
          <p:nvPr/>
        </p:nvSpPr>
        <p:spPr>
          <a:xfrm>
            <a:off x="5669280" y="40142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Lunch &amp; departure</a:t>
            </a:r>
            <a:endParaRPr lang="en-US" sz="1150" dirty="0"/>
          </a:p>
        </p:txBody>
      </p:sp>
      <p:sp>
        <p:nvSpPr>
          <p:cNvPr id="52" name="text-91"/>
          <p:cNvSpPr txBox="1"/>
          <p:nvPr/>
        </p:nvSpPr>
        <p:spPr>
          <a:xfrm>
            <a:off x="5669280" y="42611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Hospitality tent, convoy departs 12:45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list by protocol tier</a:t>
            </a:r>
            <a:endParaRPr lang="en-US" sz="2400" dirty="0"/>
          </a:p>
        </p:txBody>
      </p:sp>
      <p:graphicFrame>
        <p:nvGraphicFramePr>
          <p:cNvPr id="5" name="table-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7607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411480"/>
                <a:gridCol w="178308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Tier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Pax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Who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Escort / host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Seating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VIP delegation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CGDA CEO, board members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Front row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Client &amp; consultant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CGDA PMO, Meridian Engineering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Project Manager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Rows 2–4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JV partners &amp; subs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JV leadership, key subcontractors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Construction Mgr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Rows 5–8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Accredited press, in-house media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Comms Lead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Media riser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Workforce reps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TBM crew, HSE champions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Tunnel Manager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Standing area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120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chemeClr val="bg1"/>
                          </a:solidFill>
                        </a:rPr>
                        <a:t>Final list frozen T-3; changes only via Executive Office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card-93"/>
          <p:cNvSpPr/>
          <p:nvPr/>
        </p:nvSpPr>
        <p:spPr>
          <a:xfrm>
            <a:off x="6400800" y="1005840"/>
            <a:ext cx="2286000" cy="36118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graphicFrame>
        <p:nvGraphicFramePr>
          <p:cNvPr id="5" name="chart-guest-mix" descr=""/>
          <p:cNvGraphicFramePr/>
          <p:nvPr/>
        </p:nvGraphicFramePr>
        <p:xfrm>
          <a:off x="6446520" y="1051560"/>
          <a:ext cx="21945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-94"/>
          <p:cNvSpPr/>
          <p:nvPr/>
        </p:nvSpPr>
        <p:spPr>
          <a:xfrm>
            <a:off x="6583680" y="3584448"/>
            <a:ext cx="128016" cy="128016"/>
          </a:xfrm>
          <a:prstGeom prst="rect">
            <a:avLst/>
          </a:prstGeom>
          <a:solidFill>
            <a:srgbClr val="C8794A"/>
          </a:solidFill>
          <a:ln w="12700">
            <a:solidFill>
              <a:srgbClr val="C8794A"/>
            </a:solidFill>
            <a:prstDash val="solid"/>
          </a:ln>
        </p:spPr>
      </p:sp>
      <p:sp>
        <p:nvSpPr>
          <p:cNvPr id="7" name="text-95"/>
          <p:cNvSpPr txBox="1"/>
          <p:nvPr/>
        </p:nvSpPr>
        <p:spPr>
          <a:xfrm>
            <a:off x="6766560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T1 VIP</a:t>
            </a:r>
            <a:endParaRPr lang="en-US" sz="900" dirty="0"/>
          </a:p>
        </p:txBody>
      </p:sp>
      <p:sp>
        <p:nvSpPr>
          <p:cNvPr id="8" name="shape-96"/>
          <p:cNvSpPr/>
          <p:nvPr/>
        </p:nvSpPr>
        <p:spPr>
          <a:xfrm>
            <a:off x="7635240" y="3584448"/>
            <a:ext cx="128016" cy="128016"/>
          </a:xfrm>
          <a:prstGeom prst="rect">
            <a:avLst/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9" name="text-97"/>
          <p:cNvSpPr txBox="1"/>
          <p:nvPr/>
        </p:nvSpPr>
        <p:spPr>
          <a:xfrm>
            <a:off x="7818120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T2 Client</a:t>
            </a:r>
            <a:endParaRPr lang="en-US" sz="900" dirty="0"/>
          </a:p>
        </p:txBody>
      </p:sp>
      <p:sp>
        <p:nvSpPr>
          <p:cNvPr id="10" name="shape-98"/>
          <p:cNvSpPr/>
          <p:nvPr/>
        </p:nvSpPr>
        <p:spPr>
          <a:xfrm>
            <a:off x="6583680" y="3886200"/>
            <a:ext cx="128016" cy="128016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-99"/>
          <p:cNvSpPr txBox="1"/>
          <p:nvPr/>
        </p:nvSpPr>
        <p:spPr>
          <a:xfrm>
            <a:off x="6766560" y="38221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T3 JV</a:t>
            </a:r>
            <a:endParaRPr lang="en-US" sz="900" dirty="0"/>
          </a:p>
        </p:txBody>
      </p:sp>
      <p:sp>
        <p:nvSpPr>
          <p:cNvPr id="12" name="shape-100"/>
          <p:cNvSpPr/>
          <p:nvPr/>
        </p:nvSpPr>
        <p:spPr>
          <a:xfrm>
            <a:off x="7635240" y="3886200"/>
            <a:ext cx="128016" cy="12801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-101"/>
          <p:cNvSpPr txBox="1"/>
          <p:nvPr/>
        </p:nvSpPr>
        <p:spPr>
          <a:xfrm>
            <a:off x="7818120" y="38221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T4 Media</a:t>
            </a:r>
            <a:endParaRPr lang="en-US" sz="900" dirty="0"/>
          </a:p>
        </p:txBody>
      </p:sp>
      <p:sp>
        <p:nvSpPr>
          <p:cNvPr id="14" name="shape-102"/>
          <p:cNvSpPr/>
          <p:nvPr/>
        </p:nvSpPr>
        <p:spPr>
          <a:xfrm>
            <a:off x="6583680" y="4187952"/>
            <a:ext cx="128016" cy="128016"/>
          </a:xfrm>
          <a:prstGeom prst="rect">
            <a:avLst/>
          </a:prstGeom>
          <a:solidFill>
            <a:srgbClr val="7FA8A3"/>
          </a:solidFill>
          <a:ln w="12700">
            <a:solidFill>
              <a:srgbClr val="7FA8A3"/>
            </a:solidFill>
            <a:prstDash val="solid"/>
          </a:ln>
        </p:spPr>
      </p:sp>
      <p:sp>
        <p:nvSpPr>
          <p:cNvPr id="15" name="text-103"/>
          <p:cNvSpPr txBox="1"/>
          <p:nvPr/>
        </p:nvSpPr>
        <p:spPr>
          <a:xfrm>
            <a:off x="6766560" y="41239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T5 Workforce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access &amp; security zones</a:t>
            </a:r>
            <a:endParaRPr lang="en-US" sz="2400" dirty="0"/>
          </a:p>
        </p:txBody>
      </p:sp>
      <p:sp>
        <p:nvSpPr>
          <p:cNvPr id="3" name="card-104"/>
          <p:cNvSpPr/>
          <p:nvPr/>
        </p:nvSpPr>
        <p:spPr>
          <a:xfrm>
            <a:off x="457200" y="1005840"/>
            <a:ext cx="1901952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" name="dot-105"/>
          <p:cNvSpPr/>
          <p:nvPr/>
        </p:nvSpPr>
        <p:spPr>
          <a:xfrm>
            <a:off x="640080" y="11704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281074"/>
            <a:ext cx="281635" cy="281635"/>
          </a:xfrm>
          <a:prstGeom prst="rect">
            <a:avLst/>
          </a:prstGeom>
        </p:spPr>
      </p:pic>
      <p:sp>
        <p:nvSpPr>
          <p:cNvPr id="6" name="text-107"/>
          <p:cNvSpPr txBox="1"/>
          <p:nvPr/>
        </p:nvSpPr>
        <p:spPr>
          <a:xfrm>
            <a:off x="1261872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ZONE A</a:t>
            </a:r>
            <a:endParaRPr lang="en-US" sz="900" dirty="0"/>
          </a:p>
        </p:txBody>
      </p:sp>
      <p:sp>
        <p:nvSpPr>
          <p:cNvPr id="7" name="text-108"/>
          <p:cNvSpPr txBox="1"/>
          <p:nvPr/>
        </p:nvSpPr>
        <p:spPr>
          <a:xfrm>
            <a:off x="1261872" y="1408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Gate &amp; vehicle check</a:t>
            </a:r>
            <a:endParaRPr lang="en-US" sz="1100" dirty="0"/>
          </a:p>
        </p:txBody>
      </p:sp>
      <p:sp>
        <p:nvSpPr>
          <p:cNvPr id="8" name="text-109"/>
          <p:cNvSpPr txBox="1"/>
          <p:nvPr/>
        </p:nvSpPr>
        <p:spPr>
          <a:xfrm>
            <a:off x="640080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Security screening, vehicle pass check, convoy holding bay</a:t>
            </a:r>
            <a:endParaRPr lang="en-US" sz="1000" dirty="0"/>
          </a:p>
        </p:txBody>
      </p:sp>
      <p:sp>
        <p:nvSpPr>
          <p:cNvPr id="9" name="arrow-0"/>
          <p:cNvSpPr/>
          <p:nvPr/>
        </p:nvSpPr>
        <p:spPr>
          <a:xfrm rot="5400000">
            <a:off x="2377440" y="1938528"/>
            <a:ext cx="182880" cy="18288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-110"/>
          <p:cNvSpPr/>
          <p:nvPr/>
        </p:nvSpPr>
        <p:spPr>
          <a:xfrm>
            <a:off x="2578608" y="1005840"/>
            <a:ext cx="1901952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1" name="dot-111"/>
          <p:cNvSpPr/>
          <p:nvPr/>
        </p:nvSpPr>
        <p:spPr>
          <a:xfrm>
            <a:off x="2761488" y="11704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1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30" y="1281074"/>
            <a:ext cx="281635" cy="281635"/>
          </a:xfrm>
          <a:prstGeom prst="rect">
            <a:avLst/>
          </a:prstGeom>
        </p:spPr>
      </p:pic>
      <p:sp>
        <p:nvSpPr>
          <p:cNvPr id="13" name="text-113"/>
          <p:cNvSpPr txBox="1"/>
          <p:nvPr/>
        </p:nvSpPr>
        <p:spPr>
          <a:xfrm>
            <a:off x="3383280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ZONE B</a:t>
            </a:r>
            <a:endParaRPr lang="en-US" sz="900" dirty="0"/>
          </a:p>
        </p:txBody>
      </p:sp>
      <p:sp>
        <p:nvSpPr>
          <p:cNvPr id="14" name="text-114"/>
          <p:cNvSpPr txBox="1"/>
          <p:nvPr/>
        </p:nvSpPr>
        <p:spPr>
          <a:xfrm>
            <a:off x="3383280" y="1408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Accreditation desk</a:t>
            </a:r>
            <a:endParaRPr lang="en-US" sz="1100" dirty="0"/>
          </a:p>
        </p:txBody>
      </p:sp>
      <p:sp>
        <p:nvSpPr>
          <p:cNvPr id="15" name="text-115"/>
          <p:cNvSpPr txBox="1"/>
          <p:nvPr/>
        </p:nvSpPr>
        <p:spPr>
          <a:xfrm>
            <a:off x="2761488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Badge and wristband issue, PPE kit, master list check</a:t>
            </a:r>
            <a:endParaRPr lang="en-US" sz="1000" dirty="0"/>
          </a:p>
        </p:txBody>
      </p:sp>
      <p:sp>
        <p:nvSpPr>
          <p:cNvPr id="16" name="arrow-1"/>
          <p:cNvSpPr/>
          <p:nvPr/>
        </p:nvSpPr>
        <p:spPr>
          <a:xfrm rot="5400000">
            <a:off x="4498848" y="1938528"/>
            <a:ext cx="182880" cy="18288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card-116"/>
          <p:cNvSpPr/>
          <p:nvPr/>
        </p:nvSpPr>
        <p:spPr>
          <a:xfrm>
            <a:off x="4700016" y="1005840"/>
            <a:ext cx="1901952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8" name="dot-117"/>
          <p:cNvSpPr/>
          <p:nvPr/>
        </p:nvSpPr>
        <p:spPr>
          <a:xfrm>
            <a:off x="4882896" y="11704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1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538" y="1281074"/>
            <a:ext cx="281635" cy="281635"/>
          </a:xfrm>
          <a:prstGeom prst="rect">
            <a:avLst/>
          </a:prstGeom>
        </p:spPr>
      </p:pic>
      <p:sp>
        <p:nvSpPr>
          <p:cNvPr id="20" name="text-119"/>
          <p:cNvSpPr txBox="1"/>
          <p:nvPr/>
        </p:nvSpPr>
        <p:spPr>
          <a:xfrm>
            <a:off x="5504688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ZONE C</a:t>
            </a:r>
            <a:endParaRPr lang="en-US" sz="900" dirty="0"/>
          </a:p>
        </p:txBody>
      </p:sp>
      <p:sp>
        <p:nvSpPr>
          <p:cNvPr id="21" name="text-120"/>
          <p:cNvSpPr txBox="1"/>
          <p:nvPr/>
        </p:nvSpPr>
        <p:spPr>
          <a:xfrm>
            <a:off x="5504688" y="1408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VIP majlis tent</a:t>
            </a:r>
            <a:endParaRPr lang="en-US" sz="1100" dirty="0"/>
          </a:p>
        </p:txBody>
      </p:sp>
      <p:sp>
        <p:nvSpPr>
          <p:cNvPr id="22" name="text-121"/>
          <p:cNvSpPr txBox="1"/>
          <p:nvPr/>
        </p:nvSpPr>
        <p:spPr>
          <a:xfrm>
            <a:off x="4882896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Holding area, welcome tea, safety induction</a:t>
            </a:r>
            <a:endParaRPr lang="en-US" sz="1000" dirty="0"/>
          </a:p>
        </p:txBody>
      </p:sp>
      <p:sp>
        <p:nvSpPr>
          <p:cNvPr id="23" name="arrow-2"/>
          <p:cNvSpPr/>
          <p:nvPr/>
        </p:nvSpPr>
        <p:spPr>
          <a:xfrm rot="5400000">
            <a:off x="6620256" y="1938528"/>
            <a:ext cx="182880" cy="18288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card-122"/>
          <p:cNvSpPr/>
          <p:nvPr/>
        </p:nvSpPr>
        <p:spPr>
          <a:xfrm>
            <a:off x="6821424" y="1005840"/>
            <a:ext cx="1901952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25" name="dot-123"/>
          <p:cNvSpPr/>
          <p:nvPr/>
        </p:nvSpPr>
        <p:spPr>
          <a:xfrm>
            <a:off x="7004304" y="11704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-1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946" y="1281074"/>
            <a:ext cx="281635" cy="281635"/>
          </a:xfrm>
          <a:prstGeom prst="rect">
            <a:avLst/>
          </a:prstGeom>
        </p:spPr>
      </p:pic>
      <p:sp>
        <p:nvSpPr>
          <p:cNvPr id="27" name="text-125"/>
          <p:cNvSpPr txBox="1"/>
          <p:nvPr/>
        </p:nvSpPr>
        <p:spPr>
          <a:xfrm>
            <a:off x="7626096" y="1207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ZONE D</a:t>
            </a:r>
            <a:endParaRPr lang="en-US" sz="900" dirty="0"/>
          </a:p>
        </p:txBody>
      </p:sp>
      <p:sp>
        <p:nvSpPr>
          <p:cNvPr id="28" name="text-126"/>
          <p:cNvSpPr txBox="1"/>
          <p:nvPr/>
        </p:nvSpPr>
        <p:spPr>
          <a:xfrm>
            <a:off x="7626096" y="1408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TBM viewing platform</a:t>
            </a:r>
            <a:endParaRPr lang="en-US" sz="1100" dirty="0"/>
          </a:p>
        </p:txBody>
      </p:sp>
      <p:sp>
        <p:nvSpPr>
          <p:cNvPr id="29" name="text-127"/>
          <p:cNvSpPr txBox="1"/>
          <p:nvPr/>
        </p:nvSpPr>
        <p:spPr>
          <a:xfrm>
            <a:off x="7004304" y="1828800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Escorted only, max 40 at a time, full PPE</a:t>
            </a:r>
            <a:endParaRPr lang="en-US" sz="1000" dirty="0"/>
          </a:p>
        </p:txBody>
      </p:sp>
      <p:sp>
        <p:nvSpPr>
          <p:cNvPr id="30" name="text-128"/>
          <p:cNvSpPr txBox="1"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Wristband colour code</a:t>
            </a:r>
            <a:endParaRPr lang="en-US" sz="1200" dirty="0"/>
          </a:p>
        </p:txBody>
      </p:sp>
      <p:sp>
        <p:nvSpPr>
          <p:cNvPr id="31" name="band-0"/>
          <p:cNvSpPr/>
          <p:nvPr/>
        </p:nvSpPr>
        <p:spPr>
          <a:xfrm>
            <a:off x="457200" y="36393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6350">
            <a:solidFill>
              <a:srgbClr val="56706E"/>
            </a:solidFill>
            <a:prstDash val="solid"/>
          </a:ln>
        </p:spPr>
      </p:sp>
      <p:sp>
        <p:nvSpPr>
          <p:cNvPr id="32" name="text-129"/>
          <p:cNvSpPr txBox="1"/>
          <p:nvPr/>
        </p:nvSpPr>
        <p:spPr>
          <a:xfrm>
            <a:off x="457200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Gold</a:t>
            </a:r>
            <a:endParaRPr lang="en-US" sz="1000" dirty="0"/>
          </a:p>
        </p:txBody>
      </p:sp>
      <p:sp>
        <p:nvSpPr>
          <p:cNvPr id="33" name="text-130"/>
          <p:cNvSpPr txBox="1"/>
          <p:nvPr/>
        </p:nvSpPr>
        <p:spPr>
          <a:xfrm>
            <a:off x="457200" y="40050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VIP delegation</a:t>
            </a:r>
            <a:endParaRPr lang="en-US" sz="850" dirty="0"/>
          </a:p>
        </p:txBody>
      </p:sp>
      <p:sp>
        <p:nvSpPr>
          <p:cNvPr id="34" name="band-1"/>
          <p:cNvSpPr/>
          <p:nvPr/>
        </p:nvSpPr>
        <p:spPr>
          <a:xfrm>
            <a:off x="1463040" y="36393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 w="6350">
            <a:solidFill>
              <a:srgbClr val="56706E"/>
            </a:solidFill>
            <a:prstDash val="solid"/>
          </a:ln>
        </p:spPr>
      </p:sp>
      <p:sp>
        <p:nvSpPr>
          <p:cNvPr id="35" name="text-131"/>
          <p:cNvSpPr txBox="1"/>
          <p:nvPr/>
        </p:nvSpPr>
        <p:spPr>
          <a:xfrm>
            <a:off x="1463040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Teal</a:t>
            </a:r>
            <a:endParaRPr lang="en-US" sz="1000" dirty="0"/>
          </a:p>
        </p:txBody>
      </p:sp>
      <p:sp>
        <p:nvSpPr>
          <p:cNvPr id="36" name="text-132"/>
          <p:cNvSpPr txBox="1"/>
          <p:nvPr/>
        </p:nvSpPr>
        <p:spPr>
          <a:xfrm>
            <a:off x="1463040" y="40050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Client &amp; consultant</a:t>
            </a:r>
            <a:endParaRPr lang="en-US" sz="850" dirty="0"/>
          </a:p>
        </p:txBody>
      </p:sp>
      <p:sp>
        <p:nvSpPr>
          <p:cNvPr id="37" name="band-2"/>
          <p:cNvSpPr/>
          <p:nvPr/>
        </p:nvSpPr>
        <p:spPr>
          <a:xfrm>
            <a:off x="2468880" y="36393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ADCC8"/>
          </a:solidFill>
          <a:ln w="6350">
            <a:solidFill>
              <a:srgbClr val="56706E"/>
            </a:solidFill>
            <a:prstDash val="solid"/>
          </a:ln>
        </p:spPr>
      </p:sp>
      <p:sp>
        <p:nvSpPr>
          <p:cNvPr id="38" name="text-133"/>
          <p:cNvSpPr txBox="1"/>
          <p:nvPr/>
        </p:nvSpPr>
        <p:spPr>
          <a:xfrm>
            <a:off x="2468880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Sand</a:t>
            </a:r>
            <a:endParaRPr lang="en-US" sz="1000" dirty="0"/>
          </a:p>
        </p:txBody>
      </p:sp>
      <p:sp>
        <p:nvSpPr>
          <p:cNvPr id="39" name="text-134"/>
          <p:cNvSpPr txBox="1"/>
          <p:nvPr/>
        </p:nvSpPr>
        <p:spPr>
          <a:xfrm>
            <a:off x="2468880" y="40050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JV &amp; subcontractors</a:t>
            </a:r>
            <a:endParaRPr lang="en-US" sz="850" dirty="0"/>
          </a:p>
        </p:txBody>
      </p:sp>
      <p:sp>
        <p:nvSpPr>
          <p:cNvPr id="40" name="band-3"/>
          <p:cNvSpPr/>
          <p:nvPr/>
        </p:nvSpPr>
        <p:spPr>
          <a:xfrm>
            <a:off x="3474720" y="36393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B04A3A"/>
          </a:solidFill>
          <a:ln w="6350">
            <a:solidFill>
              <a:srgbClr val="56706E"/>
            </a:solidFill>
            <a:prstDash val="solid"/>
          </a:ln>
        </p:spPr>
      </p:sp>
      <p:sp>
        <p:nvSpPr>
          <p:cNvPr id="41" name="text-135"/>
          <p:cNvSpPr txBox="1"/>
          <p:nvPr/>
        </p:nvSpPr>
        <p:spPr>
          <a:xfrm>
            <a:off x="3474720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Rust</a:t>
            </a:r>
            <a:endParaRPr lang="en-US" sz="1000" dirty="0"/>
          </a:p>
        </p:txBody>
      </p:sp>
      <p:sp>
        <p:nvSpPr>
          <p:cNvPr id="42" name="text-136"/>
          <p:cNvSpPr txBox="1"/>
          <p:nvPr/>
        </p:nvSpPr>
        <p:spPr>
          <a:xfrm>
            <a:off x="3474720" y="40050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Media</a:t>
            </a:r>
            <a:endParaRPr lang="en-US" sz="850" dirty="0"/>
          </a:p>
        </p:txBody>
      </p:sp>
      <p:sp>
        <p:nvSpPr>
          <p:cNvPr id="43" name="card-137"/>
          <p:cNvSpPr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4" name="text-138"/>
          <p:cNvSpPr txBox="1"/>
          <p:nvPr/>
        </p:nvSpPr>
        <p:spPr>
          <a:xfrm>
            <a:off x="4846320" y="342900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No entry beyond Zone C without escort and full PPE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Drones and photography restricted to accredited media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Single entry gate; all other site gates closed 09:00–13:00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&amp; movement plan</a:t>
            </a:r>
            <a:endParaRPr lang="en-US" sz="2400" dirty="0"/>
          </a:p>
        </p:txBody>
      </p:sp>
      <p:graphicFrame>
        <p:nvGraphicFramePr>
          <p:cNvPr id="7" name="table-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577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777240"/>
                <a:gridCol w="1143000"/>
                <a:gridCol w="1325880"/>
                <a:gridCol w="868680"/>
                <a:gridCol w="7772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Ref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Vehicle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Passengers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Driver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Depart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V-01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Lead car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SUV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Security escort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Khalid M.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09:10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V-02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VIP 1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Executive sedan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Chief guest + aide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Rashed K.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09:15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V-03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VIP 2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Executive sedan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Board members (2)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Tariq A.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09:15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V-04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VIP 3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Executive SUV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Board members (3)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Nabeel S.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09:15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V-05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Host car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Executive SUV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Omar F.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09:00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V-06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Standby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Executive sedan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Backup, engine on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Hamza R.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09:15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B-01–03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Coasters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30-seat bus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Guests T2–T3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Fleet pool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09:00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-140"/>
          <p:cNvSpPr/>
          <p:nvPr/>
        </p:nvSpPr>
        <p:spPr>
          <a:xfrm>
            <a:off x="6217920" y="1005840"/>
            <a:ext cx="2468880" cy="361188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5" name="dot-141"/>
          <p:cNvSpPr/>
          <p:nvPr/>
        </p:nvSpPr>
        <p:spPr>
          <a:xfrm>
            <a:off x="640080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-1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4" y="1289304"/>
            <a:ext cx="256032" cy="256032"/>
          </a:xfrm>
          <a:prstGeom prst="rect">
            <a:avLst/>
          </a:prstGeom>
        </p:spPr>
      </p:pic>
      <p:sp>
        <p:nvSpPr>
          <p:cNvPr id="7" name="text-143"/>
          <p:cNvSpPr txBox="1"/>
          <p:nvPr/>
        </p:nvSpPr>
        <p:spPr>
          <a:xfrm>
            <a:off x="694944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Movement notes</a:t>
            </a:r>
            <a:endParaRPr lang="en-US" sz="1200" dirty="0"/>
          </a:p>
        </p:txBody>
      </p:sp>
      <p:sp>
        <p:nvSpPr>
          <p:cNvPr id="8" name="text-144"/>
          <p:cNvSpPr txBox="1"/>
          <p:nvPr/>
        </p:nvSpPr>
        <p:spPr>
          <a:xfrm>
            <a:off x="6400800" y="178308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Pick-up: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Gateway Tower, Gate 2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Drive time: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approx. 30 min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Convoy speed: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max 80 km/h, no overtaking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Drop-off: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Zone A holding bay, VIPs walked to Zone B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Radio: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Channel 4, call-sign PORTAL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Rehearsal: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dry run T-1 at 09:15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Catering &amp; hospitality</a:t>
            </a:r>
            <a:endParaRPr lang="en-US" sz="2400" dirty="0"/>
          </a:p>
        </p:txBody>
      </p:sp>
      <p:sp>
        <p:nvSpPr>
          <p:cNvPr id="3" name="card-145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4" name="dot-146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1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420978"/>
            <a:ext cx="358445" cy="358445"/>
          </a:xfrm>
          <a:prstGeom prst="rect">
            <a:avLst/>
          </a:prstGeom>
        </p:spPr>
      </p:pic>
      <p:sp>
        <p:nvSpPr>
          <p:cNvPr id="6" name="text-148"/>
          <p:cNvSpPr txBox="1"/>
          <p:nvPr/>
        </p:nvSpPr>
        <p:spPr>
          <a:xfrm>
            <a:off x="15087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welcome</a:t>
            </a:r>
            <a:endParaRPr lang="en-US" sz="1400" dirty="0"/>
          </a:p>
        </p:txBody>
      </p:sp>
      <p:sp>
        <p:nvSpPr>
          <p:cNvPr id="7" name="text-149"/>
          <p:cNvSpPr txBox="1"/>
          <p:nvPr/>
        </p:nvSpPr>
        <p:spPr>
          <a:xfrm>
            <a:off x="1508760" y="16642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Arabic coffee, dates, chilled water and fresh juices served at the majlis tent from 09:45.</a:t>
            </a:r>
            <a:endParaRPr lang="en-US" sz="1050" dirty="0"/>
          </a:p>
        </p:txBody>
      </p:sp>
      <p:sp>
        <p:nvSpPr>
          <p:cNvPr id="8" name="card-150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9" name="dot-151"/>
          <p:cNvSpPr/>
          <p:nvPr/>
        </p:nvSpPr>
        <p:spPr>
          <a:xfrm>
            <a:off x="4892040" y="1280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1420978"/>
            <a:ext cx="358445" cy="358445"/>
          </a:xfrm>
          <a:prstGeom prst="rect">
            <a:avLst/>
          </a:prstGeom>
        </p:spPr>
      </p:pic>
      <p:sp>
        <p:nvSpPr>
          <p:cNvPr id="11" name="text-153"/>
          <p:cNvSpPr txBox="1"/>
          <p:nvPr/>
        </p:nvSpPr>
        <p:spPr>
          <a:xfrm>
            <a:off x="57150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Lunch service</a:t>
            </a:r>
            <a:endParaRPr lang="en-US" sz="1400" dirty="0"/>
          </a:p>
        </p:txBody>
      </p:sp>
      <p:sp>
        <p:nvSpPr>
          <p:cNvPr id="12" name="text-154"/>
          <p:cNvSpPr txBox="1"/>
          <p:nvPr/>
        </p:nvSpPr>
        <p:spPr>
          <a:xfrm>
            <a:off x="5715000" y="16642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Buffet for 130 covers with vegetarian and light options; VIP table served separately.</a:t>
            </a:r>
            <a:endParaRPr lang="en-US" sz="1050" dirty="0"/>
          </a:p>
        </p:txBody>
      </p:sp>
      <p:sp>
        <p:nvSpPr>
          <p:cNvPr id="13" name="card-155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4" name="dot-156"/>
          <p:cNvSpPr/>
          <p:nvPr/>
        </p:nvSpPr>
        <p:spPr>
          <a:xfrm>
            <a:off x="685800" y="3108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49778"/>
            <a:ext cx="358445" cy="358445"/>
          </a:xfrm>
          <a:prstGeom prst="rect">
            <a:avLst/>
          </a:prstGeom>
        </p:spPr>
      </p:pic>
      <p:sp>
        <p:nvSpPr>
          <p:cNvPr id="16" name="text-158"/>
          <p:cNvSpPr txBox="1"/>
          <p:nvPr/>
        </p:nvSpPr>
        <p:spPr>
          <a:xfrm>
            <a:off x="15087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Gifts &amp; memorabilia</a:t>
            </a:r>
            <a:endParaRPr lang="en-US" sz="1400" dirty="0"/>
          </a:p>
        </p:txBody>
      </p:sp>
      <p:sp>
        <p:nvSpPr>
          <p:cNvPr id="17" name="text-159"/>
          <p:cNvSpPr txBox="1"/>
          <p:nvPr/>
        </p:nvSpPr>
        <p:spPr>
          <a:xfrm>
            <a:off x="1508760" y="3493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Commemorative plaque, framed breakthrough photo and branded gift bags for T1–T2 guests.</a:t>
            </a:r>
            <a:endParaRPr lang="en-US" sz="1050" dirty="0"/>
          </a:p>
        </p:txBody>
      </p:sp>
      <p:sp>
        <p:nvSpPr>
          <p:cNvPr id="18" name="card-160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sp>
        <p:nvSpPr>
          <p:cNvPr id="19" name="dot-161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-16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3249778"/>
            <a:ext cx="358445" cy="358445"/>
          </a:xfrm>
          <a:prstGeom prst="rect">
            <a:avLst/>
          </a:prstGeom>
        </p:spPr>
      </p:pic>
      <p:sp>
        <p:nvSpPr>
          <p:cNvPr id="21" name="text-163"/>
          <p:cNvSpPr txBox="1"/>
          <p:nvPr/>
        </p:nvSpPr>
        <p:spPr>
          <a:xfrm>
            <a:off x="57150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&amp; photography</a:t>
            </a:r>
            <a:endParaRPr lang="en-US" sz="1400" dirty="0"/>
          </a:p>
        </p:txBody>
      </p:sp>
      <p:sp>
        <p:nvSpPr>
          <p:cNvPr id="22" name="text-164"/>
          <p:cNvSpPr txBox="1"/>
          <p:nvPr/>
        </p:nvSpPr>
        <p:spPr>
          <a:xfrm>
            <a:off x="5715000" y="3493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Two photographers, one videographer, live feed screen in the tent and a group photo set-up.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2400" dirty="0"/>
          </a:p>
        </p:txBody>
      </p:sp>
      <p:graphicFrame>
        <p:nvGraphicFramePr>
          <p:cNvPr id="9" name="table-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840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Workstream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Key deliverables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Overall coordination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Executive Office (EA to PD)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Master plan, run-of-show, daily status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Protocol &amp; guest list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Executive Office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Invitations, RSVPs, seating, name cards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Security &amp; access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Security Manager – Adel N.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Gate control, badges, wristbands, sweep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Transport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Fleet Supervisor – Imad Q.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Convoy, drivers, buses, standby car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HSE &amp; PPE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HSE Manager – Liam O.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Induction, PPE kits, paramedic, heat plan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Catering &amp; tent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Admin &amp; Camp Services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Tent, cooling, power, coffee, lunch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Comms Lead – Sara D.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Photo, video, press, live feed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TBM operation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Tunnel Manager – Viktor P.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Breakthrough timing, platform safety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countdown</a:t>
            </a:r>
            <a:endParaRPr lang="en-US" sz="2400" dirty="0"/>
          </a:p>
        </p:txBody>
      </p:sp>
      <p:sp>
        <p:nvSpPr>
          <p:cNvPr id="3" name="line-166"/>
          <p:cNvSpPr/>
          <p:nvPr/>
        </p:nvSpPr>
        <p:spPr>
          <a:xfrm>
            <a:off x="868680" y="1417320"/>
            <a:ext cx="74066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dot-167"/>
          <p:cNvSpPr/>
          <p:nvPr/>
        </p:nvSpPr>
        <p:spPr>
          <a:xfrm>
            <a:off x="868680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-168"/>
          <p:cNvSpPr txBox="1"/>
          <p:nvPr/>
        </p:nvSpPr>
        <p:spPr>
          <a:xfrm>
            <a:off x="8686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169"/>
          <p:cNvSpPr txBox="1"/>
          <p:nvPr/>
        </p:nvSpPr>
        <p:spPr>
          <a:xfrm>
            <a:off x="457200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T-14</a:t>
            </a:r>
            <a:endParaRPr lang="en-US" sz="1200" dirty="0"/>
          </a:p>
        </p:txBody>
      </p:sp>
      <p:sp>
        <p:nvSpPr>
          <p:cNvPr id="7" name="card-170"/>
          <p:cNvSpPr/>
          <p:nvPr/>
        </p:nvSpPr>
        <p:spPr>
          <a:xfrm>
            <a:off x="457200" y="1874520"/>
            <a:ext cx="1508760" cy="26974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pic>
        <p:nvPicPr>
          <p:cNvPr id="8" name="chk-0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075688"/>
            <a:ext cx="182880" cy="182880"/>
          </a:xfrm>
          <a:prstGeom prst="rect">
            <a:avLst/>
          </a:prstGeom>
        </p:spPr>
      </p:pic>
      <p:sp>
        <p:nvSpPr>
          <p:cNvPr id="9" name="text-171"/>
          <p:cNvSpPr txBox="1"/>
          <p:nvPr/>
        </p:nvSpPr>
        <p:spPr>
          <a:xfrm>
            <a:off x="841248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Guest list approved</a:t>
            </a:r>
            <a:endParaRPr lang="en-US" sz="1000" dirty="0"/>
          </a:p>
        </p:txBody>
      </p:sp>
      <p:pic>
        <p:nvPicPr>
          <p:cNvPr id="10" name="chk-0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52928"/>
            <a:ext cx="182880" cy="182880"/>
          </a:xfrm>
          <a:prstGeom prst="rect">
            <a:avLst/>
          </a:prstGeom>
        </p:spPr>
      </p:pic>
      <p:sp>
        <p:nvSpPr>
          <p:cNvPr id="11" name="text-172"/>
          <p:cNvSpPr txBox="1"/>
          <p:nvPr/>
        </p:nvSpPr>
        <p:spPr>
          <a:xfrm>
            <a:off x="841248" y="2788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Invitations issued</a:t>
            </a:r>
            <a:endParaRPr lang="en-US" sz="1000" dirty="0"/>
          </a:p>
        </p:txBody>
      </p:sp>
      <p:pic>
        <p:nvPicPr>
          <p:cNvPr id="12" name="chk-0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630168"/>
            <a:ext cx="182880" cy="182880"/>
          </a:xfrm>
          <a:prstGeom prst="rect">
            <a:avLst/>
          </a:prstGeom>
        </p:spPr>
      </p:pic>
      <p:sp>
        <p:nvSpPr>
          <p:cNvPr id="13" name="text-173"/>
          <p:cNvSpPr txBox="1"/>
          <p:nvPr/>
        </p:nvSpPr>
        <p:spPr>
          <a:xfrm>
            <a:off x="841248" y="3566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Tent &amp; cooling booked</a:t>
            </a:r>
            <a:endParaRPr lang="en-US" sz="1000" dirty="0"/>
          </a:p>
        </p:txBody>
      </p:sp>
      <p:sp>
        <p:nvSpPr>
          <p:cNvPr id="14" name="dot-174"/>
          <p:cNvSpPr/>
          <p:nvPr/>
        </p:nvSpPr>
        <p:spPr>
          <a:xfrm>
            <a:off x="2542032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-175"/>
          <p:cNvSpPr txBox="1"/>
          <p:nvPr/>
        </p:nvSpPr>
        <p:spPr>
          <a:xfrm>
            <a:off x="2542032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-176"/>
          <p:cNvSpPr txBox="1"/>
          <p:nvPr/>
        </p:nvSpPr>
        <p:spPr>
          <a:xfrm>
            <a:off x="2130552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T-7</a:t>
            </a:r>
            <a:endParaRPr lang="en-US" sz="1200" dirty="0"/>
          </a:p>
        </p:txBody>
      </p:sp>
      <p:sp>
        <p:nvSpPr>
          <p:cNvPr id="17" name="card-177"/>
          <p:cNvSpPr/>
          <p:nvPr/>
        </p:nvSpPr>
        <p:spPr>
          <a:xfrm>
            <a:off x="2130552" y="1874520"/>
            <a:ext cx="1508760" cy="26974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pic>
        <p:nvPicPr>
          <p:cNvPr id="18" name="chk-1-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2075688"/>
            <a:ext cx="182880" cy="182880"/>
          </a:xfrm>
          <a:prstGeom prst="rect">
            <a:avLst/>
          </a:prstGeom>
        </p:spPr>
      </p:pic>
      <p:sp>
        <p:nvSpPr>
          <p:cNvPr id="19" name="text-178"/>
          <p:cNvSpPr txBox="1"/>
          <p:nvPr/>
        </p:nvSpPr>
        <p:spPr>
          <a:xfrm>
            <a:off x="251460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RSVPs chased</a:t>
            </a:r>
            <a:endParaRPr lang="en-US" sz="1000" dirty="0"/>
          </a:p>
        </p:txBody>
      </p:sp>
      <p:pic>
        <p:nvPicPr>
          <p:cNvPr id="20" name="chk-1-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424" y="2852928"/>
            <a:ext cx="182880" cy="182880"/>
          </a:xfrm>
          <a:prstGeom prst="rect">
            <a:avLst/>
          </a:prstGeom>
        </p:spPr>
      </p:pic>
      <p:sp>
        <p:nvSpPr>
          <p:cNvPr id="21" name="text-179"/>
          <p:cNvSpPr txBox="1"/>
          <p:nvPr/>
        </p:nvSpPr>
        <p:spPr>
          <a:xfrm>
            <a:off x="2514600" y="2788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Convoy &amp; drivers fixed</a:t>
            </a:r>
            <a:endParaRPr lang="en-US" sz="1000" dirty="0"/>
          </a:p>
        </p:txBody>
      </p:sp>
      <p:pic>
        <p:nvPicPr>
          <p:cNvPr id="22" name="chk-1-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424" y="3630168"/>
            <a:ext cx="182880" cy="182880"/>
          </a:xfrm>
          <a:prstGeom prst="rect">
            <a:avLst/>
          </a:prstGeom>
        </p:spPr>
      </p:pic>
      <p:sp>
        <p:nvSpPr>
          <p:cNvPr id="23" name="text-180"/>
          <p:cNvSpPr txBox="1"/>
          <p:nvPr/>
        </p:nvSpPr>
        <p:spPr>
          <a:xfrm>
            <a:off x="2514600" y="3566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Gifts and plaque ready</a:t>
            </a:r>
            <a:endParaRPr lang="en-US" sz="1000" dirty="0"/>
          </a:p>
        </p:txBody>
      </p:sp>
      <p:sp>
        <p:nvSpPr>
          <p:cNvPr id="24" name="dot-181"/>
          <p:cNvSpPr/>
          <p:nvPr/>
        </p:nvSpPr>
        <p:spPr>
          <a:xfrm>
            <a:off x="4215384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-182"/>
          <p:cNvSpPr txBox="1"/>
          <p:nvPr/>
        </p:nvSpPr>
        <p:spPr>
          <a:xfrm>
            <a:off x="4215384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text-183"/>
          <p:cNvSpPr txBox="1"/>
          <p:nvPr/>
        </p:nvSpPr>
        <p:spPr>
          <a:xfrm>
            <a:off x="3803904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T-3</a:t>
            </a:r>
            <a:endParaRPr lang="en-US" sz="1200" dirty="0"/>
          </a:p>
        </p:txBody>
      </p:sp>
      <p:sp>
        <p:nvSpPr>
          <p:cNvPr id="27" name="card-184"/>
          <p:cNvSpPr/>
          <p:nvPr/>
        </p:nvSpPr>
        <p:spPr>
          <a:xfrm>
            <a:off x="3803904" y="1874520"/>
            <a:ext cx="1508760" cy="26974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pic>
        <p:nvPicPr>
          <p:cNvPr id="28" name="chk-2-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2776" y="2075688"/>
            <a:ext cx="182880" cy="182880"/>
          </a:xfrm>
          <a:prstGeom prst="rect">
            <a:avLst/>
          </a:prstGeom>
        </p:spPr>
      </p:pic>
      <p:sp>
        <p:nvSpPr>
          <p:cNvPr id="29" name="text-185"/>
          <p:cNvSpPr txBox="1"/>
          <p:nvPr/>
        </p:nvSpPr>
        <p:spPr>
          <a:xfrm>
            <a:off x="4187952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Guest list frozen</a:t>
            </a:r>
            <a:endParaRPr lang="en-US" sz="1000" dirty="0"/>
          </a:p>
        </p:txBody>
      </p:sp>
      <p:pic>
        <p:nvPicPr>
          <p:cNvPr id="30" name="chk-2-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2776" y="2852928"/>
            <a:ext cx="182880" cy="182880"/>
          </a:xfrm>
          <a:prstGeom prst="rect">
            <a:avLst/>
          </a:prstGeom>
        </p:spPr>
      </p:pic>
      <p:sp>
        <p:nvSpPr>
          <p:cNvPr id="31" name="text-186"/>
          <p:cNvSpPr txBox="1"/>
          <p:nvPr/>
        </p:nvSpPr>
        <p:spPr>
          <a:xfrm>
            <a:off x="4187952" y="2788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Badges printed</a:t>
            </a:r>
            <a:endParaRPr lang="en-US" sz="1000" dirty="0"/>
          </a:p>
        </p:txBody>
      </p:sp>
      <p:pic>
        <p:nvPicPr>
          <p:cNvPr id="32" name="chk-2-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2776" y="3630168"/>
            <a:ext cx="182880" cy="182880"/>
          </a:xfrm>
          <a:prstGeom prst="rect">
            <a:avLst/>
          </a:prstGeom>
        </p:spPr>
      </p:pic>
      <p:sp>
        <p:nvSpPr>
          <p:cNvPr id="33" name="text-187"/>
          <p:cNvSpPr txBox="1"/>
          <p:nvPr/>
        </p:nvSpPr>
        <p:spPr>
          <a:xfrm>
            <a:off x="4187952" y="3566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Media brief sent</a:t>
            </a:r>
            <a:endParaRPr lang="en-US" sz="1000" dirty="0"/>
          </a:p>
        </p:txBody>
      </p:sp>
      <p:sp>
        <p:nvSpPr>
          <p:cNvPr id="34" name="dot-188"/>
          <p:cNvSpPr/>
          <p:nvPr/>
        </p:nvSpPr>
        <p:spPr>
          <a:xfrm>
            <a:off x="5888736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num-189"/>
          <p:cNvSpPr txBox="1"/>
          <p:nvPr/>
        </p:nvSpPr>
        <p:spPr>
          <a:xfrm>
            <a:off x="5888736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6" name="text-190"/>
          <p:cNvSpPr txBox="1"/>
          <p:nvPr/>
        </p:nvSpPr>
        <p:spPr>
          <a:xfrm>
            <a:off x="5477256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T-1</a:t>
            </a:r>
            <a:endParaRPr lang="en-US" sz="1200" dirty="0"/>
          </a:p>
        </p:txBody>
      </p:sp>
      <p:sp>
        <p:nvSpPr>
          <p:cNvPr id="37" name="card-191"/>
          <p:cNvSpPr/>
          <p:nvPr/>
        </p:nvSpPr>
        <p:spPr>
          <a:xfrm>
            <a:off x="5477256" y="1874520"/>
            <a:ext cx="1508760" cy="26974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pic>
        <p:nvPicPr>
          <p:cNvPr id="38" name="chk-3-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2075688"/>
            <a:ext cx="182880" cy="182880"/>
          </a:xfrm>
          <a:prstGeom prst="rect">
            <a:avLst/>
          </a:prstGeom>
        </p:spPr>
      </p:pic>
      <p:sp>
        <p:nvSpPr>
          <p:cNvPr id="39" name="text-192"/>
          <p:cNvSpPr txBox="1"/>
          <p:nvPr/>
        </p:nvSpPr>
        <p:spPr>
          <a:xfrm>
            <a:off x="5861304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Full dry run 09:15</a:t>
            </a:r>
            <a:endParaRPr lang="en-US" sz="1000" dirty="0"/>
          </a:p>
        </p:txBody>
      </p:sp>
      <p:pic>
        <p:nvPicPr>
          <p:cNvPr id="40" name="chk-3-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6128" y="2852928"/>
            <a:ext cx="182880" cy="182880"/>
          </a:xfrm>
          <a:prstGeom prst="rect">
            <a:avLst/>
          </a:prstGeom>
        </p:spPr>
      </p:pic>
      <p:sp>
        <p:nvSpPr>
          <p:cNvPr id="41" name="text-193"/>
          <p:cNvSpPr txBox="1"/>
          <p:nvPr/>
        </p:nvSpPr>
        <p:spPr>
          <a:xfrm>
            <a:off x="5861304" y="2788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Site walkdown 15:00</a:t>
            </a:r>
            <a:endParaRPr lang="en-US" sz="1000" dirty="0"/>
          </a:p>
        </p:txBody>
      </p:sp>
      <p:pic>
        <p:nvPicPr>
          <p:cNvPr id="42" name="chk-3-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6128" y="3630168"/>
            <a:ext cx="182880" cy="182880"/>
          </a:xfrm>
          <a:prstGeom prst="rect">
            <a:avLst/>
          </a:prstGeom>
        </p:spPr>
      </p:pic>
      <p:sp>
        <p:nvSpPr>
          <p:cNvPr id="43" name="text-194"/>
          <p:cNvSpPr txBox="1"/>
          <p:nvPr/>
        </p:nvSpPr>
        <p:spPr>
          <a:xfrm>
            <a:off x="5861304" y="3566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Final brief to all leads</a:t>
            </a:r>
            <a:endParaRPr lang="en-US" sz="1000" dirty="0"/>
          </a:p>
        </p:txBody>
      </p:sp>
      <p:sp>
        <p:nvSpPr>
          <p:cNvPr id="44" name="dot-195"/>
          <p:cNvSpPr/>
          <p:nvPr/>
        </p:nvSpPr>
        <p:spPr>
          <a:xfrm>
            <a:off x="7562088" y="11430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num-196"/>
          <p:cNvSpPr txBox="1"/>
          <p:nvPr/>
        </p:nvSpPr>
        <p:spPr>
          <a:xfrm>
            <a:off x="7562088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6" name="text-197"/>
          <p:cNvSpPr txBox="1"/>
          <p:nvPr/>
        </p:nvSpPr>
        <p:spPr>
          <a:xfrm>
            <a:off x="7150608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D-Day</a:t>
            </a:r>
            <a:endParaRPr lang="en-US" sz="1200" dirty="0"/>
          </a:p>
        </p:txBody>
      </p:sp>
      <p:sp>
        <p:nvSpPr>
          <p:cNvPr id="47" name="card-198"/>
          <p:cNvSpPr/>
          <p:nvPr/>
        </p:nvSpPr>
        <p:spPr>
          <a:xfrm>
            <a:off x="7150608" y="1874520"/>
            <a:ext cx="1508760" cy="269748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0F3D3E">
                <a:alpha val="12000"/>
              </a:srgbClr>
            </a:outerShdw>
          </a:effectLst>
        </p:spPr>
      </p:sp>
      <p:pic>
        <p:nvPicPr>
          <p:cNvPr id="48" name="chk-4-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480" y="2075688"/>
            <a:ext cx="182880" cy="182880"/>
          </a:xfrm>
          <a:prstGeom prst="rect">
            <a:avLst/>
          </a:prstGeom>
        </p:spPr>
      </p:pic>
      <p:sp>
        <p:nvSpPr>
          <p:cNvPr id="49" name="text-199"/>
          <p:cNvSpPr txBox="1"/>
          <p:nvPr/>
        </p:nvSpPr>
        <p:spPr>
          <a:xfrm>
            <a:off x="7534656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Sweep by 08:30</a:t>
            </a:r>
            <a:endParaRPr lang="en-US" sz="1000" dirty="0"/>
          </a:p>
        </p:txBody>
      </p:sp>
      <p:pic>
        <p:nvPicPr>
          <p:cNvPr id="50" name="chk-4-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69480" y="2852928"/>
            <a:ext cx="182880" cy="182880"/>
          </a:xfrm>
          <a:prstGeom prst="rect">
            <a:avLst/>
          </a:prstGeom>
        </p:spPr>
      </p:pic>
      <p:sp>
        <p:nvSpPr>
          <p:cNvPr id="51" name="text-200"/>
          <p:cNvSpPr txBox="1"/>
          <p:nvPr/>
        </p:nvSpPr>
        <p:spPr>
          <a:xfrm>
            <a:off x="7534656" y="27889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Live status every 15 min</a:t>
            </a:r>
            <a:endParaRPr lang="en-US" sz="1000" dirty="0"/>
          </a:p>
        </p:txBody>
      </p:sp>
      <p:pic>
        <p:nvPicPr>
          <p:cNvPr id="52" name="chk-4-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9480" y="3630168"/>
            <a:ext cx="182880" cy="182880"/>
          </a:xfrm>
          <a:prstGeom prst="rect">
            <a:avLst/>
          </a:prstGeom>
        </p:spPr>
      </p:pic>
      <p:sp>
        <p:nvSpPr>
          <p:cNvPr id="53" name="text-201"/>
          <p:cNvSpPr txBox="1"/>
          <p:nvPr/>
        </p:nvSpPr>
        <p:spPr>
          <a:xfrm>
            <a:off x="7534656" y="3566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Close-out report by 18:00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contingency plan</a:t>
            </a:r>
            <a:endParaRPr lang="en-US" sz="2400" dirty="0"/>
          </a:p>
        </p:txBody>
      </p:sp>
      <p:graphicFrame>
        <p:nvGraphicFramePr>
          <p:cNvPr id="11" name="table-2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4343400"/>
                <a:gridCol w="1143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Extreme heat at midday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Shaded cooled tent, water stations, program ends before 12:00 on platform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HSE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VIP arrival delayed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15-min buffer, flexible briefing length, live convoy updates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Exec Office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TBM breakthrough slips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Cutterhead held 1 m short till cue; rehearsed fallback with live feed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Tunnel Mgr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Guest not on master list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Accreditation desk with escalation to Executive Office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Medical incident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Paramedic and ambulance on standby at Zone 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HSE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centre &amp; contacts</a:t>
            </a:r>
            <a:endParaRPr lang="en-US" sz="2400" dirty="0"/>
          </a:p>
        </p:txBody>
      </p:sp>
      <p:sp>
        <p:nvSpPr>
          <p:cNvPr id="3" name="card-203"/>
          <p:cNvSpPr/>
          <p:nvPr/>
        </p:nvSpPr>
        <p:spPr>
          <a:xfrm>
            <a:off x="457200" y="10515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ot-204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20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35024"/>
            <a:ext cx="256032" cy="256032"/>
          </a:xfrm>
          <a:prstGeom prst="rect">
            <a:avLst/>
          </a:prstGeom>
        </p:spPr>
      </p:pic>
      <p:sp>
        <p:nvSpPr>
          <p:cNvPr id="6" name="text-206"/>
          <p:cNvSpPr txBox="1"/>
          <p:nvPr/>
        </p:nvSpPr>
        <p:spPr>
          <a:xfrm>
            <a:off x="1207008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Event Coordinator</a:t>
            </a:r>
            <a:endParaRPr lang="en-US" sz="1300" dirty="0"/>
          </a:p>
        </p:txBody>
      </p:sp>
      <p:sp>
        <p:nvSpPr>
          <p:cNvPr id="7" name="text-20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Executive Office</a:t>
            </a:r>
            <a:endParaRPr lang="en-US" sz="1050" dirty="0"/>
          </a:p>
        </p:txBody>
      </p:sp>
      <p:sp>
        <p:nvSpPr>
          <p:cNvPr id="8" name="text-208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+966 50 000 1101</a:t>
            </a:r>
            <a:endParaRPr lang="en-US" sz="1300" dirty="0"/>
          </a:p>
        </p:txBody>
      </p:sp>
      <p:sp>
        <p:nvSpPr>
          <p:cNvPr id="9" name="card-209"/>
          <p:cNvSpPr/>
          <p:nvPr/>
        </p:nvSpPr>
        <p:spPr>
          <a:xfrm>
            <a:off x="3246120" y="10515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-210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-2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335024"/>
            <a:ext cx="256032" cy="256032"/>
          </a:xfrm>
          <a:prstGeom prst="rect">
            <a:avLst/>
          </a:prstGeom>
        </p:spPr>
      </p:pic>
      <p:sp>
        <p:nvSpPr>
          <p:cNvPr id="12" name="text-212"/>
          <p:cNvSpPr txBox="1"/>
          <p:nvPr/>
        </p:nvSpPr>
        <p:spPr>
          <a:xfrm>
            <a:off x="3995928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Security Control</a:t>
            </a:r>
            <a:endParaRPr lang="en-US" sz="1300" dirty="0"/>
          </a:p>
        </p:txBody>
      </p:sp>
      <p:sp>
        <p:nvSpPr>
          <p:cNvPr id="13" name="text-213"/>
          <p:cNvSpPr txBox="1"/>
          <p:nvPr/>
        </p:nvSpPr>
        <p:spPr>
          <a:xfrm>
            <a:off x="34290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Gate A – Radio Ch. 4</a:t>
            </a:r>
            <a:endParaRPr lang="en-US" sz="1050" dirty="0"/>
          </a:p>
        </p:txBody>
      </p:sp>
      <p:sp>
        <p:nvSpPr>
          <p:cNvPr id="14" name="text-214"/>
          <p:cNvSpPr txBox="1"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+966 50 000 1102</a:t>
            </a:r>
            <a:endParaRPr lang="en-US" sz="1300" dirty="0"/>
          </a:p>
        </p:txBody>
      </p:sp>
      <p:sp>
        <p:nvSpPr>
          <p:cNvPr id="15" name="card-215"/>
          <p:cNvSpPr/>
          <p:nvPr/>
        </p:nvSpPr>
        <p:spPr>
          <a:xfrm>
            <a:off x="6035040" y="10515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ot-216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2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335024"/>
            <a:ext cx="256032" cy="256032"/>
          </a:xfrm>
          <a:prstGeom prst="rect">
            <a:avLst/>
          </a:prstGeom>
        </p:spPr>
      </p:pic>
      <p:sp>
        <p:nvSpPr>
          <p:cNvPr id="18" name="text-218"/>
          <p:cNvSpPr txBox="1"/>
          <p:nvPr/>
        </p:nvSpPr>
        <p:spPr>
          <a:xfrm>
            <a:off x="6784848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HSE &amp; Medical</a:t>
            </a:r>
            <a:endParaRPr lang="en-US" sz="1300" dirty="0"/>
          </a:p>
        </p:txBody>
      </p:sp>
      <p:sp>
        <p:nvSpPr>
          <p:cNvPr id="19" name="text-219"/>
          <p:cNvSpPr txBox="1"/>
          <p:nvPr/>
        </p:nvSpPr>
        <p:spPr>
          <a:xfrm>
            <a:off x="62179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Paramedic post, Zone A</a:t>
            </a:r>
            <a:endParaRPr lang="en-US" sz="1050" dirty="0"/>
          </a:p>
        </p:txBody>
      </p:sp>
      <p:sp>
        <p:nvSpPr>
          <p:cNvPr id="20" name="text-220"/>
          <p:cNvSpPr txBox="1"/>
          <p:nvPr/>
        </p:nvSpPr>
        <p:spPr>
          <a:xfrm>
            <a:off x="62179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+966 50 000 1103</a:t>
            </a:r>
            <a:endParaRPr lang="en-US" sz="1300" dirty="0"/>
          </a:p>
        </p:txBody>
      </p:sp>
      <p:sp>
        <p:nvSpPr>
          <p:cNvPr id="21" name="text-221"/>
          <p:cNvSpPr txBox="1"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plan. One team. One moment.</a:t>
            </a:r>
            <a:endParaRPr lang="en-US" sz="2600" dirty="0"/>
          </a:p>
        </p:txBody>
      </p:sp>
      <p:sp>
        <p:nvSpPr>
          <p:cNvPr id="22" name="text-222"/>
          <p:cNvSpPr txBox="1"/>
          <p:nvPr/>
        </p:nvSpPr>
        <p:spPr>
          <a:xfrm>
            <a:off x="45720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Final site walkdown: Wednesday 18 Nov 2026, 15:00 at North Portal. All workstream leads to attend with their checklists.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l and Copper Ceremony">
  <a:themeElements>
    <a:clrScheme name="Teal and Copper Ceremony">
      <a:dk1>
        <a:srgbClr val="0F3D3E"/>
      </a:dk1>
      <a:lt1>
        <a:srgbClr val="FFFFFF"/>
      </a:lt1>
      <a:dk2>
        <a:srgbClr val="56706E"/>
      </a:dk2>
      <a:lt2>
        <a:srgbClr val="F4EEE6"/>
      </a:lt2>
      <a:accent1>
        <a:srgbClr val="1F6F6B"/>
      </a:accent1>
      <a:accent2>
        <a:srgbClr val="C8794A"/>
      </a:accent2>
      <a:accent3>
        <a:srgbClr val="EADCC8"/>
      </a:accent3>
      <a:accent4>
        <a:srgbClr val="7FA8A3"/>
      </a:accent4>
      <a:accent5>
        <a:srgbClr val="B04A3A"/>
      </a:accent5>
      <a:accent6>
        <a:srgbClr val="D9A441"/>
      </a:accent6>
      <a:hlink>
        <a:srgbClr val="1F6F6B"/>
      </a:hlink>
      <a:folHlink>
        <a:srgbClr val="56706E"/>
      </a:folHlink>
    </a:clrScheme>
    <a:fontScheme name="Teal and Copper Ceremon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Desert Horizon JV (demo)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VIP Visit and TBM Breakthrough Ceremony Plan</dc:title>
  <dc:subject>PptxGenJS Presentation</dc:subject>
  <dc:creator>Sudheer Ahmed Khattak</dc:creator>
  <cp:lastModifiedBy>Sudheer Ahmed Khattak</cp:lastModifiedBy>
  <cp:revision>1</cp:revision>
  <dcterms:created xsi:type="dcterms:W3CDTF">2026-10-14T07:48:07Z</dcterms:created>
  <dcterms:modified xsi:type="dcterms:W3CDTF">2026-10-14T07:48:07Z</dcterms:modified>
</cp:coreProperties>
</file>