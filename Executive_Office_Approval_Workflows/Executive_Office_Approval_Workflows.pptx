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cd2644b-5a5c-77dd-9a02-c27407006587}">
          <p14:sldIdLst>
            <p14:sldId id="256"/>
            <p14:sldId id="257"/>
          </p14:sldIdLst>
        </p14:section>
        <p14:section name="Workflows" id="{47805029-8131-3b0d-b01b-f010e4b412bd}">
          <p14:sldIdLst>
            <p14:sldId id="258"/>
            <p14:sldId id="259"/>
            <p14:sldId id="260"/>
            <p14:sldId id="261"/>
          </p14:sldIdLst>
        </p14:section>
        <p14:section name="Controls" id="{b15b18c8-d21f-d671-2e44-b0241ea548db}">
          <p14:sldIdLst>
            <p14:sldId id="262"/>
          </p14:sldIdLst>
        </p14:section>
        <p14:section name="Performance" id="{d05abf98-7acd-48ff-d6f0-a0b3276b001b}">
          <p14:sldIdLst>
            <p14:sldId id="263"/>
            <p14:sldId id="264"/>
            <p14:sldId id="265"/>
          </p14:sldIdLst>
        </p14:section>
        <p14:section name="Close" id="{61b72bff-6cf5-4564-d2f0-e15b53367cf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428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E2428"/>
                </a:solidFill>
                <a:latin typeface="+mj-lt"/>
              </a:rPr>
              <a:t>Average working days, Jan–Jun 2026 (demo)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(days)</c:v>
                </c:pt>
              </c:strCache>
            </c:strRef>
          </c:tx>
          <c:spPr>
            <a:solidFill>
              <a:srgbClr val="9AA5A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4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 to PO</c:v>
                  </c:pt>
                  <c:pt idx="1">
                    <c:v>IPC</c:v>
                  </c:pt>
                  <c:pt idx="2">
                    <c:v>Subcontract</c:v>
                  </c:pt>
                  <c:pt idx="3">
                    <c:v>Client letter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10</c:v>
                </c:pt>
                <c:pt idx="2">
                  <c:v>12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(days)</c:v>
                </c:pt>
              </c:strCache>
            </c:strRef>
          </c:tx>
          <c:spPr>
            <a:solidFill>
              <a:srgbClr val="1F9D7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4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 to PO</c:v>
                  </c:pt>
                  <c:pt idx="1">
                    <c:v>IPC</c:v>
                  </c:pt>
                  <c:pt idx="2">
                    <c:v>Subcontract</c:v>
                  </c:pt>
                  <c:pt idx="3">
                    <c:v>Client letter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6.2</c:v>
                </c:pt>
                <c:pt idx="1">
                  <c:v>11.5</c:v>
                </c:pt>
                <c:pt idx="2">
                  <c:v>9.8</c:v>
                </c:pt>
                <c:pt idx="3">
                  <c:v>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E24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7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428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E2428"/>
                </a:solidFill>
                <a:latin typeface="+mj-lt"/>
              </a:rPr>
              <a:t>Items approved per month, 2026 (demo)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orders</c:v>
                </c:pt>
              </c:strCache>
            </c:strRef>
          </c:tx>
          <c:spPr>
            <a:solidFill>
              <a:srgbClr val="1F9D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38</c:v>
                </c:pt>
                <c:pt idx="2">
                  <c:v>51</c:v>
                </c:pt>
                <c:pt idx="3">
                  <c:v>47</c:v>
                </c:pt>
                <c:pt idx="4">
                  <c:v>55</c:v>
                </c:pt>
                <c:pt idx="5">
                  <c:v>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IPCs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14</c:v>
                </c:pt>
                <c:pt idx="2">
                  <c:v>13</c:v>
                </c:pt>
                <c:pt idx="3">
                  <c:v>16</c:v>
                </c:pt>
                <c:pt idx="4">
                  <c:v>15</c:v>
                </c:pt>
                <c:pt idx="5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Contracts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Client letters</c:v>
                </c:pt>
              </c:strCache>
            </c:strRef>
          </c:tx>
          <c:spPr>
            <a:solidFill>
              <a:srgbClr val="1E24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26</c:v>
                </c:pt>
                <c:pt idx="1">
                  <c:v>22</c:v>
                </c:pt>
                <c:pt idx="2">
                  <c:v>31</c:v>
                </c:pt>
                <c:pt idx="3">
                  <c:v>28</c:v>
                </c:pt>
                <c:pt idx="4">
                  <c:v>34</c:v>
                </c:pt>
                <c:pt idx="5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25880"/>
            <a:ext cx="548640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88920"/>
            <a:ext cx="5486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1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Desert Horizon JV  ·  Executive Office Approval Workflows  ·  Demo data</a:t>
            </a:r>
            <a:endParaRPr lang="en-US" sz="8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Desert Horizon JV  ·  Executive Office Approval Workflows  ·  Demo data</a:t>
            </a:r>
            <a:endParaRPr lang="en-US" sz="8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PROCESS PLAYBOOK  ·  DESERT HORIZON JV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2588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Office Approval Workflows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88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How PR/PO, IPC, contract and client-letter approvals move through Oracle Fusion, DocuSign and Aconex</a:t>
            </a:r>
            <a:endParaRPr lang="en-US" sz="1500" dirty="0"/>
          </a:p>
        </p:txBody>
      </p:sp>
      <p:sp>
        <p:nvSpPr>
          <p:cNvPr id="5" name="line-1"/>
          <p:cNvSpPr/>
          <p:nvPr/>
        </p:nvSpPr>
        <p:spPr>
          <a:xfrm>
            <a:off x="7360920" y="1188720"/>
            <a:ext cx="0" cy="23774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dot-2"/>
          <p:cNvSpPr/>
          <p:nvPr/>
        </p:nvSpPr>
        <p:spPr>
          <a:xfrm>
            <a:off x="6949440" y="9144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180" y="1120140"/>
            <a:ext cx="411480" cy="411480"/>
          </a:xfrm>
          <a:prstGeom prst="rect">
            <a:avLst/>
          </a:prstGeom>
        </p:spPr>
      </p:pic>
      <p:sp>
        <p:nvSpPr>
          <p:cNvPr id="8" name="text-4"/>
          <p:cNvSpPr txBox="1"/>
          <p:nvPr/>
        </p:nvSpPr>
        <p:spPr>
          <a:xfrm>
            <a:off x="5852160" y="1143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Oracle Fusion</a:t>
            </a:r>
            <a:endParaRPr lang="en-US" sz="1100" dirty="0"/>
          </a:p>
        </p:txBody>
      </p:sp>
      <p:sp>
        <p:nvSpPr>
          <p:cNvPr id="9" name="dot-5"/>
          <p:cNvSpPr/>
          <p:nvPr/>
        </p:nvSpPr>
        <p:spPr>
          <a:xfrm>
            <a:off x="6949440" y="20574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80" y="2263140"/>
            <a:ext cx="411480" cy="411480"/>
          </a:xfrm>
          <a:prstGeom prst="rect">
            <a:avLst/>
          </a:prstGeom>
        </p:spPr>
      </p:pic>
      <p:sp>
        <p:nvSpPr>
          <p:cNvPr id="11" name="text-7"/>
          <p:cNvSpPr txBox="1"/>
          <p:nvPr/>
        </p:nvSpPr>
        <p:spPr>
          <a:xfrm>
            <a:off x="5852160" y="2286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DocuSign</a:t>
            </a:r>
            <a:endParaRPr lang="en-US" sz="1100" dirty="0"/>
          </a:p>
        </p:txBody>
      </p:sp>
      <p:sp>
        <p:nvSpPr>
          <p:cNvPr id="12" name="dot-8"/>
          <p:cNvSpPr/>
          <p:nvPr/>
        </p:nvSpPr>
        <p:spPr>
          <a:xfrm>
            <a:off x="6949440" y="32004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-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3406140"/>
            <a:ext cx="411480" cy="411480"/>
          </a:xfrm>
          <a:prstGeom prst="rect">
            <a:avLst/>
          </a:prstGeom>
        </p:spPr>
      </p:pic>
      <p:sp>
        <p:nvSpPr>
          <p:cNvPr id="14" name="text-10"/>
          <p:cNvSpPr txBox="1"/>
          <p:nvPr/>
        </p:nvSpPr>
        <p:spPr>
          <a:xfrm>
            <a:off x="5852160" y="3429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Aconex</a:t>
            </a:r>
            <a:endParaRPr lang="en-US" sz="1100" dirty="0"/>
          </a:p>
        </p:txBody>
      </p:sp>
      <p:sp>
        <p:nvSpPr>
          <p:cNvPr id="15" name="text-11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Prepared by the Executive Office  ·  Version 1.0  ·  Demo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systems, one approval chain</a:t>
            </a:r>
            <a:endParaRPr lang="en-US" sz="2400" dirty="0"/>
          </a:p>
        </p:txBody>
      </p:sp>
      <p:sp>
        <p:nvSpPr>
          <p:cNvPr id="3" name="card-12"/>
          <p:cNvSpPr/>
          <p:nvPr/>
        </p:nvSpPr>
        <p:spPr>
          <a:xfrm>
            <a:off x="457200" y="100584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4" name="dot-13"/>
          <p:cNvSpPr/>
          <p:nvPr/>
        </p:nvSpPr>
        <p:spPr>
          <a:xfrm>
            <a:off x="685800" y="11887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524" y="1313444"/>
            <a:ext cx="317480" cy="317480"/>
          </a:xfrm>
          <a:prstGeom prst="rect">
            <a:avLst/>
          </a:prstGeom>
        </p:spPr>
      </p:pic>
      <p:sp>
        <p:nvSpPr>
          <p:cNvPr id="6" name="text-15"/>
          <p:cNvSpPr txBox="1"/>
          <p:nvPr/>
        </p:nvSpPr>
        <p:spPr>
          <a:xfrm>
            <a:off x="1371600" y="1188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Fusion</a:t>
            </a:r>
            <a:endParaRPr lang="en-US" sz="1500" dirty="0"/>
          </a:p>
        </p:txBody>
      </p:sp>
      <p:sp>
        <p:nvSpPr>
          <p:cNvPr id="7" name="text-16"/>
          <p:cNvSpPr txBox="1"/>
          <p:nvPr/>
        </p:nvSpPr>
        <p:spPr>
          <a:xfrm>
            <a:off x="1371600" y="1508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RAISE &amp; APPROVE</a:t>
            </a:r>
            <a:endParaRPr lang="en-US" sz="900" dirty="0"/>
          </a:p>
        </p:txBody>
      </p:sp>
      <p:pic>
        <p:nvPicPr>
          <p:cNvPr id="8" name="sys-chk-0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75688"/>
            <a:ext cx="164592" cy="164592"/>
          </a:xfrm>
          <a:prstGeom prst="rect">
            <a:avLst/>
          </a:prstGeom>
        </p:spPr>
      </p:pic>
      <p:sp>
        <p:nvSpPr>
          <p:cNvPr id="9" name="text-17"/>
          <p:cNvSpPr txBox="1"/>
          <p:nvPr/>
        </p:nvSpPr>
        <p:spPr>
          <a:xfrm>
            <a:off x="969264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Purchase requisitions and POs</a:t>
            </a:r>
            <a:endParaRPr lang="en-US" sz="1050" dirty="0"/>
          </a:p>
        </p:txBody>
      </p:sp>
      <p:pic>
        <p:nvPicPr>
          <p:cNvPr id="10" name="sys-chk-0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578608"/>
            <a:ext cx="164592" cy="164592"/>
          </a:xfrm>
          <a:prstGeom prst="rect">
            <a:avLst/>
          </a:prstGeom>
        </p:spPr>
      </p:pic>
      <p:sp>
        <p:nvSpPr>
          <p:cNvPr id="11" name="text-18"/>
          <p:cNvSpPr txBox="1"/>
          <p:nvPr/>
        </p:nvSpPr>
        <p:spPr>
          <a:xfrm>
            <a:off x="969264" y="2514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Budget and cost-code checks</a:t>
            </a:r>
            <a:endParaRPr lang="en-US" sz="1050" dirty="0"/>
          </a:p>
        </p:txBody>
      </p:sp>
      <p:pic>
        <p:nvPicPr>
          <p:cNvPr id="12" name="sys-chk-0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081528"/>
            <a:ext cx="164592" cy="164592"/>
          </a:xfrm>
          <a:prstGeom prst="rect">
            <a:avLst/>
          </a:prstGeom>
        </p:spPr>
      </p:pic>
      <p:sp>
        <p:nvSpPr>
          <p:cNvPr id="13" name="text-19"/>
          <p:cNvSpPr txBox="1"/>
          <p:nvPr/>
        </p:nvSpPr>
        <p:spPr>
          <a:xfrm>
            <a:off x="969264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Supplier invoices and payments</a:t>
            </a:r>
            <a:endParaRPr lang="en-US" sz="1050" dirty="0"/>
          </a:p>
        </p:txBody>
      </p:sp>
      <p:pic>
        <p:nvPicPr>
          <p:cNvPr id="14" name="sys-arrow-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2240280"/>
            <a:ext cx="228600" cy="228600"/>
          </a:xfrm>
          <a:prstGeom prst="rect">
            <a:avLst/>
          </a:prstGeom>
        </p:spPr>
      </p:pic>
      <p:sp>
        <p:nvSpPr>
          <p:cNvPr id="15" name="card-20"/>
          <p:cNvSpPr/>
          <p:nvPr/>
        </p:nvSpPr>
        <p:spPr>
          <a:xfrm>
            <a:off x="3291840" y="100584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16" name="dot-21"/>
          <p:cNvSpPr/>
          <p:nvPr/>
        </p:nvSpPr>
        <p:spPr>
          <a:xfrm>
            <a:off x="3520440" y="11887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-2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5164" y="1313444"/>
            <a:ext cx="317480" cy="317480"/>
          </a:xfrm>
          <a:prstGeom prst="rect">
            <a:avLst/>
          </a:prstGeom>
        </p:spPr>
      </p:pic>
      <p:sp>
        <p:nvSpPr>
          <p:cNvPr id="18" name="text-23"/>
          <p:cNvSpPr txBox="1"/>
          <p:nvPr/>
        </p:nvSpPr>
        <p:spPr>
          <a:xfrm>
            <a:off x="4206240" y="1188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DocuSign</a:t>
            </a:r>
            <a:endParaRPr lang="en-US" sz="1500" dirty="0"/>
          </a:p>
        </p:txBody>
      </p:sp>
      <p:sp>
        <p:nvSpPr>
          <p:cNvPr id="19" name="text-24"/>
          <p:cNvSpPr txBox="1"/>
          <p:nvPr/>
        </p:nvSpPr>
        <p:spPr>
          <a:xfrm>
            <a:off x="4206240" y="1508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SIGN &amp; CERTIFY</a:t>
            </a:r>
            <a:endParaRPr lang="en-US" sz="900" dirty="0"/>
          </a:p>
        </p:txBody>
      </p:sp>
      <p:pic>
        <p:nvPicPr>
          <p:cNvPr id="20" name="sys-chk-1-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872" y="2075688"/>
            <a:ext cx="164592" cy="164592"/>
          </a:xfrm>
          <a:prstGeom prst="rect">
            <a:avLst/>
          </a:prstGeom>
        </p:spPr>
      </p:pic>
      <p:sp>
        <p:nvSpPr>
          <p:cNvPr id="21" name="text-25"/>
          <p:cNvSpPr txBox="1"/>
          <p:nvPr/>
        </p:nvSpPr>
        <p:spPr>
          <a:xfrm>
            <a:off x="3803904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Contracts and subcontracts</a:t>
            </a:r>
            <a:endParaRPr lang="en-US" sz="1050" dirty="0"/>
          </a:p>
        </p:txBody>
      </p:sp>
      <p:pic>
        <p:nvPicPr>
          <p:cNvPr id="22" name="sys-chk-1-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7872" y="2578608"/>
            <a:ext cx="164592" cy="164592"/>
          </a:xfrm>
          <a:prstGeom prst="rect">
            <a:avLst/>
          </a:prstGeom>
        </p:spPr>
      </p:pic>
      <p:sp>
        <p:nvSpPr>
          <p:cNvPr id="23" name="text-26"/>
          <p:cNvSpPr txBox="1"/>
          <p:nvPr/>
        </p:nvSpPr>
        <p:spPr>
          <a:xfrm>
            <a:off x="3803904" y="2514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IPC certificates</a:t>
            </a:r>
            <a:endParaRPr lang="en-US" sz="1050" dirty="0"/>
          </a:p>
        </p:txBody>
      </p:sp>
      <p:pic>
        <p:nvPicPr>
          <p:cNvPr id="24" name="sys-chk-1-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7872" y="3081528"/>
            <a:ext cx="164592" cy="164592"/>
          </a:xfrm>
          <a:prstGeom prst="rect">
            <a:avLst/>
          </a:prstGeom>
        </p:spPr>
      </p:pic>
      <p:sp>
        <p:nvSpPr>
          <p:cNvPr id="25" name="text-27"/>
          <p:cNvSpPr txBox="1"/>
          <p:nvPr/>
        </p:nvSpPr>
        <p:spPr>
          <a:xfrm>
            <a:off x="3803904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Outgoing letters for signature</a:t>
            </a:r>
            <a:endParaRPr lang="en-US" sz="1050" dirty="0"/>
          </a:p>
        </p:txBody>
      </p:sp>
      <p:pic>
        <p:nvPicPr>
          <p:cNvPr id="26" name="sys-arrow-1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0" y="2240280"/>
            <a:ext cx="228600" cy="228600"/>
          </a:xfrm>
          <a:prstGeom prst="rect">
            <a:avLst/>
          </a:prstGeom>
        </p:spPr>
      </p:pic>
      <p:sp>
        <p:nvSpPr>
          <p:cNvPr id="27" name="card-28"/>
          <p:cNvSpPr/>
          <p:nvPr/>
        </p:nvSpPr>
        <p:spPr>
          <a:xfrm>
            <a:off x="6126480" y="1005840"/>
            <a:ext cx="2514600" cy="27432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28" name="dot-29"/>
          <p:cNvSpPr/>
          <p:nvPr/>
        </p:nvSpPr>
        <p:spPr>
          <a:xfrm>
            <a:off x="6355080" y="11887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on-3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9804" y="1313444"/>
            <a:ext cx="317480" cy="317480"/>
          </a:xfrm>
          <a:prstGeom prst="rect">
            <a:avLst/>
          </a:prstGeom>
        </p:spPr>
      </p:pic>
      <p:sp>
        <p:nvSpPr>
          <p:cNvPr id="30" name="text-31"/>
          <p:cNvSpPr txBox="1"/>
          <p:nvPr/>
        </p:nvSpPr>
        <p:spPr>
          <a:xfrm>
            <a:off x="7040880" y="1188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Aconex</a:t>
            </a:r>
            <a:endParaRPr lang="en-US" sz="1500" dirty="0"/>
          </a:p>
        </p:txBody>
      </p:sp>
      <p:sp>
        <p:nvSpPr>
          <p:cNvPr id="31" name="text-32"/>
          <p:cNvSpPr txBox="1"/>
          <p:nvPr/>
        </p:nvSpPr>
        <p:spPr>
          <a:xfrm>
            <a:off x="7040880" y="1508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ISSUE &amp; RECORD</a:t>
            </a:r>
            <a:endParaRPr lang="en-US" sz="900" dirty="0"/>
          </a:p>
        </p:txBody>
      </p:sp>
      <p:pic>
        <p:nvPicPr>
          <p:cNvPr id="32" name="sys-chk-2-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2512" y="2075688"/>
            <a:ext cx="164592" cy="164592"/>
          </a:xfrm>
          <a:prstGeom prst="rect">
            <a:avLst/>
          </a:prstGeom>
        </p:spPr>
      </p:pic>
      <p:sp>
        <p:nvSpPr>
          <p:cNvPr id="33" name="text-33"/>
          <p:cNvSpPr txBox="1"/>
          <p:nvPr/>
        </p:nvSpPr>
        <p:spPr>
          <a:xfrm>
            <a:off x="6638544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Transmittals to client and consultant</a:t>
            </a:r>
            <a:endParaRPr lang="en-US" sz="1050" dirty="0"/>
          </a:p>
        </p:txBody>
      </p:sp>
      <p:pic>
        <p:nvPicPr>
          <p:cNvPr id="34" name="sys-chk-2-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2512" y="2578608"/>
            <a:ext cx="164592" cy="164592"/>
          </a:xfrm>
          <a:prstGeom prst="rect">
            <a:avLst/>
          </a:prstGeom>
        </p:spPr>
      </p:pic>
      <p:sp>
        <p:nvSpPr>
          <p:cNvPr id="35" name="text-34"/>
          <p:cNvSpPr txBox="1"/>
          <p:nvPr/>
        </p:nvSpPr>
        <p:spPr>
          <a:xfrm>
            <a:off x="6638544" y="2514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Incoming correspondence register</a:t>
            </a:r>
            <a:endParaRPr lang="en-US" sz="1050" dirty="0"/>
          </a:p>
        </p:txBody>
      </p:sp>
      <p:pic>
        <p:nvPicPr>
          <p:cNvPr id="36" name="sys-chk-2-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2512" y="3081528"/>
            <a:ext cx="164592" cy="164592"/>
          </a:xfrm>
          <a:prstGeom prst="rect">
            <a:avLst/>
          </a:prstGeom>
        </p:spPr>
      </p:pic>
      <p:sp>
        <p:nvSpPr>
          <p:cNvPr id="37" name="text-35"/>
          <p:cNvSpPr txBox="1"/>
          <p:nvPr/>
        </p:nvSpPr>
        <p:spPr>
          <a:xfrm>
            <a:off x="6638544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Signed copies as the record</a:t>
            </a:r>
            <a:endParaRPr lang="en-US" sz="1050" dirty="0"/>
          </a:p>
        </p:txBody>
      </p:sp>
      <p:sp>
        <p:nvSpPr>
          <p:cNvPr id="38" name="card-36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-37"/>
          <p:cNvSpPr txBox="1"/>
          <p:nvPr/>
        </p:nvSpPr>
        <p:spPr>
          <a:xfrm>
            <a:off x="68580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6"/>
                </a:solidFill>
              </a:rPr>
              <a:t>Golden rule  </a:t>
            </a:r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Nothing is treated as issued until the signed copy is uploaded and transmitted in Aconex.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1 – Purchase requisition to PO</a:t>
            </a:r>
            <a:endParaRPr lang="en-US" sz="2400" dirty="0"/>
          </a:p>
        </p:txBody>
      </p:sp>
      <p:sp>
        <p:nvSpPr>
          <p:cNvPr id="3" name="line-38"/>
          <p:cNvSpPr/>
          <p:nvPr/>
        </p:nvSpPr>
        <p:spPr>
          <a:xfrm>
            <a:off x="868680" y="1417320"/>
            <a:ext cx="75895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4" name="dot-39"/>
          <p:cNvSpPr/>
          <p:nvPr/>
        </p:nvSpPr>
        <p:spPr>
          <a:xfrm>
            <a:off x="868680" y="11612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-40"/>
          <p:cNvSpPr txBox="1"/>
          <p:nvPr/>
        </p:nvSpPr>
        <p:spPr>
          <a:xfrm>
            <a:off x="868680" y="1161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card-41"/>
          <p:cNvSpPr/>
          <p:nvPr/>
        </p:nvSpPr>
        <p:spPr>
          <a:xfrm>
            <a:off x="457200" y="1828800"/>
            <a:ext cx="1307592" cy="1828800"/>
          </a:xfrm>
          <a:prstGeom prst="roundRect">
            <a:avLst>
              <a:gd name="adj" fmla="val 559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7" name="text-42"/>
          <p:cNvSpPr txBox="1"/>
          <p:nvPr/>
        </p:nvSpPr>
        <p:spPr>
          <a:xfrm>
            <a:off x="566928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Requester</a:t>
            </a:r>
            <a:endParaRPr lang="en-US" sz="1100" dirty="0"/>
          </a:p>
        </p:txBody>
      </p:sp>
      <p:sp>
        <p:nvSpPr>
          <p:cNvPr id="8" name="text-43"/>
          <p:cNvSpPr txBox="1"/>
          <p:nvPr/>
        </p:nvSpPr>
        <p:spPr>
          <a:xfrm>
            <a:off x="566928" y="22402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Raises PR with specs and cost code</a:t>
            </a:r>
            <a:endParaRPr lang="en-US" sz="950" dirty="0"/>
          </a:p>
        </p:txBody>
      </p:sp>
      <p:sp>
        <p:nvSpPr>
          <p:cNvPr id="9" name="text-44"/>
          <p:cNvSpPr txBox="1"/>
          <p:nvPr/>
        </p:nvSpPr>
        <p:spPr>
          <a:xfrm>
            <a:off x="566928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Oracle</a:t>
            </a:r>
            <a:endParaRPr lang="en-US" sz="850" dirty="0"/>
          </a:p>
        </p:txBody>
      </p:sp>
      <p:sp>
        <p:nvSpPr>
          <p:cNvPr id="10" name="text-45"/>
          <p:cNvSpPr txBox="1"/>
          <p:nvPr/>
        </p:nvSpPr>
        <p:spPr>
          <a:xfrm>
            <a:off x="566928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SLA Day 0</a:t>
            </a:r>
            <a:endParaRPr lang="en-US" sz="850" dirty="0"/>
          </a:p>
        </p:txBody>
      </p:sp>
      <p:sp>
        <p:nvSpPr>
          <p:cNvPr id="11" name="dot-46"/>
          <p:cNvSpPr/>
          <p:nvPr/>
        </p:nvSpPr>
        <p:spPr>
          <a:xfrm>
            <a:off x="2267712" y="11612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-47"/>
          <p:cNvSpPr txBox="1"/>
          <p:nvPr/>
        </p:nvSpPr>
        <p:spPr>
          <a:xfrm>
            <a:off x="2267712" y="1161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card-48"/>
          <p:cNvSpPr/>
          <p:nvPr/>
        </p:nvSpPr>
        <p:spPr>
          <a:xfrm>
            <a:off x="1856232" y="1828800"/>
            <a:ext cx="1307592" cy="1828800"/>
          </a:xfrm>
          <a:prstGeom prst="roundRect">
            <a:avLst>
              <a:gd name="adj" fmla="val 559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14" name="text-49"/>
          <p:cNvSpPr txBox="1"/>
          <p:nvPr/>
        </p:nvSpPr>
        <p:spPr>
          <a:xfrm>
            <a:off x="196596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Dept Manager</a:t>
            </a:r>
            <a:endParaRPr lang="en-US" sz="1100" dirty="0"/>
          </a:p>
        </p:txBody>
      </p:sp>
      <p:sp>
        <p:nvSpPr>
          <p:cNvPr id="15" name="text-50"/>
          <p:cNvSpPr txBox="1"/>
          <p:nvPr/>
        </p:nvSpPr>
        <p:spPr>
          <a:xfrm>
            <a:off x="1965960" y="22402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Reviews need and quantity</a:t>
            </a:r>
            <a:endParaRPr lang="en-US" sz="950" dirty="0"/>
          </a:p>
        </p:txBody>
      </p:sp>
      <p:sp>
        <p:nvSpPr>
          <p:cNvPr id="16" name="text-51"/>
          <p:cNvSpPr txBox="1"/>
          <p:nvPr/>
        </p:nvSpPr>
        <p:spPr>
          <a:xfrm>
            <a:off x="1965960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Oracle</a:t>
            </a:r>
            <a:endParaRPr lang="en-US" sz="850" dirty="0"/>
          </a:p>
        </p:txBody>
      </p:sp>
      <p:sp>
        <p:nvSpPr>
          <p:cNvPr id="17" name="text-52"/>
          <p:cNvSpPr txBox="1"/>
          <p:nvPr/>
        </p:nvSpPr>
        <p:spPr>
          <a:xfrm>
            <a:off x="1965960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SLA 1 day</a:t>
            </a:r>
            <a:endParaRPr lang="en-US" sz="850" dirty="0"/>
          </a:p>
        </p:txBody>
      </p:sp>
      <p:sp>
        <p:nvSpPr>
          <p:cNvPr id="18" name="dot-53"/>
          <p:cNvSpPr/>
          <p:nvPr/>
        </p:nvSpPr>
        <p:spPr>
          <a:xfrm>
            <a:off x="3666744" y="11612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-54"/>
          <p:cNvSpPr txBox="1"/>
          <p:nvPr/>
        </p:nvSpPr>
        <p:spPr>
          <a:xfrm>
            <a:off x="3666744" y="1161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card-55"/>
          <p:cNvSpPr/>
          <p:nvPr/>
        </p:nvSpPr>
        <p:spPr>
          <a:xfrm>
            <a:off x="3255264" y="1828800"/>
            <a:ext cx="1307592" cy="1828800"/>
          </a:xfrm>
          <a:prstGeom prst="roundRect">
            <a:avLst>
              <a:gd name="adj" fmla="val 559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21" name="text-56"/>
          <p:cNvSpPr txBox="1"/>
          <p:nvPr/>
        </p:nvSpPr>
        <p:spPr>
          <a:xfrm>
            <a:off x="3364992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Procurement</a:t>
            </a:r>
            <a:endParaRPr lang="en-US" sz="1100" dirty="0"/>
          </a:p>
        </p:txBody>
      </p:sp>
      <p:sp>
        <p:nvSpPr>
          <p:cNvPr id="22" name="text-57"/>
          <p:cNvSpPr txBox="1"/>
          <p:nvPr/>
        </p:nvSpPr>
        <p:spPr>
          <a:xfrm>
            <a:off x="3364992" y="22402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Collects 3 quotes, recommends supplier</a:t>
            </a:r>
            <a:endParaRPr lang="en-US" sz="950" dirty="0"/>
          </a:p>
        </p:txBody>
      </p:sp>
      <p:sp>
        <p:nvSpPr>
          <p:cNvPr id="23" name="text-58"/>
          <p:cNvSpPr txBox="1"/>
          <p:nvPr/>
        </p:nvSpPr>
        <p:spPr>
          <a:xfrm>
            <a:off x="3364992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Oracle</a:t>
            </a:r>
            <a:endParaRPr lang="en-US" sz="850" dirty="0"/>
          </a:p>
        </p:txBody>
      </p:sp>
      <p:sp>
        <p:nvSpPr>
          <p:cNvPr id="24" name="text-59"/>
          <p:cNvSpPr txBox="1"/>
          <p:nvPr/>
        </p:nvSpPr>
        <p:spPr>
          <a:xfrm>
            <a:off x="3364992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SLA 3 days</a:t>
            </a:r>
            <a:endParaRPr lang="en-US" sz="850" dirty="0"/>
          </a:p>
        </p:txBody>
      </p:sp>
      <p:sp>
        <p:nvSpPr>
          <p:cNvPr id="25" name="dot-60"/>
          <p:cNvSpPr/>
          <p:nvPr/>
        </p:nvSpPr>
        <p:spPr>
          <a:xfrm>
            <a:off x="5065776" y="11612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num-61"/>
          <p:cNvSpPr txBox="1"/>
          <p:nvPr/>
        </p:nvSpPr>
        <p:spPr>
          <a:xfrm>
            <a:off x="5065776" y="1161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card-62"/>
          <p:cNvSpPr/>
          <p:nvPr/>
        </p:nvSpPr>
        <p:spPr>
          <a:xfrm>
            <a:off x="4654296" y="1828800"/>
            <a:ext cx="1307592" cy="1828800"/>
          </a:xfrm>
          <a:prstGeom prst="roundRect">
            <a:avLst>
              <a:gd name="adj" fmla="val 559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28" name="text-63"/>
          <p:cNvSpPr txBox="1"/>
          <p:nvPr/>
        </p:nvSpPr>
        <p:spPr>
          <a:xfrm>
            <a:off x="4764024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Cost Control</a:t>
            </a:r>
            <a:endParaRPr lang="en-US" sz="1100" dirty="0"/>
          </a:p>
        </p:txBody>
      </p:sp>
      <p:sp>
        <p:nvSpPr>
          <p:cNvPr id="29" name="text-64"/>
          <p:cNvSpPr txBox="1"/>
          <p:nvPr/>
        </p:nvSpPr>
        <p:spPr>
          <a:xfrm>
            <a:off x="4764024" y="22402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Confirms budget line and balance</a:t>
            </a:r>
            <a:endParaRPr lang="en-US" sz="950" dirty="0"/>
          </a:p>
        </p:txBody>
      </p:sp>
      <p:sp>
        <p:nvSpPr>
          <p:cNvPr id="30" name="text-65"/>
          <p:cNvSpPr txBox="1"/>
          <p:nvPr/>
        </p:nvSpPr>
        <p:spPr>
          <a:xfrm>
            <a:off x="4764024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Oracle</a:t>
            </a:r>
            <a:endParaRPr lang="en-US" sz="850" dirty="0"/>
          </a:p>
        </p:txBody>
      </p:sp>
      <p:sp>
        <p:nvSpPr>
          <p:cNvPr id="31" name="text-66"/>
          <p:cNvSpPr txBox="1"/>
          <p:nvPr/>
        </p:nvSpPr>
        <p:spPr>
          <a:xfrm>
            <a:off x="4764024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SLA 1 day</a:t>
            </a:r>
            <a:endParaRPr lang="en-US" sz="850" dirty="0"/>
          </a:p>
        </p:txBody>
      </p:sp>
      <p:sp>
        <p:nvSpPr>
          <p:cNvPr id="32" name="dot-67"/>
          <p:cNvSpPr/>
          <p:nvPr/>
        </p:nvSpPr>
        <p:spPr>
          <a:xfrm>
            <a:off x="6464808" y="116128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num-68"/>
          <p:cNvSpPr txBox="1"/>
          <p:nvPr/>
        </p:nvSpPr>
        <p:spPr>
          <a:xfrm>
            <a:off x="6464808" y="1161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card-69"/>
          <p:cNvSpPr/>
          <p:nvPr/>
        </p:nvSpPr>
        <p:spPr>
          <a:xfrm>
            <a:off x="6053328" y="1828800"/>
            <a:ext cx="1307592" cy="1828800"/>
          </a:xfrm>
          <a:prstGeom prst="roundRect">
            <a:avLst>
              <a:gd name="adj" fmla="val 559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35" name="text-70"/>
          <p:cNvSpPr txBox="1"/>
          <p:nvPr/>
        </p:nvSpPr>
        <p:spPr>
          <a:xfrm>
            <a:off x="6163056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Project Director</a:t>
            </a:r>
            <a:endParaRPr lang="en-US" sz="1100" dirty="0"/>
          </a:p>
        </p:txBody>
      </p:sp>
      <p:sp>
        <p:nvSpPr>
          <p:cNvPr id="36" name="text-71"/>
          <p:cNvSpPr txBox="1"/>
          <p:nvPr/>
        </p:nvSpPr>
        <p:spPr>
          <a:xfrm>
            <a:off x="6163056" y="22402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Final approval per authority matrix</a:t>
            </a:r>
            <a:endParaRPr lang="en-US" sz="950" dirty="0"/>
          </a:p>
        </p:txBody>
      </p:sp>
      <p:sp>
        <p:nvSpPr>
          <p:cNvPr id="37" name="text-72"/>
          <p:cNvSpPr txBox="1"/>
          <p:nvPr/>
        </p:nvSpPr>
        <p:spPr>
          <a:xfrm>
            <a:off x="6163056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Oracle</a:t>
            </a:r>
            <a:endParaRPr lang="en-US" sz="850" dirty="0"/>
          </a:p>
        </p:txBody>
      </p:sp>
      <p:sp>
        <p:nvSpPr>
          <p:cNvPr id="38" name="text-73"/>
          <p:cNvSpPr txBox="1"/>
          <p:nvPr/>
        </p:nvSpPr>
        <p:spPr>
          <a:xfrm>
            <a:off x="6163056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SLA 1 day</a:t>
            </a:r>
            <a:endParaRPr lang="en-US" sz="850" dirty="0"/>
          </a:p>
        </p:txBody>
      </p:sp>
      <p:sp>
        <p:nvSpPr>
          <p:cNvPr id="39" name="dot-74"/>
          <p:cNvSpPr/>
          <p:nvPr/>
        </p:nvSpPr>
        <p:spPr>
          <a:xfrm>
            <a:off x="7863840" y="11612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num-75"/>
          <p:cNvSpPr txBox="1"/>
          <p:nvPr/>
        </p:nvSpPr>
        <p:spPr>
          <a:xfrm>
            <a:off x="7863840" y="1161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41" name="card-76"/>
          <p:cNvSpPr/>
          <p:nvPr/>
        </p:nvSpPr>
        <p:spPr>
          <a:xfrm>
            <a:off x="7452360" y="1828800"/>
            <a:ext cx="1307592" cy="1828800"/>
          </a:xfrm>
          <a:prstGeom prst="roundRect">
            <a:avLst>
              <a:gd name="adj" fmla="val 559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42" name="text-77"/>
          <p:cNvSpPr txBox="1"/>
          <p:nvPr/>
        </p:nvSpPr>
        <p:spPr>
          <a:xfrm>
            <a:off x="7562088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Procurement</a:t>
            </a:r>
            <a:endParaRPr lang="en-US" sz="1100" dirty="0"/>
          </a:p>
        </p:txBody>
      </p:sp>
      <p:sp>
        <p:nvSpPr>
          <p:cNvPr id="43" name="text-78"/>
          <p:cNvSpPr txBox="1"/>
          <p:nvPr/>
        </p:nvSpPr>
        <p:spPr>
          <a:xfrm>
            <a:off x="7562088" y="22402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Issues PO and sends to supplier</a:t>
            </a:r>
            <a:endParaRPr lang="en-US" sz="950" dirty="0"/>
          </a:p>
        </p:txBody>
      </p:sp>
      <p:sp>
        <p:nvSpPr>
          <p:cNvPr id="44" name="text-79"/>
          <p:cNvSpPr txBox="1"/>
          <p:nvPr/>
        </p:nvSpPr>
        <p:spPr>
          <a:xfrm>
            <a:off x="7562088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Oracle + email</a:t>
            </a:r>
            <a:endParaRPr lang="en-US" sz="850" dirty="0"/>
          </a:p>
        </p:txBody>
      </p:sp>
      <p:sp>
        <p:nvSpPr>
          <p:cNvPr id="45" name="text-80"/>
          <p:cNvSpPr txBox="1"/>
          <p:nvPr/>
        </p:nvSpPr>
        <p:spPr>
          <a:xfrm>
            <a:off x="7562088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SLA 1 day</a:t>
            </a:r>
            <a:endParaRPr lang="en-US" sz="850" dirty="0"/>
          </a:p>
        </p:txBody>
      </p:sp>
      <p:sp>
        <p:nvSpPr>
          <p:cNvPr id="46" name="card-81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7" name="text-82"/>
          <p:cNvSpPr txBox="1"/>
          <p:nvPr/>
        </p:nvSpPr>
        <p:spPr>
          <a:xfrm>
            <a:off x="68580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Executive Office role: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track PRs waiting at Project Director level, chase anything older than 24 hours, and flag urgent site requests in the daily approval list.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2 – Subcontractor IPC certification</a:t>
            </a:r>
            <a:endParaRPr lang="en-US" sz="2400" dirty="0"/>
          </a:p>
        </p:txBody>
      </p:sp>
      <p:sp>
        <p:nvSpPr>
          <p:cNvPr id="3" name="shape-8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shape-84"/>
          <p:cNvSpPr/>
          <p:nvPr/>
        </p:nvSpPr>
        <p:spPr>
          <a:xfrm>
            <a:off x="457200" y="1005840"/>
            <a:ext cx="1234440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-85"/>
          <p:cNvSpPr txBox="1"/>
          <p:nvPr/>
        </p:nvSpPr>
        <p:spPr>
          <a:xfrm>
            <a:off x="548640" y="100584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Subcontractor &amp; site</a:t>
            </a:r>
            <a:endParaRPr lang="en-US" sz="1050" dirty="0"/>
          </a:p>
        </p:txBody>
      </p:sp>
      <p:sp>
        <p:nvSpPr>
          <p:cNvPr id="6" name="shape-86"/>
          <p:cNvSpPr/>
          <p:nvPr/>
        </p:nvSpPr>
        <p:spPr>
          <a:xfrm>
            <a:off x="457200" y="2221992"/>
            <a:ext cx="8229600" cy="1097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shape-87"/>
          <p:cNvSpPr/>
          <p:nvPr/>
        </p:nvSpPr>
        <p:spPr>
          <a:xfrm>
            <a:off x="457200" y="2221992"/>
            <a:ext cx="1234440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-88"/>
          <p:cNvSpPr txBox="1"/>
          <p:nvPr/>
        </p:nvSpPr>
        <p:spPr>
          <a:xfrm>
            <a:off x="548640" y="2221992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Commercial</a:t>
            </a:r>
            <a:endParaRPr lang="en-US" sz="1050" dirty="0"/>
          </a:p>
        </p:txBody>
      </p:sp>
      <p:sp>
        <p:nvSpPr>
          <p:cNvPr id="9" name="shape-89"/>
          <p:cNvSpPr/>
          <p:nvPr/>
        </p:nvSpPr>
        <p:spPr>
          <a:xfrm>
            <a:off x="457200" y="3438144"/>
            <a:ext cx="8229600" cy="1097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hape-90"/>
          <p:cNvSpPr/>
          <p:nvPr/>
        </p:nvSpPr>
        <p:spPr>
          <a:xfrm>
            <a:off x="457200" y="3438144"/>
            <a:ext cx="1234440" cy="10972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-91"/>
          <p:cNvSpPr txBox="1"/>
          <p:nvPr/>
        </p:nvSpPr>
        <p:spPr>
          <a:xfrm>
            <a:off x="548640" y="3438144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Executive &amp; finance</a:t>
            </a:r>
            <a:endParaRPr lang="en-US" sz="1050" dirty="0"/>
          </a:p>
        </p:txBody>
      </p:sp>
      <p:sp>
        <p:nvSpPr>
          <p:cNvPr id="12" name="ipc-step-0"/>
          <p:cNvSpPr/>
          <p:nvPr/>
        </p:nvSpPr>
        <p:spPr>
          <a:xfrm>
            <a:off x="1874520" y="1188720"/>
            <a:ext cx="102412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92"/>
          <p:cNvSpPr txBox="1"/>
          <p:nvPr/>
        </p:nvSpPr>
        <p:spPr>
          <a:xfrm>
            <a:off x="1938528" y="11887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  </a:t>
            </a:r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Application submitted in Aconex</a:t>
            </a:r>
            <a:endParaRPr lang="en-US" sz="900" dirty="0"/>
          </a:p>
        </p:txBody>
      </p:sp>
      <p:pic>
        <p:nvPicPr>
          <p:cNvPr id="14" name="ipc-arr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8648" y="1481328"/>
            <a:ext cx="109728" cy="146304"/>
          </a:xfrm>
          <a:prstGeom prst="rect">
            <a:avLst/>
          </a:prstGeom>
        </p:spPr>
      </p:pic>
      <p:sp>
        <p:nvSpPr>
          <p:cNvPr id="15" name="ipc-step-1"/>
          <p:cNvSpPr/>
          <p:nvPr/>
        </p:nvSpPr>
        <p:spPr>
          <a:xfrm>
            <a:off x="3008376" y="1188720"/>
            <a:ext cx="102412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93"/>
          <p:cNvSpPr txBox="1"/>
          <p:nvPr/>
        </p:nvSpPr>
        <p:spPr>
          <a:xfrm>
            <a:off x="3072384" y="11887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  </a:t>
            </a:r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Site measurement verified by CM</a:t>
            </a:r>
            <a:endParaRPr lang="en-US" sz="900" dirty="0"/>
          </a:p>
        </p:txBody>
      </p:sp>
      <p:sp>
        <p:nvSpPr>
          <p:cNvPr id="17" name="line-94"/>
          <p:cNvSpPr/>
          <p:nvPr/>
        </p:nvSpPr>
        <p:spPr>
          <a:xfrm>
            <a:off x="4087368" y="1920240"/>
            <a:ext cx="0" cy="667512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8" name="ipc-step-2"/>
          <p:cNvSpPr/>
          <p:nvPr/>
        </p:nvSpPr>
        <p:spPr>
          <a:xfrm>
            <a:off x="4142232" y="2404872"/>
            <a:ext cx="102412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-95"/>
          <p:cNvSpPr txBox="1"/>
          <p:nvPr/>
        </p:nvSpPr>
        <p:spPr>
          <a:xfrm>
            <a:off x="4206240" y="2404872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  </a:t>
            </a:r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QS valuation &amp; deductions</a:t>
            </a:r>
            <a:endParaRPr lang="en-US" sz="900" dirty="0"/>
          </a:p>
        </p:txBody>
      </p:sp>
      <p:pic>
        <p:nvPicPr>
          <p:cNvPr id="20" name="ipc-arr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697480"/>
            <a:ext cx="109728" cy="146304"/>
          </a:xfrm>
          <a:prstGeom prst="rect">
            <a:avLst/>
          </a:prstGeom>
        </p:spPr>
      </p:pic>
      <p:sp>
        <p:nvSpPr>
          <p:cNvPr id="21" name="ipc-step-3"/>
          <p:cNvSpPr/>
          <p:nvPr/>
        </p:nvSpPr>
        <p:spPr>
          <a:xfrm>
            <a:off x="5276088" y="2404872"/>
            <a:ext cx="102412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-96"/>
          <p:cNvSpPr txBox="1"/>
          <p:nvPr/>
        </p:nvSpPr>
        <p:spPr>
          <a:xfrm>
            <a:off x="5340096" y="2404872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4  </a:t>
            </a:r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Commercial Manager review</a:t>
            </a:r>
            <a:endParaRPr lang="en-US" sz="900" dirty="0"/>
          </a:p>
        </p:txBody>
      </p:sp>
      <p:sp>
        <p:nvSpPr>
          <p:cNvPr id="23" name="line-97"/>
          <p:cNvSpPr/>
          <p:nvPr/>
        </p:nvSpPr>
        <p:spPr>
          <a:xfrm>
            <a:off x="6355080" y="3136392"/>
            <a:ext cx="0" cy="667512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24" name="ipc-step-4"/>
          <p:cNvSpPr/>
          <p:nvPr/>
        </p:nvSpPr>
        <p:spPr>
          <a:xfrm>
            <a:off x="6409944" y="3621024"/>
            <a:ext cx="1024128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-98"/>
          <p:cNvSpPr txBox="1"/>
          <p:nvPr/>
        </p:nvSpPr>
        <p:spPr>
          <a:xfrm>
            <a:off x="6473952" y="3621024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5  </a:t>
            </a:r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PD signs IPC in DocuSign</a:t>
            </a:r>
            <a:endParaRPr lang="en-US" sz="900" dirty="0"/>
          </a:p>
        </p:txBody>
      </p:sp>
      <p:pic>
        <p:nvPicPr>
          <p:cNvPr id="26" name="ipc-arr-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3913632"/>
            <a:ext cx="109728" cy="146304"/>
          </a:xfrm>
          <a:prstGeom prst="rect">
            <a:avLst/>
          </a:prstGeom>
        </p:spPr>
      </p:pic>
      <p:sp>
        <p:nvSpPr>
          <p:cNvPr id="27" name="ipc-step-5"/>
          <p:cNvSpPr/>
          <p:nvPr/>
        </p:nvSpPr>
        <p:spPr>
          <a:xfrm>
            <a:off x="7543800" y="3621024"/>
            <a:ext cx="102412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-99"/>
          <p:cNvSpPr txBox="1"/>
          <p:nvPr/>
        </p:nvSpPr>
        <p:spPr>
          <a:xfrm>
            <a:off x="7607808" y="3621024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6  </a:t>
            </a:r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Finance books in Oracle &amp; pays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3 – Contracts &amp; subcontract agreements</a:t>
            </a:r>
            <a:endParaRPr lang="en-US" sz="2400" dirty="0"/>
          </a:p>
        </p:txBody>
      </p:sp>
      <p:sp>
        <p:nvSpPr>
          <p:cNvPr id="3" name="line-100"/>
          <p:cNvSpPr/>
          <p:nvPr/>
        </p:nvSpPr>
        <p:spPr>
          <a:xfrm>
            <a:off x="713232" y="1234440"/>
            <a:ext cx="0" cy="310896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" name="dot-101"/>
          <p:cNvSpPr/>
          <p:nvPr/>
        </p:nvSpPr>
        <p:spPr>
          <a:xfrm>
            <a:off x="457200" y="100584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-102"/>
          <p:cNvSpPr txBox="1"/>
          <p:nvPr/>
        </p:nvSpPr>
        <p:spPr>
          <a:xfrm>
            <a:off x="457200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-103"/>
          <p:cNvSpPr txBox="1"/>
          <p:nvPr/>
        </p:nvSpPr>
        <p:spPr>
          <a:xfrm>
            <a:off x="1143000" y="987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Draft agreed</a:t>
            </a:r>
            <a:endParaRPr lang="en-US" sz="1200" dirty="0"/>
          </a:p>
        </p:txBody>
      </p:sp>
      <p:sp>
        <p:nvSpPr>
          <p:cNvPr id="7" name="text-104"/>
          <p:cNvSpPr txBox="1"/>
          <p:nvPr/>
        </p:nvSpPr>
        <p:spPr>
          <a:xfrm>
            <a:off x="1143000" y="1252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Commercial team finalises terms with the subcontractor</a:t>
            </a:r>
            <a:endParaRPr lang="en-US" sz="1000" dirty="0"/>
          </a:p>
        </p:txBody>
      </p:sp>
      <p:sp>
        <p:nvSpPr>
          <p:cNvPr id="8" name="dot-105"/>
          <p:cNvSpPr/>
          <p:nvPr/>
        </p:nvSpPr>
        <p:spPr>
          <a:xfrm>
            <a:off x="457200" y="173736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um-106"/>
          <p:cNvSpPr txBox="1"/>
          <p:nvPr/>
        </p:nvSpPr>
        <p:spPr>
          <a:xfrm>
            <a:off x="457200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-107"/>
          <p:cNvSpPr txBox="1"/>
          <p:nvPr/>
        </p:nvSpPr>
        <p:spPr>
          <a:xfrm>
            <a:off x="1143000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Legal review</a:t>
            </a:r>
            <a:endParaRPr lang="en-US" sz="1200" dirty="0"/>
          </a:p>
        </p:txBody>
      </p:sp>
      <p:sp>
        <p:nvSpPr>
          <p:cNvPr id="11" name="text-108"/>
          <p:cNvSpPr txBox="1"/>
          <p:nvPr/>
        </p:nvSpPr>
        <p:spPr>
          <a:xfrm>
            <a:off x="1143000" y="1984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Contracts &amp; Legal confirm clauses and securities</a:t>
            </a:r>
            <a:endParaRPr lang="en-US" sz="1000" dirty="0"/>
          </a:p>
        </p:txBody>
      </p:sp>
      <p:sp>
        <p:nvSpPr>
          <p:cNvPr id="12" name="dot-109"/>
          <p:cNvSpPr/>
          <p:nvPr/>
        </p:nvSpPr>
        <p:spPr>
          <a:xfrm>
            <a:off x="457200" y="246888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-110"/>
          <p:cNvSpPr txBox="1"/>
          <p:nvPr/>
        </p:nvSpPr>
        <p:spPr>
          <a:xfrm>
            <a:off x="457200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-111"/>
          <p:cNvSpPr txBox="1"/>
          <p:nvPr/>
        </p:nvSpPr>
        <p:spPr>
          <a:xfrm>
            <a:off x="1143000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Envelope prepared</a:t>
            </a:r>
            <a:endParaRPr lang="en-US" sz="1200" dirty="0"/>
          </a:p>
        </p:txBody>
      </p:sp>
      <p:sp>
        <p:nvSpPr>
          <p:cNvPr id="15" name="text-112"/>
          <p:cNvSpPr txBox="1"/>
          <p:nvPr/>
        </p:nvSpPr>
        <p:spPr>
          <a:xfrm>
            <a:off x="1143000" y="2715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Executive Office builds DocuSign envelope and signing order</a:t>
            </a:r>
            <a:endParaRPr lang="en-US" sz="1000" dirty="0"/>
          </a:p>
        </p:txBody>
      </p:sp>
      <p:sp>
        <p:nvSpPr>
          <p:cNvPr id="16" name="dot-113"/>
          <p:cNvSpPr/>
          <p:nvPr/>
        </p:nvSpPr>
        <p:spPr>
          <a:xfrm>
            <a:off x="457200" y="3200400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num-114"/>
          <p:cNvSpPr txBox="1"/>
          <p:nvPr/>
        </p:nvSpPr>
        <p:spPr>
          <a:xfrm>
            <a:off x="457200" y="3200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-115"/>
          <p:cNvSpPr txBox="1"/>
          <p:nvPr/>
        </p:nvSpPr>
        <p:spPr>
          <a:xfrm>
            <a:off x="1143000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Signatures</a:t>
            </a:r>
            <a:endParaRPr lang="en-US" sz="1200" dirty="0"/>
          </a:p>
        </p:txBody>
      </p:sp>
      <p:sp>
        <p:nvSpPr>
          <p:cNvPr id="19" name="text-116"/>
          <p:cNvSpPr txBox="1"/>
          <p:nvPr/>
        </p:nvSpPr>
        <p:spPr>
          <a:xfrm>
            <a:off x="1143000" y="3447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Subcontractor signs first, then Project Director</a:t>
            </a:r>
            <a:endParaRPr lang="en-US" sz="1000" dirty="0"/>
          </a:p>
        </p:txBody>
      </p:sp>
      <p:sp>
        <p:nvSpPr>
          <p:cNvPr id="20" name="dot-117"/>
          <p:cNvSpPr/>
          <p:nvPr/>
        </p:nvSpPr>
        <p:spPr>
          <a:xfrm>
            <a:off x="457200" y="393192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-118"/>
          <p:cNvSpPr txBox="1"/>
          <p:nvPr/>
        </p:nvSpPr>
        <p:spPr>
          <a:xfrm>
            <a:off x="457200" y="3931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-119"/>
          <p:cNvSpPr txBox="1"/>
          <p:nvPr/>
        </p:nvSpPr>
        <p:spPr>
          <a:xfrm>
            <a:off x="1143000" y="3913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Filed &amp; issued</a:t>
            </a:r>
            <a:endParaRPr lang="en-US" sz="1200" dirty="0"/>
          </a:p>
        </p:txBody>
      </p:sp>
      <p:sp>
        <p:nvSpPr>
          <p:cNvPr id="23" name="text-120"/>
          <p:cNvSpPr txBox="1"/>
          <p:nvPr/>
        </p:nvSpPr>
        <p:spPr>
          <a:xfrm>
            <a:off x="1143000" y="4178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Signed PDF uploaded to Aconex and Oracle contract record</a:t>
            </a:r>
            <a:endParaRPr lang="en-US" sz="1000" dirty="0"/>
          </a:p>
        </p:txBody>
      </p:sp>
      <p:sp>
        <p:nvSpPr>
          <p:cNvPr id="24" name="card-121"/>
          <p:cNvSpPr/>
          <p:nvPr/>
        </p:nvSpPr>
        <p:spPr>
          <a:xfrm>
            <a:off x="4937760" y="1005840"/>
            <a:ext cx="3749040" cy="3611880"/>
          </a:xfrm>
          <a:prstGeom prst="roundRect">
            <a:avLst>
              <a:gd name="adj" fmla="val 202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25" name="dot-122"/>
          <p:cNvSpPr/>
          <p:nvPr/>
        </p:nvSpPr>
        <p:spPr>
          <a:xfrm>
            <a:off x="5166360" y="1188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-12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7002" y="1299362"/>
            <a:ext cx="281635" cy="281635"/>
          </a:xfrm>
          <a:prstGeom prst="rect">
            <a:avLst/>
          </a:prstGeom>
        </p:spPr>
      </p:pic>
      <p:sp>
        <p:nvSpPr>
          <p:cNvPr id="27" name="text-124"/>
          <p:cNvSpPr txBox="1"/>
          <p:nvPr/>
        </p:nvSpPr>
        <p:spPr>
          <a:xfrm>
            <a:off x="580644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Checklist before sending to DocuSign</a:t>
            </a:r>
            <a:endParaRPr lang="en-US" sz="1250" dirty="0"/>
          </a:p>
        </p:txBody>
      </p:sp>
      <p:sp>
        <p:nvSpPr>
          <p:cNvPr id="28" name="box-0"/>
          <p:cNvSpPr/>
          <p:nvPr/>
        </p:nvSpPr>
        <p:spPr>
          <a:xfrm>
            <a:off x="5212080" y="1920240"/>
            <a:ext cx="164592" cy="164592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-125"/>
          <p:cNvSpPr txBox="1"/>
          <p:nvPr/>
        </p:nvSpPr>
        <p:spPr>
          <a:xfrm>
            <a:off x="5504688" y="186537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Final version matches the approved draft</a:t>
            </a:r>
            <a:endParaRPr lang="en-US" sz="1050" dirty="0"/>
          </a:p>
        </p:txBody>
      </p:sp>
      <p:sp>
        <p:nvSpPr>
          <p:cNvPr id="30" name="box-1"/>
          <p:cNvSpPr/>
          <p:nvPr/>
        </p:nvSpPr>
        <p:spPr>
          <a:xfrm>
            <a:off x="5212080" y="2350008"/>
            <a:ext cx="164592" cy="164592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text-126"/>
          <p:cNvSpPr txBox="1"/>
          <p:nvPr/>
        </p:nvSpPr>
        <p:spPr>
          <a:xfrm>
            <a:off x="5504688" y="22951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Signatory names and emails verified</a:t>
            </a:r>
            <a:endParaRPr lang="en-US" sz="1050" dirty="0"/>
          </a:p>
        </p:txBody>
      </p:sp>
      <p:sp>
        <p:nvSpPr>
          <p:cNvPr id="32" name="box-2"/>
          <p:cNvSpPr/>
          <p:nvPr/>
        </p:nvSpPr>
        <p:spPr>
          <a:xfrm>
            <a:off x="5212080" y="2779776"/>
            <a:ext cx="164592" cy="164592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3" name="text-127"/>
          <p:cNvSpPr txBox="1"/>
          <p:nvPr/>
        </p:nvSpPr>
        <p:spPr>
          <a:xfrm>
            <a:off x="5504688" y="2724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Signing order: counterparty first</a:t>
            </a:r>
            <a:endParaRPr lang="en-US" sz="1050" dirty="0"/>
          </a:p>
        </p:txBody>
      </p:sp>
      <p:sp>
        <p:nvSpPr>
          <p:cNvPr id="34" name="box-3"/>
          <p:cNvSpPr/>
          <p:nvPr/>
        </p:nvSpPr>
        <p:spPr>
          <a:xfrm>
            <a:off x="5212080" y="3209544"/>
            <a:ext cx="164592" cy="164592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5" name="text-128"/>
          <p:cNvSpPr txBox="1"/>
          <p:nvPr/>
        </p:nvSpPr>
        <p:spPr>
          <a:xfrm>
            <a:off x="5504688" y="3154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Annexures attached in correct order</a:t>
            </a:r>
            <a:endParaRPr lang="en-US" sz="1050" dirty="0"/>
          </a:p>
        </p:txBody>
      </p:sp>
      <p:sp>
        <p:nvSpPr>
          <p:cNvPr id="36" name="box-4"/>
          <p:cNvSpPr/>
          <p:nvPr/>
        </p:nvSpPr>
        <p:spPr>
          <a:xfrm>
            <a:off x="5212080" y="3639312"/>
            <a:ext cx="164592" cy="164592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7" name="text-129"/>
          <p:cNvSpPr txBox="1"/>
          <p:nvPr/>
        </p:nvSpPr>
        <p:spPr>
          <a:xfrm>
            <a:off x="5504688" y="3584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Contract number taken from register</a:t>
            </a:r>
            <a:endParaRPr lang="en-US" sz="1050" dirty="0"/>
          </a:p>
        </p:txBody>
      </p:sp>
      <p:sp>
        <p:nvSpPr>
          <p:cNvPr id="38" name="box-5"/>
          <p:cNvSpPr/>
          <p:nvPr/>
        </p:nvSpPr>
        <p:spPr>
          <a:xfrm>
            <a:off x="5212080" y="4069080"/>
            <a:ext cx="164592" cy="164592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9" name="text-130"/>
          <p:cNvSpPr txBox="1"/>
          <p:nvPr/>
        </p:nvSpPr>
        <p:spPr>
          <a:xfrm>
            <a:off x="5504688" y="40142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Reminder set every 2 days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4 – Outgoing letters to the client</a:t>
            </a:r>
            <a:endParaRPr lang="en-US" sz="2400" dirty="0"/>
          </a:p>
        </p:txBody>
      </p:sp>
      <p:sp>
        <p:nvSpPr>
          <p:cNvPr id="3" name="card-131"/>
          <p:cNvSpPr/>
          <p:nvPr/>
        </p:nvSpPr>
        <p:spPr>
          <a:xfrm>
            <a:off x="457200" y="1005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4" name="text-132"/>
          <p:cNvSpPr txBox="1"/>
          <p:nvPr/>
        </p:nvSpPr>
        <p:spPr>
          <a:xfrm>
            <a:off x="658368" y="11704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-133"/>
          <p:cNvSpPr txBox="1"/>
          <p:nvPr/>
        </p:nvSpPr>
        <p:spPr>
          <a:xfrm>
            <a:off x="658368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Draft</a:t>
            </a:r>
            <a:endParaRPr lang="en-US" sz="1250" dirty="0"/>
          </a:p>
        </p:txBody>
      </p:sp>
      <p:sp>
        <p:nvSpPr>
          <p:cNvPr id="6" name="text-134"/>
          <p:cNvSpPr txBox="1"/>
          <p:nvPr/>
        </p:nvSpPr>
        <p:spPr>
          <a:xfrm>
            <a:off x="65836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Originator drafts on the approved letter template</a:t>
            </a:r>
            <a:endParaRPr lang="en-US" sz="1000" dirty="0"/>
          </a:p>
        </p:txBody>
      </p:sp>
      <p:sp>
        <p:nvSpPr>
          <p:cNvPr id="7" name="card-135"/>
          <p:cNvSpPr/>
          <p:nvPr/>
        </p:nvSpPr>
        <p:spPr>
          <a:xfrm>
            <a:off x="3246120" y="1005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8" name="text-136"/>
          <p:cNvSpPr txBox="1"/>
          <p:nvPr/>
        </p:nvSpPr>
        <p:spPr>
          <a:xfrm>
            <a:off x="3447288" y="11704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-137"/>
          <p:cNvSpPr txBox="1"/>
          <p:nvPr/>
        </p:nvSpPr>
        <p:spPr>
          <a:xfrm>
            <a:off x="3447288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Technical check</a:t>
            </a:r>
            <a:endParaRPr lang="en-US" sz="1250" dirty="0"/>
          </a:p>
        </p:txBody>
      </p:sp>
      <p:sp>
        <p:nvSpPr>
          <p:cNvPr id="10" name="text-138"/>
          <p:cNvSpPr txBox="1"/>
          <p:nvPr/>
        </p:nvSpPr>
        <p:spPr>
          <a:xfrm>
            <a:off x="344728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Discipline lead confirms facts and references</a:t>
            </a:r>
            <a:endParaRPr lang="en-US" sz="1000" dirty="0"/>
          </a:p>
        </p:txBody>
      </p:sp>
      <p:sp>
        <p:nvSpPr>
          <p:cNvPr id="11" name="card-139"/>
          <p:cNvSpPr/>
          <p:nvPr/>
        </p:nvSpPr>
        <p:spPr>
          <a:xfrm>
            <a:off x="6035040" y="1005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12" name="text-140"/>
          <p:cNvSpPr txBox="1"/>
          <p:nvPr/>
        </p:nvSpPr>
        <p:spPr>
          <a:xfrm>
            <a:off x="6236208" y="11704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-141"/>
          <p:cNvSpPr txBox="1"/>
          <p:nvPr/>
        </p:nvSpPr>
        <p:spPr>
          <a:xfrm>
            <a:off x="6236208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Reference number</a:t>
            </a:r>
            <a:endParaRPr lang="en-US" sz="1250" dirty="0"/>
          </a:p>
        </p:txBody>
      </p:sp>
      <p:sp>
        <p:nvSpPr>
          <p:cNvPr id="14" name="text-142"/>
          <p:cNvSpPr txBox="1"/>
          <p:nvPr/>
        </p:nvSpPr>
        <p:spPr>
          <a:xfrm>
            <a:off x="623620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Document Control issues the next letter number</a:t>
            </a:r>
            <a:endParaRPr lang="en-US" sz="1000" dirty="0"/>
          </a:p>
        </p:txBody>
      </p:sp>
      <p:sp>
        <p:nvSpPr>
          <p:cNvPr id="15" name="card-143"/>
          <p:cNvSpPr/>
          <p:nvPr/>
        </p:nvSpPr>
        <p:spPr>
          <a:xfrm>
            <a:off x="457200" y="2788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16" name="text-144"/>
          <p:cNvSpPr txBox="1"/>
          <p:nvPr/>
        </p:nvSpPr>
        <p:spPr>
          <a:xfrm>
            <a:off x="658368" y="29535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-145"/>
          <p:cNvSpPr txBox="1"/>
          <p:nvPr/>
        </p:nvSpPr>
        <p:spPr>
          <a:xfrm>
            <a:off x="658368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Signature</a:t>
            </a:r>
            <a:endParaRPr lang="en-US" sz="1250" dirty="0"/>
          </a:p>
        </p:txBody>
      </p:sp>
      <p:sp>
        <p:nvSpPr>
          <p:cNvPr id="18" name="text-146"/>
          <p:cNvSpPr txBox="1"/>
          <p:nvPr/>
        </p:nvSpPr>
        <p:spPr>
          <a:xfrm>
            <a:off x="65836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Project Director signs via DocuSign</a:t>
            </a:r>
            <a:endParaRPr lang="en-US" sz="1000" dirty="0"/>
          </a:p>
        </p:txBody>
      </p:sp>
      <p:sp>
        <p:nvSpPr>
          <p:cNvPr id="19" name="card-147"/>
          <p:cNvSpPr/>
          <p:nvPr/>
        </p:nvSpPr>
        <p:spPr>
          <a:xfrm>
            <a:off x="3246120" y="2788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20" name="text-148"/>
          <p:cNvSpPr txBox="1"/>
          <p:nvPr/>
        </p:nvSpPr>
        <p:spPr>
          <a:xfrm>
            <a:off x="3447288" y="29535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-149"/>
          <p:cNvSpPr txBox="1"/>
          <p:nvPr/>
        </p:nvSpPr>
        <p:spPr>
          <a:xfrm>
            <a:off x="3447288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Transmit</a:t>
            </a:r>
            <a:endParaRPr lang="en-US" sz="1250" dirty="0"/>
          </a:p>
        </p:txBody>
      </p:sp>
      <p:sp>
        <p:nvSpPr>
          <p:cNvPr id="22" name="text-150"/>
          <p:cNvSpPr txBox="1"/>
          <p:nvPr/>
        </p:nvSpPr>
        <p:spPr>
          <a:xfrm>
            <a:off x="344728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Uploaded to Aconex as a formal transmittal</a:t>
            </a:r>
            <a:endParaRPr lang="en-US" sz="1000" dirty="0"/>
          </a:p>
        </p:txBody>
      </p:sp>
      <p:sp>
        <p:nvSpPr>
          <p:cNvPr id="23" name="card-151"/>
          <p:cNvSpPr/>
          <p:nvPr/>
        </p:nvSpPr>
        <p:spPr>
          <a:xfrm>
            <a:off x="6035040" y="2788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24" name="text-152"/>
          <p:cNvSpPr txBox="1"/>
          <p:nvPr/>
        </p:nvSpPr>
        <p:spPr>
          <a:xfrm>
            <a:off x="6236208" y="29535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5" name="text-153"/>
          <p:cNvSpPr txBox="1"/>
          <p:nvPr/>
        </p:nvSpPr>
        <p:spPr>
          <a:xfrm>
            <a:off x="6236208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Track reply</a:t>
            </a:r>
            <a:endParaRPr lang="en-US" sz="1250" dirty="0"/>
          </a:p>
        </p:txBody>
      </p:sp>
      <p:sp>
        <p:nvSpPr>
          <p:cNvPr id="26" name="text-154"/>
          <p:cNvSpPr txBox="1"/>
          <p:nvPr/>
        </p:nvSpPr>
        <p:spPr>
          <a:xfrm>
            <a:off x="623620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Response due date logged and chased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authority matrix</a:t>
            </a:r>
            <a:endParaRPr lang="en-US" sz="2400" dirty="0"/>
          </a:p>
        </p:txBody>
      </p:sp>
      <p:graphicFrame>
        <p:nvGraphicFramePr>
          <p:cNvPr id="8" name="table-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600200"/>
                <a:gridCol w="1600200"/>
                <a:gridCol w="1600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Document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Band A  ·  up to SAR 100K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Band B  ·  up to SAR 1M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Band C  ·  above SAR 1M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Final signatory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Purchase order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Dept Manager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Procurement Mgr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Project Director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Project Director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Subcontractor IPC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Construction Mgr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Commercial Mgr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Project Director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Project Director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Subcontract agreement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Commercial Mgr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Legal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Project Director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PD + JV Board rep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Client letter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Discipline Lead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Project Manager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Project Director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Project Director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Variation claim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QS Lead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Commercial Mgr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Project Director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PD + JV Board rep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Staff travel / expense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Line Manager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HR Manager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Project Director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Finance Manager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4" name="text-156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tx2"/>
                </a:solidFill>
              </a:rPr>
              <a:t>Demo thresholds for illustration only. Each level must approve before the next one sees the item.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Turnaround: target vs actual</a:t>
            </a:r>
            <a:endParaRPr lang="en-US" sz="2400" dirty="0"/>
          </a:p>
        </p:txBody>
      </p:sp>
      <p:sp>
        <p:nvSpPr>
          <p:cNvPr id="3" name="card-157"/>
          <p:cNvSpPr/>
          <p:nvPr/>
        </p:nvSpPr>
        <p:spPr>
          <a:xfrm>
            <a:off x="457200" y="1005840"/>
            <a:ext cx="539496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graphicFrame>
        <p:nvGraphicFramePr>
          <p:cNvPr id="4" name="chart-turnaround" descr=""/>
          <p:cNvGraphicFramePr/>
          <p:nvPr/>
        </p:nvGraphicFramePr>
        <p:xfrm>
          <a:off x="594360" y="1097280"/>
          <a:ext cx="5120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58"/>
          <p:cNvSpPr/>
          <p:nvPr/>
        </p:nvSpPr>
        <p:spPr>
          <a:xfrm>
            <a:off x="6035040" y="100584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6" name="text-159"/>
          <p:cNvSpPr txBox="1"/>
          <p:nvPr/>
        </p:nvSpPr>
        <p:spPr>
          <a:xfrm>
            <a:off x="6217920" y="1115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4</a:t>
            </a:r>
            <a:endParaRPr lang="en-US" sz="2600" dirty="0"/>
          </a:p>
        </p:txBody>
      </p:sp>
      <p:sp>
        <p:nvSpPr>
          <p:cNvPr id="7" name="text-160"/>
          <p:cNvSpPr txBox="1"/>
          <p:nvPr/>
        </p:nvSpPr>
        <p:spPr>
          <a:xfrm>
            <a:off x="621792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workflows ahead of target</a:t>
            </a:r>
            <a:endParaRPr lang="en-US" sz="1000" dirty="0"/>
          </a:p>
        </p:txBody>
      </p:sp>
      <p:sp>
        <p:nvSpPr>
          <p:cNvPr id="8" name="card-161"/>
          <p:cNvSpPr/>
          <p:nvPr/>
        </p:nvSpPr>
        <p:spPr>
          <a:xfrm>
            <a:off x="6035040" y="224028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9" name="text-162"/>
          <p:cNvSpPr txBox="1"/>
          <p:nvPr/>
        </p:nvSpPr>
        <p:spPr>
          <a:xfrm>
            <a:off x="6217920" y="23500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+1.5 days</a:t>
            </a:r>
            <a:endParaRPr lang="en-US" sz="2600" dirty="0"/>
          </a:p>
        </p:txBody>
      </p:sp>
      <p:sp>
        <p:nvSpPr>
          <p:cNvPr id="10" name="text-163"/>
          <p:cNvSpPr txBox="1"/>
          <p:nvPr/>
        </p:nvSpPr>
        <p:spPr>
          <a:xfrm>
            <a:off x="621792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IPC over target – QS backlog</a:t>
            </a:r>
            <a:endParaRPr lang="en-US" sz="1000" dirty="0"/>
          </a:p>
        </p:txBody>
      </p:sp>
      <p:sp>
        <p:nvSpPr>
          <p:cNvPr id="11" name="card-164"/>
          <p:cNvSpPr/>
          <p:nvPr/>
        </p:nvSpPr>
        <p:spPr>
          <a:xfrm>
            <a:off x="6035040" y="347472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sp>
        <p:nvSpPr>
          <p:cNvPr id="12" name="text-165"/>
          <p:cNvSpPr txBox="1"/>
          <p:nvPr/>
        </p:nvSpPr>
        <p:spPr>
          <a:xfrm>
            <a:off x="6217920" y="3584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600" dirty="0"/>
          </a:p>
        </p:txBody>
      </p:sp>
      <p:sp>
        <p:nvSpPr>
          <p:cNvPr id="13" name="text-166"/>
          <p:cNvSpPr txBox="1"/>
          <p:nvPr/>
        </p:nvSpPr>
        <p:spPr>
          <a:xfrm>
            <a:off x="621792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letters sent with a tracked reply date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approval volume</a:t>
            </a:r>
            <a:endParaRPr lang="en-US" sz="2400" dirty="0"/>
          </a:p>
        </p:txBody>
      </p:sp>
      <p:sp>
        <p:nvSpPr>
          <p:cNvPr id="3" name="card-167"/>
          <p:cNvSpPr/>
          <p:nvPr/>
        </p:nvSpPr>
        <p:spPr>
          <a:xfrm>
            <a:off x="457200" y="1005840"/>
            <a:ext cx="82296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graphicFrame>
        <p:nvGraphicFramePr>
          <p:cNvPr id="4" name="chart-volume" descr=""/>
          <p:cNvGraphicFramePr/>
          <p:nvPr/>
        </p:nvGraphicFramePr>
        <p:xfrm>
          <a:off x="594360" y="1097280"/>
          <a:ext cx="7955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delays and how the office fixes them</a:t>
            </a:r>
            <a:endParaRPr lang="en-US" sz="2400" dirty="0"/>
          </a:p>
        </p:txBody>
      </p:sp>
      <p:sp>
        <p:nvSpPr>
          <p:cNvPr id="3" name="text-168"/>
          <p:cNvSpPr txBox="1"/>
          <p:nvPr/>
        </p:nvSpPr>
        <p:spPr>
          <a:xfrm>
            <a:off x="105156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DELAY</a:t>
            </a:r>
            <a:endParaRPr lang="en-US" sz="900" dirty="0"/>
          </a:p>
        </p:txBody>
      </p:sp>
      <p:sp>
        <p:nvSpPr>
          <p:cNvPr id="4" name="text-169"/>
          <p:cNvSpPr txBox="1"/>
          <p:nvPr/>
        </p:nvSpPr>
        <p:spPr>
          <a:xfrm>
            <a:off x="516636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FIX</a:t>
            </a:r>
            <a:endParaRPr lang="en-US" sz="900" dirty="0"/>
          </a:p>
        </p:txBody>
      </p:sp>
      <p:sp>
        <p:nvSpPr>
          <p:cNvPr id="5" name="card-170"/>
          <p:cNvSpPr/>
          <p:nvPr/>
        </p:nvSpPr>
        <p:spPr>
          <a:xfrm>
            <a:off x="457200" y="1261872"/>
            <a:ext cx="38404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pic>
        <p:nvPicPr>
          <p:cNvPr id="6" name="war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274320" cy="274320"/>
          </a:xfrm>
          <a:prstGeom prst="rect">
            <a:avLst/>
          </a:prstGeom>
        </p:spPr>
      </p:pic>
      <p:sp>
        <p:nvSpPr>
          <p:cNvPr id="7" name="text-171"/>
          <p:cNvSpPr txBox="1"/>
          <p:nvPr/>
        </p:nvSpPr>
        <p:spPr>
          <a:xfrm>
            <a:off x="1051560" y="126187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Approver travelling or on leave</a:t>
            </a:r>
            <a:endParaRPr lang="en-US" sz="1100" dirty="0"/>
          </a:p>
        </p:txBody>
      </p:sp>
      <p:pic>
        <p:nvPicPr>
          <p:cNvPr id="8" name="df-arr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99616"/>
            <a:ext cx="256032" cy="237744"/>
          </a:xfrm>
          <a:prstGeom prst="rect">
            <a:avLst/>
          </a:prstGeom>
        </p:spPr>
      </p:pic>
      <p:sp>
        <p:nvSpPr>
          <p:cNvPr id="9" name="card-172"/>
          <p:cNvSpPr/>
          <p:nvPr/>
        </p:nvSpPr>
        <p:spPr>
          <a:xfrm>
            <a:off x="4846320" y="1261872"/>
            <a:ext cx="3840480" cy="713232"/>
          </a:xfrm>
          <a:prstGeom prst="roundRect">
            <a:avLst>
              <a:gd name="adj" fmla="val 1025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df-chk-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499616"/>
            <a:ext cx="237744" cy="237744"/>
          </a:xfrm>
          <a:prstGeom prst="rect">
            <a:avLst/>
          </a:prstGeom>
        </p:spPr>
      </p:pic>
      <p:sp>
        <p:nvSpPr>
          <p:cNvPr id="11" name="text-173"/>
          <p:cNvSpPr txBox="1"/>
          <p:nvPr/>
        </p:nvSpPr>
        <p:spPr>
          <a:xfrm>
            <a:off x="5394960" y="126187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Delegation of authority set in Oracle and DocuSign before travel</a:t>
            </a:r>
            <a:endParaRPr lang="en-US" sz="1050" dirty="0"/>
          </a:p>
        </p:txBody>
      </p:sp>
      <p:sp>
        <p:nvSpPr>
          <p:cNvPr id="12" name="card-174"/>
          <p:cNvSpPr/>
          <p:nvPr/>
        </p:nvSpPr>
        <p:spPr>
          <a:xfrm>
            <a:off x="457200" y="2112264"/>
            <a:ext cx="38404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pic>
        <p:nvPicPr>
          <p:cNvPr id="13" name="warn-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31720"/>
            <a:ext cx="274320" cy="274320"/>
          </a:xfrm>
          <a:prstGeom prst="rect">
            <a:avLst/>
          </a:prstGeom>
        </p:spPr>
      </p:pic>
      <p:sp>
        <p:nvSpPr>
          <p:cNvPr id="14" name="text-175"/>
          <p:cNvSpPr txBox="1"/>
          <p:nvPr/>
        </p:nvSpPr>
        <p:spPr>
          <a:xfrm>
            <a:off x="1051560" y="211226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Wrong cost code on PR</a:t>
            </a:r>
            <a:endParaRPr lang="en-US" sz="1100" dirty="0"/>
          </a:p>
        </p:txBody>
      </p:sp>
      <p:pic>
        <p:nvPicPr>
          <p:cNvPr id="15" name="df-arr-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350008"/>
            <a:ext cx="256032" cy="237744"/>
          </a:xfrm>
          <a:prstGeom prst="rect">
            <a:avLst/>
          </a:prstGeom>
        </p:spPr>
      </p:pic>
      <p:sp>
        <p:nvSpPr>
          <p:cNvPr id="16" name="card-176"/>
          <p:cNvSpPr/>
          <p:nvPr/>
        </p:nvSpPr>
        <p:spPr>
          <a:xfrm>
            <a:off x="4846320" y="2112264"/>
            <a:ext cx="3840480" cy="713232"/>
          </a:xfrm>
          <a:prstGeom prst="roundRect">
            <a:avLst>
              <a:gd name="adj" fmla="val 1025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df-chk-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350008"/>
            <a:ext cx="237744" cy="237744"/>
          </a:xfrm>
          <a:prstGeom prst="rect">
            <a:avLst/>
          </a:prstGeom>
        </p:spPr>
      </p:pic>
      <p:sp>
        <p:nvSpPr>
          <p:cNvPr id="18" name="text-177"/>
          <p:cNvSpPr txBox="1"/>
          <p:nvPr/>
        </p:nvSpPr>
        <p:spPr>
          <a:xfrm>
            <a:off x="5394960" y="211226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Cost Control check moved before Project Director approval</a:t>
            </a:r>
            <a:endParaRPr lang="en-US" sz="1050" dirty="0"/>
          </a:p>
        </p:txBody>
      </p:sp>
      <p:sp>
        <p:nvSpPr>
          <p:cNvPr id="19" name="card-178"/>
          <p:cNvSpPr/>
          <p:nvPr/>
        </p:nvSpPr>
        <p:spPr>
          <a:xfrm>
            <a:off x="457200" y="2962656"/>
            <a:ext cx="38404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pic>
        <p:nvPicPr>
          <p:cNvPr id="20" name="warn-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182112"/>
            <a:ext cx="274320" cy="274320"/>
          </a:xfrm>
          <a:prstGeom prst="rect">
            <a:avLst/>
          </a:prstGeom>
        </p:spPr>
      </p:pic>
      <p:sp>
        <p:nvSpPr>
          <p:cNvPr id="21" name="text-179"/>
          <p:cNvSpPr txBox="1"/>
          <p:nvPr/>
        </p:nvSpPr>
        <p:spPr>
          <a:xfrm>
            <a:off x="1051560" y="296265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DocuSign envelope ignored</a:t>
            </a:r>
            <a:endParaRPr lang="en-US" sz="1100" dirty="0"/>
          </a:p>
        </p:txBody>
      </p:sp>
      <p:pic>
        <p:nvPicPr>
          <p:cNvPr id="22" name="df-arr-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3200400"/>
            <a:ext cx="256032" cy="237744"/>
          </a:xfrm>
          <a:prstGeom prst="rect">
            <a:avLst/>
          </a:prstGeom>
        </p:spPr>
      </p:pic>
      <p:sp>
        <p:nvSpPr>
          <p:cNvPr id="23" name="card-180"/>
          <p:cNvSpPr/>
          <p:nvPr/>
        </p:nvSpPr>
        <p:spPr>
          <a:xfrm>
            <a:off x="4846320" y="2962656"/>
            <a:ext cx="3840480" cy="713232"/>
          </a:xfrm>
          <a:prstGeom prst="roundRect">
            <a:avLst>
              <a:gd name="adj" fmla="val 1025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df-chk-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0912" y="3200400"/>
            <a:ext cx="237744" cy="237744"/>
          </a:xfrm>
          <a:prstGeom prst="rect">
            <a:avLst/>
          </a:prstGeom>
        </p:spPr>
      </p:pic>
      <p:sp>
        <p:nvSpPr>
          <p:cNvPr id="25" name="text-181"/>
          <p:cNvSpPr txBox="1"/>
          <p:nvPr/>
        </p:nvSpPr>
        <p:spPr>
          <a:xfrm>
            <a:off x="5394960" y="296265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Automatic reminders every 2 days plus a call on day 4</a:t>
            </a:r>
            <a:endParaRPr lang="en-US" sz="1050" dirty="0"/>
          </a:p>
        </p:txBody>
      </p:sp>
      <p:sp>
        <p:nvSpPr>
          <p:cNvPr id="26" name="card-182"/>
          <p:cNvSpPr/>
          <p:nvPr/>
        </p:nvSpPr>
        <p:spPr>
          <a:xfrm>
            <a:off x="457200" y="3813048"/>
            <a:ext cx="38404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1E2428">
                <a:alpha val="12000"/>
              </a:srgbClr>
            </a:outerShdw>
          </a:effectLst>
        </p:spPr>
      </p:sp>
      <p:pic>
        <p:nvPicPr>
          <p:cNvPr id="27" name="warn-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4032504"/>
            <a:ext cx="274320" cy="274320"/>
          </a:xfrm>
          <a:prstGeom prst="rect">
            <a:avLst/>
          </a:prstGeom>
        </p:spPr>
      </p:pic>
      <p:sp>
        <p:nvSpPr>
          <p:cNvPr id="28" name="text-183"/>
          <p:cNvSpPr txBox="1"/>
          <p:nvPr/>
        </p:nvSpPr>
        <p:spPr>
          <a:xfrm>
            <a:off x="1051560" y="381304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Letter sent without reply date</a:t>
            </a:r>
            <a:endParaRPr lang="en-US" sz="1100" dirty="0"/>
          </a:p>
        </p:txBody>
      </p:sp>
      <p:pic>
        <p:nvPicPr>
          <p:cNvPr id="29" name="df-arr-3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4840" y="4050792"/>
            <a:ext cx="256032" cy="237744"/>
          </a:xfrm>
          <a:prstGeom prst="rect">
            <a:avLst/>
          </a:prstGeom>
        </p:spPr>
      </p:pic>
      <p:sp>
        <p:nvSpPr>
          <p:cNvPr id="30" name="card-184"/>
          <p:cNvSpPr/>
          <p:nvPr/>
        </p:nvSpPr>
        <p:spPr>
          <a:xfrm>
            <a:off x="4846320" y="3813048"/>
            <a:ext cx="3840480" cy="713232"/>
          </a:xfrm>
          <a:prstGeom prst="roundRect">
            <a:avLst>
              <a:gd name="adj" fmla="val 1025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df-chk-3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0912" y="4050792"/>
            <a:ext cx="237744" cy="237744"/>
          </a:xfrm>
          <a:prstGeom prst="rect">
            <a:avLst/>
          </a:prstGeom>
        </p:spPr>
      </p:pic>
      <p:sp>
        <p:nvSpPr>
          <p:cNvPr id="32" name="text-185"/>
          <p:cNvSpPr txBox="1"/>
          <p:nvPr/>
        </p:nvSpPr>
        <p:spPr>
          <a:xfrm>
            <a:off x="5394960" y="381304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Aconex mail type set to 'reply required' with due date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rules the Executive Office follows</a:t>
            </a:r>
            <a:endParaRPr lang="en-US" sz="2400" dirty="0"/>
          </a:p>
        </p:txBody>
      </p:sp>
      <p:sp>
        <p:nvSpPr>
          <p:cNvPr id="3" name="dot-186"/>
          <p:cNvSpPr/>
          <p:nvPr/>
        </p:nvSpPr>
        <p:spPr>
          <a:xfrm>
            <a:off x="457200" y="105156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-187"/>
          <p:cNvSpPr txBox="1"/>
          <p:nvPr/>
        </p:nvSpPr>
        <p:spPr>
          <a:xfrm>
            <a:off x="45720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-188"/>
          <p:cNvSpPr txBox="1"/>
          <p:nvPr/>
        </p:nvSpPr>
        <p:spPr>
          <a:xfrm>
            <a:off x="1143000" y="10515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daily approval list sent to the Project Director by 08:00</a:t>
            </a:r>
            <a:endParaRPr lang="en-US" sz="1400" dirty="0"/>
          </a:p>
        </p:txBody>
      </p:sp>
      <p:sp>
        <p:nvSpPr>
          <p:cNvPr id="6" name="dot-189"/>
          <p:cNvSpPr/>
          <p:nvPr/>
        </p:nvSpPr>
        <p:spPr>
          <a:xfrm>
            <a:off x="457200" y="1737360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num-190"/>
          <p:cNvSpPr txBox="1"/>
          <p:nvPr/>
        </p:nvSpPr>
        <p:spPr>
          <a:xfrm>
            <a:off x="457200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-191"/>
          <p:cNvSpPr txBox="1"/>
          <p:nvPr/>
        </p:nvSpPr>
        <p:spPr>
          <a:xfrm>
            <a:off x="1143000" y="17373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Nothing waits more than 24 hours without a follow-up</a:t>
            </a:r>
            <a:endParaRPr lang="en-US" sz="1400" dirty="0"/>
          </a:p>
        </p:txBody>
      </p:sp>
      <p:sp>
        <p:nvSpPr>
          <p:cNvPr id="9" name="dot-192"/>
          <p:cNvSpPr/>
          <p:nvPr/>
        </p:nvSpPr>
        <p:spPr>
          <a:xfrm>
            <a:off x="457200" y="242316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-193"/>
          <p:cNvSpPr txBox="1"/>
          <p:nvPr/>
        </p:nvSpPr>
        <p:spPr>
          <a:xfrm>
            <a:off x="457200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-194"/>
          <p:cNvSpPr txBox="1"/>
          <p:nvPr/>
        </p:nvSpPr>
        <p:spPr>
          <a:xfrm>
            <a:off x="1143000" y="24231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Every signed document is filed in Aconex the same day</a:t>
            </a:r>
            <a:endParaRPr lang="en-US" sz="1400" dirty="0"/>
          </a:p>
        </p:txBody>
      </p:sp>
      <p:sp>
        <p:nvSpPr>
          <p:cNvPr id="12" name="dot-195"/>
          <p:cNvSpPr/>
          <p:nvPr/>
        </p:nvSpPr>
        <p:spPr>
          <a:xfrm>
            <a:off x="457200" y="3108960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um-196"/>
          <p:cNvSpPr txBox="1"/>
          <p:nvPr/>
        </p:nvSpPr>
        <p:spPr>
          <a:xfrm>
            <a:off x="45720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-197"/>
          <p:cNvSpPr txBox="1"/>
          <p:nvPr/>
        </p:nvSpPr>
        <p:spPr>
          <a:xfrm>
            <a:off x="1143000" y="31089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Reference numbers only from the official register</a:t>
            </a:r>
            <a:endParaRPr lang="en-US" sz="1400" dirty="0"/>
          </a:p>
        </p:txBody>
      </p:sp>
      <p:sp>
        <p:nvSpPr>
          <p:cNvPr id="15" name="dot-198"/>
          <p:cNvSpPr/>
          <p:nvPr/>
        </p:nvSpPr>
        <p:spPr>
          <a:xfrm>
            <a:off x="457200" y="379476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-199"/>
          <p:cNvSpPr txBox="1"/>
          <p:nvPr/>
        </p:nvSpPr>
        <p:spPr>
          <a:xfrm>
            <a:off x="457200" y="3794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-200"/>
          <p:cNvSpPr txBox="1"/>
          <p:nvPr/>
        </p:nvSpPr>
        <p:spPr>
          <a:xfrm>
            <a:off x="1143000" y="3794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Weekly turnaround report shared every Sunday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rcoal and Emerald Workflow">
  <a:themeElements>
    <a:clrScheme name="Charcoal and Emerald Workflow">
      <a:dk1>
        <a:srgbClr val="1E2428"/>
      </a:dk1>
      <a:lt1>
        <a:srgbClr val="FFFFFF"/>
      </a:lt1>
      <a:dk2>
        <a:srgbClr val="5B6670"/>
      </a:dk2>
      <a:lt2>
        <a:srgbClr val="F1F4F2"/>
      </a:lt2>
      <a:accent1>
        <a:srgbClr val="1F9D74"/>
      </a:accent1>
      <a:accent2>
        <a:srgbClr val="E4572E"/>
      </a:accent2>
      <a:accent3>
        <a:srgbClr val="DCEDE5"/>
      </a:accent3>
      <a:accent4>
        <a:srgbClr val="9AA5AD"/>
      </a:accent4>
      <a:accent5>
        <a:srgbClr val="0B6B4F"/>
      </a:accent5>
      <a:accent6>
        <a:srgbClr val="F2B134"/>
      </a:accent6>
      <a:hlink>
        <a:srgbClr val="1F9D74"/>
      </a:hlink>
      <a:folHlink>
        <a:srgbClr val="5B6670"/>
      </a:folHlink>
    </a:clrScheme>
    <a:fontScheme name="Charcoal and Emerald Workflo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Desert Horizon JV (demo)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Office Approval Workflows</dc:title>
  <dc:subject>PptxGenJS Presentation</dc:subject>
  <dc:creator>Sudheer Ahmed Khattak</dc:creator>
  <cp:lastModifiedBy>Sudheer Ahmed Khattak</cp:lastModifiedBy>
  <cp:revision>1</cp:revision>
  <dcterms:created xsi:type="dcterms:W3CDTF">2026-10-14T07:50:16Z</dcterms:created>
  <dcterms:modified xsi:type="dcterms:W3CDTF">2026-10-14T07:50:16Z</dcterms:modified>
</cp:coreProperties>
</file>