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6267abe-ba39-43fe-c3d8-8fccd188bbe3}">
          <p14:sldIdLst>
            <p14:sldId id="256"/>
            <p14:sldId id="257"/>
          </p14:sldIdLst>
        </p14:section>
        <p14:section name="Routines" id="{ff9c454f-2a6d-b1db-7769-6ff0167785e0}">
          <p14:sldIdLst>
            <p14:sldId id="258"/>
            <p14:sldId id="259"/>
            <p14:sldId id="260"/>
          </p14:sldIdLst>
        </p14:section>
        <p14:section name="Office" id="{7d7dd617-8459-068a-b27d-aa3dac907328}">
          <p14:sldIdLst>
            <p14:sldId id="261"/>
            <p14:sldId id="262"/>
          </p14:sldIdLst>
        </p14:section>
        <p14:section name="Handover" id="{17c091e9-4f97-a5e5-66f3-bf9c6b6f16c5}">
          <p14:sldIdLst>
            <p14:sldId id="263"/>
            <p14:sldId id="264"/>
            <p14:sldId id="265"/>
          </p14:sldIdLst>
        </p14:section>
        <p14:section name="Close" id="{abef86c8-e47a-450d-f580-d705d61b3ef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5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548640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5486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Office of the Project Director  ·  EA Handover &amp; Office Playbook  ·  Demo data</a:t>
            </a:r>
            <a:endParaRPr lang="en-US" sz="8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5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bg2"/>
                </a:solidFill>
              </a:rPr>
              <a:t>Office of the Project Director  ·  EA Handover &amp; Office Playbook  ·  Demo data</a:t>
            </a:r>
            <a:endParaRPr lang="en-US" sz="8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HANDOVER PACK  ·  OFFICE OF THE PROJECT DIRECTOR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 Handover &amp; Office Playbook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788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Everything a new Executive Assistant needs to run the Project Director's office from day one</a:t>
            </a:r>
            <a:endParaRPr lang="en-US" sz="1500" dirty="0"/>
          </a:p>
        </p:txBody>
      </p:sp>
      <p:sp>
        <p:nvSpPr>
          <p:cNvPr id="5" name="tile-0"/>
          <p:cNvSpPr/>
          <p:nvPr/>
        </p:nvSpPr>
        <p:spPr>
          <a:xfrm>
            <a:off x="6355080" y="914400"/>
            <a:ext cx="914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ile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170432"/>
            <a:ext cx="402336" cy="402336"/>
          </a:xfrm>
          <a:prstGeom prst="rect">
            <a:avLst/>
          </a:prstGeom>
        </p:spPr>
      </p:pic>
      <p:sp>
        <p:nvSpPr>
          <p:cNvPr id="7" name="tile-1"/>
          <p:cNvSpPr/>
          <p:nvPr/>
        </p:nvSpPr>
        <p:spPr>
          <a:xfrm>
            <a:off x="7406640" y="914400"/>
            <a:ext cx="914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tile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1170432"/>
            <a:ext cx="402336" cy="402336"/>
          </a:xfrm>
          <a:prstGeom prst="rect">
            <a:avLst/>
          </a:prstGeom>
        </p:spPr>
      </p:pic>
      <p:sp>
        <p:nvSpPr>
          <p:cNvPr id="9" name="tile-2"/>
          <p:cNvSpPr/>
          <p:nvPr/>
        </p:nvSpPr>
        <p:spPr>
          <a:xfrm>
            <a:off x="6355080" y="1965960"/>
            <a:ext cx="914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ile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221992"/>
            <a:ext cx="402336" cy="402336"/>
          </a:xfrm>
          <a:prstGeom prst="rect">
            <a:avLst/>
          </a:prstGeom>
        </p:spPr>
      </p:pic>
      <p:sp>
        <p:nvSpPr>
          <p:cNvPr id="11" name="tile-3"/>
          <p:cNvSpPr/>
          <p:nvPr/>
        </p:nvSpPr>
        <p:spPr>
          <a:xfrm>
            <a:off x="7406640" y="1965960"/>
            <a:ext cx="91440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tile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2221992"/>
            <a:ext cx="402336" cy="402336"/>
          </a:xfrm>
          <a:prstGeom prst="rect">
            <a:avLst/>
          </a:prstGeom>
        </p:spPr>
      </p:pic>
      <p:sp>
        <p:nvSpPr>
          <p:cNvPr id="13" name="tile-4"/>
          <p:cNvSpPr/>
          <p:nvPr/>
        </p:nvSpPr>
        <p:spPr>
          <a:xfrm>
            <a:off x="6355080" y="3017520"/>
            <a:ext cx="914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tile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273552"/>
            <a:ext cx="402336" cy="402336"/>
          </a:xfrm>
          <a:prstGeom prst="rect">
            <a:avLst/>
          </a:prstGeom>
        </p:spPr>
      </p:pic>
      <p:sp>
        <p:nvSpPr>
          <p:cNvPr id="15" name="tile-5"/>
          <p:cNvSpPr/>
          <p:nvPr/>
        </p:nvSpPr>
        <p:spPr>
          <a:xfrm>
            <a:off x="7406640" y="3017520"/>
            <a:ext cx="914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tile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3273552"/>
            <a:ext cx="402336" cy="402336"/>
          </a:xfrm>
          <a:prstGeom prst="rect">
            <a:avLst/>
          </a:prstGeom>
        </p:spPr>
      </p:pic>
      <p:sp>
        <p:nvSpPr>
          <p:cNvPr id="17" name="text-1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Prepared by the outgoing EA  ·  Handover date: 01 Dec 2026  ·  Demo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playbook covers</a:t>
            </a:r>
            <a:endParaRPr lang="en-US" sz="2400" dirty="0"/>
          </a:p>
        </p:txBody>
      </p:sp>
      <p:sp>
        <p:nvSpPr>
          <p:cNvPr id="3" name="card-2"/>
          <p:cNvSpPr/>
          <p:nvPr/>
        </p:nvSpPr>
        <p:spPr>
          <a:xfrm>
            <a:off x="45720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4" name="dot-3"/>
          <p:cNvSpPr/>
          <p:nvPr/>
        </p:nvSpPr>
        <p:spPr>
          <a:xfrm>
            <a:off x="658368" y="12070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092" y="1331732"/>
            <a:ext cx="317480" cy="317480"/>
          </a:xfrm>
          <a:prstGeom prst="rect">
            <a:avLst/>
          </a:prstGeom>
        </p:spPr>
      </p:pic>
      <p:sp>
        <p:nvSpPr>
          <p:cNvPr id="6" name="text-5"/>
          <p:cNvSpPr txBox="1"/>
          <p:nvPr/>
        </p:nvSpPr>
        <p:spPr>
          <a:xfrm>
            <a:off x="2286000" y="12070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-6"/>
          <p:cNvSpPr txBox="1"/>
          <p:nvPr/>
        </p:nvSpPr>
        <p:spPr>
          <a:xfrm>
            <a:off x="658368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Daily routine</a:t>
            </a:r>
            <a:endParaRPr lang="en-US" sz="1250" dirty="0"/>
          </a:p>
        </p:txBody>
      </p:sp>
      <p:sp>
        <p:nvSpPr>
          <p:cNvPr id="8" name="text-7"/>
          <p:cNvSpPr txBox="1"/>
          <p:nvPr/>
        </p:nvSpPr>
        <p:spPr>
          <a:xfrm>
            <a:off x="658368" y="21762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Hour-by-hour rhythm of the office</a:t>
            </a:r>
            <a:endParaRPr lang="en-US" sz="1000" dirty="0"/>
          </a:p>
        </p:txBody>
      </p:sp>
      <p:sp>
        <p:nvSpPr>
          <p:cNvPr id="9" name="card-8"/>
          <p:cNvSpPr/>
          <p:nvPr/>
        </p:nvSpPr>
        <p:spPr>
          <a:xfrm>
            <a:off x="324612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10" name="dot-9"/>
          <p:cNvSpPr/>
          <p:nvPr/>
        </p:nvSpPr>
        <p:spPr>
          <a:xfrm>
            <a:off x="3447288" y="12070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012" y="1331732"/>
            <a:ext cx="317480" cy="317480"/>
          </a:xfrm>
          <a:prstGeom prst="rect">
            <a:avLst/>
          </a:prstGeom>
        </p:spPr>
      </p:pic>
      <p:sp>
        <p:nvSpPr>
          <p:cNvPr id="12" name="text-11"/>
          <p:cNvSpPr txBox="1"/>
          <p:nvPr/>
        </p:nvSpPr>
        <p:spPr>
          <a:xfrm>
            <a:off x="5074920" y="12070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-12"/>
          <p:cNvSpPr txBox="1"/>
          <p:nvPr/>
        </p:nvSpPr>
        <p:spPr>
          <a:xfrm>
            <a:off x="3447288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Weekly &amp; monthly cycle</a:t>
            </a:r>
            <a:endParaRPr lang="en-US" sz="1250" dirty="0"/>
          </a:p>
        </p:txBody>
      </p:sp>
      <p:sp>
        <p:nvSpPr>
          <p:cNvPr id="14" name="text-13"/>
          <p:cNvSpPr txBox="1"/>
          <p:nvPr/>
        </p:nvSpPr>
        <p:spPr>
          <a:xfrm>
            <a:off x="3447288" y="21762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Reports, meetings and deadlines</a:t>
            </a:r>
            <a:endParaRPr lang="en-US" sz="1000" dirty="0"/>
          </a:p>
        </p:txBody>
      </p:sp>
      <p:sp>
        <p:nvSpPr>
          <p:cNvPr id="15" name="card-14"/>
          <p:cNvSpPr/>
          <p:nvPr/>
        </p:nvSpPr>
        <p:spPr>
          <a:xfrm>
            <a:off x="603504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16" name="dot-15"/>
          <p:cNvSpPr/>
          <p:nvPr/>
        </p:nvSpPr>
        <p:spPr>
          <a:xfrm>
            <a:off x="6236208" y="12070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932" y="1331732"/>
            <a:ext cx="317480" cy="317480"/>
          </a:xfrm>
          <a:prstGeom prst="rect">
            <a:avLst/>
          </a:prstGeom>
        </p:spPr>
      </p:pic>
      <p:sp>
        <p:nvSpPr>
          <p:cNvPr id="18" name="text-17"/>
          <p:cNvSpPr txBox="1"/>
          <p:nvPr/>
        </p:nvSpPr>
        <p:spPr>
          <a:xfrm>
            <a:off x="7863840" y="12070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-18"/>
          <p:cNvSpPr txBox="1"/>
          <p:nvPr/>
        </p:nvSpPr>
        <p:spPr>
          <a:xfrm>
            <a:off x="6236208" y="1901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Meeting management</a:t>
            </a:r>
            <a:endParaRPr lang="en-US" sz="1250" dirty="0"/>
          </a:p>
        </p:txBody>
      </p:sp>
      <p:sp>
        <p:nvSpPr>
          <p:cNvPr id="20" name="text-19"/>
          <p:cNvSpPr txBox="1"/>
          <p:nvPr/>
        </p:nvSpPr>
        <p:spPr>
          <a:xfrm>
            <a:off x="6236208" y="21762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Before, during and after every meeting</a:t>
            </a:r>
            <a:endParaRPr lang="en-US" sz="1000" dirty="0"/>
          </a:p>
        </p:txBody>
      </p:sp>
      <p:sp>
        <p:nvSpPr>
          <p:cNvPr id="21" name="card-20"/>
          <p:cNvSpPr/>
          <p:nvPr/>
        </p:nvSpPr>
        <p:spPr>
          <a:xfrm>
            <a:off x="45720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22" name="dot-21"/>
          <p:cNvSpPr/>
          <p:nvPr/>
        </p:nvSpPr>
        <p:spPr>
          <a:xfrm>
            <a:off x="658368" y="299008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con-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92" y="3114812"/>
            <a:ext cx="317480" cy="317480"/>
          </a:xfrm>
          <a:prstGeom prst="rect">
            <a:avLst/>
          </a:prstGeom>
        </p:spPr>
      </p:pic>
      <p:sp>
        <p:nvSpPr>
          <p:cNvPr id="24" name="text-23"/>
          <p:cNvSpPr txBox="1"/>
          <p:nvPr/>
        </p:nvSpPr>
        <p:spPr>
          <a:xfrm>
            <a:off x="2286000" y="29900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-24"/>
          <p:cNvSpPr txBox="1"/>
          <p:nvPr/>
        </p:nvSpPr>
        <p:spPr>
          <a:xfrm>
            <a:off x="658368" y="3685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Filing &amp; naming</a:t>
            </a:r>
            <a:endParaRPr lang="en-US" sz="1250" dirty="0"/>
          </a:p>
        </p:txBody>
      </p:sp>
      <p:sp>
        <p:nvSpPr>
          <p:cNvPr id="26" name="text-25"/>
          <p:cNvSpPr txBox="1"/>
          <p:nvPr/>
        </p:nvSpPr>
        <p:spPr>
          <a:xfrm>
            <a:off x="658368" y="3959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Where documents live and how they are named</a:t>
            </a:r>
            <a:endParaRPr lang="en-US" sz="1000" dirty="0"/>
          </a:p>
        </p:txBody>
      </p:sp>
      <p:sp>
        <p:nvSpPr>
          <p:cNvPr id="27" name="card-26"/>
          <p:cNvSpPr/>
          <p:nvPr/>
        </p:nvSpPr>
        <p:spPr>
          <a:xfrm>
            <a:off x="324612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28" name="dot-27"/>
          <p:cNvSpPr/>
          <p:nvPr/>
        </p:nvSpPr>
        <p:spPr>
          <a:xfrm>
            <a:off x="3447288" y="29900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-2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012" y="3114812"/>
            <a:ext cx="317480" cy="317480"/>
          </a:xfrm>
          <a:prstGeom prst="rect">
            <a:avLst/>
          </a:prstGeom>
        </p:spPr>
      </p:pic>
      <p:sp>
        <p:nvSpPr>
          <p:cNvPr id="30" name="text-29"/>
          <p:cNvSpPr txBox="1"/>
          <p:nvPr/>
        </p:nvSpPr>
        <p:spPr>
          <a:xfrm>
            <a:off x="5074920" y="29900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-30"/>
          <p:cNvSpPr txBox="1"/>
          <p:nvPr/>
        </p:nvSpPr>
        <p:spPr>
          <a:xfrm>
            <a:off x="3447288" y="3685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Drivers &amp; travel</a:t>
            </a:r>
            <a:endParaRPr lang="en-US" sz="1250" dirty="0"/>
          </a:p>
        </p:txBody>
      </p:sp>
      <p:sp>
        <p:nvSpPr>
          <p:cNvPr id="32" name="text-31"/>
          <p:cNvSpPr txBox="1"/>
          <p:nvPr/>
        </p:nvSpPr>
        <p:spPr>
          <a:xfrm>
            <a:off x="3447288" y="3959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Fleet roster, bookings and approvals</a:t>
            </a:r>
            <a:endParaRPr lang="en-US" sz="1000" dirty="0"/>
          </a:p>
        </p:txBody>
      </p:sp>
      <p:sp>
        <p:nvSpPr>
          <p:cNvPr id="33" name="card-32"/>
          <p:cNvSpPr/>
          <p:nvPr/>
        </p:nvSpPr>
        <p:spPr>
          <a:xfrm>
            <a:off x="603504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34" name="dot-33"/>
          <p:cNvSpPr/>
          <p:nvPr/>
        </p:nvSpPr>
        <p:spPr>
          <a:xfrm>
            <a:off x="6236208" y="29900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-3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932" y="3114812"/>
            <a:ext cx="317480" cy="317480"/>
          </a:xfrm>
          <a:prstGeom prst="rect">
            <a:avLst/>
          </a:prstGeom>
        </p:spPr>
      </p:pic>
      <p:sp>
        <p:nvSpPr>
          <p:cNvPr id="36" name="text-35"/>
          <p:cNvSpPr txBox="1"/>
          <p:nvPr/>
        </p:nvSpPr>
        <p:spPr>
          <a:xfrm>
            <a:off x="7863840" y="29900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-36"/>
          <p:cNvSpPr txBox="1"/>
          <p:nvPr/>
        </p:nvSpPr>
        <p:spPr>
          <a:xfrm>
            <a:off x="6236208" y="3685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Contacts &amp; access</a:t>
            </a:r>
            <a:endParaRPr lang="en-US" sz="1250" dirty="0"/>
          </a:p>
        </p:txBody>
      </p:sp>
      <p:sp>
        <p:nvSpPr>
          <p:cNvPr id="38" name="text-37"/>
          <p:cNvSpPr txBox="1"/>
          <p:nvPr/>
        </p:nvSpPr>
        <p:spPr>
          <a:xfrm>
            <a:off x="6236208" y="3959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Key people, systems and the sign-off checklist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routine</a:t>
            </a:r>
            <a:endParaRPr lang="en-US" sz="2400" dirty="0"/>
          </a:p>
        </p:txBody>
      </p:sp>
      <p:sp>
        <p:nvSpPr>
          <p:cNvPr id="3" name="line-38"/>
          <p:cNvSpPr/>
          <p:nvPr/>
        </p:nvSpPr>
        <p:spPr>
          <a:xfrm>
            <a:off x="1216152" y="1143000"/>
            <a:ext cx="0" cy="33832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text-39"/>
          <p:cNvSpPr txBox="1"/>
          <p:nvPr/>
        </p:nvSpPr>
        <p:spPr>
          <a:xfrm>
            <a:off x="457200" y="9875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07:30</a:t>
            </a:r>
            <a:endParaRPr lang="en-US" sz="1200" dirty="0"/>
          </a:p>
        </p:txBody>
      </p:sp>
      <p:sp>
        <p:nvSpPr>
          <p:cNvPr id="5" name="dot-0"/>
          <p:cNvSpPr/>
          <p:nvPr/>
        </p:nvSpPr>
        <p:spPr>
          <a:xfrm>
            <a:off x="1143000" y="1088136"/>
            <a:ext cx="146304" cy="1463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6" name="text-40"/>
          <p:cNvSpPr txBox="1"/>
          <p:nvPr/>
        </p:nvSpPr>
        <p:spPr>
          <a:xfrm>
            <a:off x="146304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Inbox triage, flag urgent items, check PD diary</a:t>
            </a:r>
            <a:endParaRPr lang="en-US" sz="1050" dirty="0"/>
          </a:p>
        </p:txBody>
      </p:sp>
      <p:sp>
        <p:nvSpPr>
          <p:cNvPr id="7" name="text-41"/>
          <p:cNvSpPr txBox="1"/>
          <p:nvPr/>
        </p:nvSpPr>
        <p:spPr>
          <a:xfrm>
            <a:off x="457200" y="1444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08:00</a:t>
            </a:r>
            <a:endParaRPr lang="en-US" sz="1200" dirty="0"/>
          </a:p>
        </p:txBody>
      </p:sp>
      <p:sp>
        <p:nvSpPr>
          <p:cNvPr id="8" name="dot-1"/>
          <p:cNvSpPr/>
          <p:nvPr/>
        </p:nvSpPr>
        <p:spPr>
          <a:xfrm>
            <a:off x="1143000" y="1545336"/>
            <a:ext cx="146304" cy="1463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9" name="text-42"/>
          <p:cNvSpPr txBox="1"/>
          <p:nvPr/>
        </p:nvSpPr>
        <p:spPr>
          <a:xfrm>
            <a:off x="146304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Send daily approval list to the PD</a:t>
            </a:r>
            <a:endParaRPr lang="en-US" sz="1050" dirty="0"/>
          </a:p>
        </p:txBody>
      </p:sp>
      <p:sp>
        <p:nvSpPr>
          <p:cNvPr id="10" name="text-43"/>
          <p:cNvSpPr txBox="1"/>
          <p:nvPr/>
        </p:nvSpPr>
        <p:spPr>
          <a:xfrm>
            <a:off x="457200" y="19019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09:00</a:t>
            </a:r>
            <a:endParaRPr lang="en-US" sz="1200" dirty="0"/>
          </a:p>
        </p:txBody>
      </p:sp>
      <p:sp>
        <p:nvSpPr>
          <p:cNvPr id="11" name="dot-2"/>
          <p:cNvSpPr/>
          <p:nvPr/>
        </p:nvSpPr>
        <p:spPr>
          <a:xfrm>
            <a:off x="1143000" y="2002536"/>
            <a:ext cx="146304" cy="1463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2" name="text-44"/>
          <p:cNvSpPr txBox="1"/>
          <p:nvPr/>
        </p:nvSpPr>
        <p:spPr>
          <a:xfrm>
            <a:off x="1463040" y="1901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Morning coordination meeting – take action log</a:t>
            </a:r>
            <a:endParaRPr lang="en-US" sz="1050" dirty="0"/>
          </a:p>
        </p:txBody>
      </p:sp>
      <p:sp>
        <p:nvSpPr>
          <p:cNvPr id="13" name="text-45"/>
          <p:cNvSpPr txBox="1"/>
          <p:nvPr/>
        </p:nvSpPr>
        <p:spPr>
          <a:xfrm>
            <a:off x="457200" y="2359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11:00</a:t>
            </a:r>
            <a:endParaRPr lang="en-US" sz="1200" dirty="0"/>
          </a:p>
        </p:txBody>
      </p:sp>
      <p:sp>
        <p:nvSpPr>
          <p:cNvPr id="14" name="dot-3"/>
          <p:cNvSpPr/>
          <p:nvPr/>
        </p:nvSpPr>
        <p:spPr>
          <a:xfrm>
            <a:off x="1143000" y="2459736"/>
            <a:ext cx="146304" cy="1463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5" name="text-46"/>
          <p:cNvSpPr txBox="1"/>
          <p:nvPr/>
        </p:nvSpPr>
        <p:spPr>
          <a:xfrm>
            <a:off x="1463040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Chase DocuSign and Oracle approvals</a:t>
            </a:r>
            <a:endParaRPr lang="en-US" sz="1050" dirty="0"/>
          </a:p>
        </p:txBody>
      </p:sp>
      <p:sp>
        <p:nvSpPr>
          <p:cNvPr id="16" name="text-47"/>
          <p:cNvSpPr txBox="1"/>
          <p:nvPr/>
        </p:nvSpPr>
        <p:spPr>
          <a:xfrm>
            <a:off x="457200" y="28163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13:00</a:t>
            </a:r>
            <a:endParaRPr lang="en-US" sz="1200" dirty="0"/>
          </a:p>
        </p:txBody>
      </p:sp>
      <p:sp>
        <p:nvSpPr>
          <p:cNvPr id="17" name="dot-4"/>
          <p:cNvSpPr/>
          <p:nvPr/>
        </p:nvSpPr>
        <p:spPr>
          <a:xfrm>
            <a:off x="1143000" y="2916936"/>
            <a:ext cx="146304" cy="1463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18" name="text-48"/>
          <p:cNvSpPr txBox="1"/>
          <p:nvPr/>
        </p:nvSpPr>
        <p:spPr>
          <a:xfrm>
            <a:off x="146304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Visitors, meeting rooms and refreshments</a:t>
            </a:r>
            <a:endParaRPr lang="en-US" sz="1050" dirty="0"/>
          </a:p>
        </p:txBody>
      </p:sp>
      <p:sp>
        <p:nvSpPr>
          <p:cNvPr id="19" name="text-49"/>
          <p:cNvSpPr txBox="1"/>
          <p:nvPr/>
        </p:nvSpPr>
        <p:spPr>
          <a:xfrm>
            <a:off x="457200" y="32735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15:00</a:t>
            </a:r>
            <a:endParaRPr lang="en-US" sz="1200" dirty="0"/>
          </a:p>
        </p:txBody>
      </p:sp>
      <p:sp>
        <p:nvSpPr>
          <p:cNvPr id="20" name="dot-5"/>
          <p:cNvSpPr/>
          <p:nvPr/>
        </p:nvSpPr>
        <p:spPr>
          <a:xfrm>
            <a:off x="1143000" y="3374136"/>
            <a:ext cx="146304" cy="1463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1" name="text-50"/>
          <p:cNvSpPr txBox="1"/>
          <p:nvPr/>
        </p:nvSpPr>
        <p:spPr>
          <a:xfrm>
            <a:off x="1463040" y="3273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Letters out, Aconex filing, register update</a:t>
            </a:r>
            <a:endParaRPr lang="en-US" sz="1050" dirty="0"/>
          </a:p>
        </p:txBody>
      </p:sp>
      <p:sp>
        <p:nvSpPr>
          <p:cNvPr id="22" name="text-51"/>
          <p:cNvSpPr txBox="1"/>
          <p:nvPr/>
        </p:nvSpPr>
        <p:spPr>
          <a:xfrm>
            <a:off x="457200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16:30</a:t>
            </a:r>
            <a:endParaRPr lang="en-US" sz="1200" dirty="0"/>
          </a:p>
        </p:txBody>
      </p:sp>
      <p:sp>
        <p:nvSpPr>
          <p:cNvPr id="23" name="dot-6"/>
          <p:cNvSpPr/>
          <p:nvPr/>
        </p:nvSpPr>
        <p:spPr>
          <a:xfrm>
            <a:off x="1143000" y="3831336"/>
            <a:ext cx="146304" cy="14630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4" name="text-52"/>
          <p:cNvSpPr txBox="1"/>
          <p:nvPr/>
        </p:nvSpPr>
        <p:spPr>
          <a:xfrm>
            <a:off x="1463040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Prepare tomorrow: diary, packs, driver plan</a:t>
            </a:r>
            <a:endParaRPr lang="en-US" sz="1050" dirty="0"/>
          </a:p>
        </p:txBody>
      </p:sp>
      <p:sp>
        <p:nvSpPr>
          <p:cNvPr id="25" name="text-53"/>
          <p:cNvSpPr txBox="1"/>
          <p:nvPr/>
        </p:nvSpPr>
        <p:spPr>
          <a:xfrm>
            <a:off x="457200" y="41879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17:30</a:t>
            </a:r>
            <a:endParaRPr lang="en-US" sz="1200" dirty="0"/>
          </a:p>
        </p:txBody>
      </p:sp>
      <p:sp>
        <p:nvSpPr>
          <p:cNvPr id="26" name="dot-7"/>
          <p:cNvSpPr/>
          <p:nvPr/>
        </p:nvSpPr>
        <p:spPr>
          <a:xfrm>
            <a:off x="1143000" y="4288536"/>
            <a:ext cx="146304" cy="14630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7" name="text-54"/>
          <p:cNvSpPr txBox="1"/>
          <p:nvPr/>
        </p:nvSpPr>
        <p:spPr>
          <a:xfrm>
            <a:off x="1463040" y="4187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End-of-day summary email to the PD</a:t>
            </a:r>
            <a:endParaRPr lang="en-US" sz="1050" dirty="0"/>
          </a:p>
        </p:txBody>
      </p:sp>
      <p:sp>
        <p:nvSpPr>
          <p:cNvPr id="28" name="card-55"/>
          <p:cNvSpPr/>
          <p:nvPr/>
        </p:nvSpPr>
        <p:spPr>
          <a:xfrm>
            <a:off x="5577840" y="1005840"/>
            <a:ext cx="3108960" cy="361188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29" name="text-56"/>
          <p:cNvSpPr txBox="1"/>
          <p:nvPr/>
        </p:nvSpPr>
        <p:spPr>
          <a:xfrm>
            <a:off x="58064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Non-negotiables</a:t>
            </a:r>
            <a:endParaRPr lang="en-US" sz="1400" dirty="0"/>
          </a:p>
        </p:txBody>
      </p:sp>
      <p:sp>
        <p:nvSpPr>
          <p:cNvPr id="30" name="text-57"/>
          <p:cNvSpPr txBox="1"/>
          <p:nvPr/>
        </p:nvSpPr>
        <p:spPr>
          <a:xfrm>
            <a:off x="5806440" y="164592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PD never walks into a meeting without a pack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No email from the PD's level waits past same day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Diary changes confirmed to all attendees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Confidential papers locked away every evening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Drivers confirmed for the next day by 17:00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&amp; monthly cycle</a:t>
            </a:r>
            <a:endParaRPr lang="en-US" sz="2400" dirty="0"/>
          </a:p>
        </p:txBody>
      </p:sp>
      <p:sp>
        <p:nvSpPr>
          <p:cNvPr id="3" name="shape-58"/>
          <p:cNvSpPr/>
          <p:nvPr/>
        </p:nvSpPr>
        <p:spPr>
          <a:xfrm>
            <a:off x="457200" y="1005840"/>
            <a:ext cx="155448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-59"/>
          <p:cNvSpPr txBox="1"/>
          <p:nvPr/>
        </p:nvSpPr>
        <p:spPr>
          <a:xfrm>
            <a:off x="457200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Sun</a:t>
            </a:r>
            <a:endParaRPr lang="en-US" sz="1200" dirty="0"/>
          </a:p>
        </p:txBody>
      </p:sp>
      <p:sp>
        <p:nvSpPr>
          <p:cNvPr id="5" name="shape-60"/>
          <p:cNvSpPr/>
          <p:nvPr/>
        </p:nvSpPr>
        <p:spPr>
          <a:xfrm>
            <a:off x="457200" y="1389888"/>
            <a:ext cx="155448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-61"/>
          <p:cNvSpPr txBox="1"/>
          <p:nvPr/>
        </p:nvSpPr>
        <p:spPr>
          <a:xfrm>
            <a:off x="566928" y="1508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Weekly management meeting</a:t>
            </a:r>
            <a:endParaRPr lang="en-US" sz="1000" dirty="0"/>
          </a:p>
        </p:txBody>
      </p:sp>
      <p:sp>
        <p:nvSpPr>
          <p:cNvPr id="7" name="text-62"/>
          <p:cNvSpPr txBox="1"/>
          <p:nvPr/>
        </p:nvSpPr>
        <p:spPr>
          <a:xfrm>
            <a:off x="566928" y="2130552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Turnaround report</a:t>
            </a:r>
            <a:endParaRPr lang="en-US" sz="1000" dirty="0"/>
          </a:p>
        </p:txBody>
      </p:sp>
      <p:sp>
        <p:nvSpPr>
          <p:cNvPr id="8" name="shape-63"/>
          <p:cNvSpPr/>
          <p:nvPr/>
        </p:nvSpPr>
        <p:spPr>
          <a:xfrm>
            <a:off x="2121408" y="100584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64"/>
          <p:cNvSpPr txBox="1"/>
          <p:nvPr/>
        </p:nvSpPr>
        <p:spPr>
          <a:xfrm>
            <a:off x="2121408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Mon</a:t>
            </a:r>
            <a:endParaRPr lang="en-US" sz="1200" dirty="0"/>
          </a:p>
        </p:txBody>
      </p:sp>
      <p:sp>
        <p:nvSpPr>
          <p:cNvPr id="10" name="shape-65"/>
          <p:cNvSpPr/>
          <p:nvPr/>
        </p:nvSpPr>
        <p:spPr>
          <a:xfrm>
            <a:off x="2121408" y="1389888"/>
            <a:ext cx="155448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-66"/>
          <p:cNvSpPr txBox="1"/>
          <p:nvPr/>
        </p:nvSpPr>
        <p:spPr>
          <a:xfrm>
            <a:off x="2231136" y="1508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Client progress meeting</a:t>
            </a:r>
            <a:endParaRPr lang="en-US" sz="1000" dirty="0"/>
          </a:p>
        </p:txBody>
      </p:sp>
      <p:sp>
        <p:nvSpPr>
          <p:cNvPr id="12" name="text-67"/>
          <p:cNvSpPr txBox="1"/>
          <p:nvPr/>
        </p:nvSpPr>
        <p:spPr>
          <a:xfrm>
            <a:off x="2231136" y="2130552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Minutes in 24 h</a:t>
            </a:r>
            <a:endParaRPr lang="en-US" sz="1000" dirty="0"/>
          </a:p>
        </p:txBody>
      </p:sp>
      <p:sp>
        <p:nvSpPr>
          <p:cNvPr id="13" name="shape-68"/>
          <p:cNvSpPr/>
          <p:nvPr/>
        </p:nvSpPr>
        <p:spPr>
          <a:xfrm>
            <a:off x="3785616" y="100584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69"/>
          <p:cNvSpPr txBox="1"/>
          <p:nvPr/>
        </p:nvSpPr>
        <p:spPr>
          <a:xfrm>
            <a:off x="3785616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Tue</a:t>
            </a:r>
            <a:endParaRPr lang="en-US" sz="1200" dirty="0"/>
          </a:p>
        </p:txBody>
      </p:sp>
      <p:sp>
        <p:nvSpPr>
          <p:cNvPr id="15" name="shape-70"/>
          <p:cNvSpPr/>
          <p:nvPr/>
        </p:nvSpPr>
        <p:spPr>
          <a:xfrm>
            <a:off x="3785616" y="1389888"/>
            <a:ext cx="155448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-71"/>
          <p:cNvSpPr txBox="1"/>
          <p:nvPr/>
        </p:nvSpPr>
        <p:spPr>
          <a:xfrm>
            <a:off x="3895344" y="1508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HSE walk with PD</a:t>
            </a:r>
            <a:endParaRPr lang="en-US" sz="1000" dirty="0"/>
          </a:p>
        </p:txBody>
      </p:sp>
      <p:sp>
        <p:nvSpPr>
          <p:cNvPr id="17" name="text-72"/>
          <p:cNvSpPr txBox="1"/>
          <p:nvPr/>
        </p:nvSpPr>
        <p:spPr>
          <a:xfrm>
            <a:off x="3895344" y="2130552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Visitor bookings</a:t>
            </a:r>
            <a:endParaRPr lang="en-US" sz="1000" dirty="0"/>
          </a:p>
        </p:txBody>
      </p:sp>
      <p:sp>
        <p:nvSpPr>
          <p:cNvPr id="18" name="shape-73"/>
          <p:cNvSpPr/>
          <p:nvPr/>
        </p:nvSpPr>
        <p:spPr>
          <a:xfrm>
            <a:off x="5449824" y="100584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-74"/>
          <p:cNvSpPr txBox="1"/>
          <p:nvPr/>
        </p:nvSpPr>
        <p:spPr>
          <a:xfrm>
            <a:off x="5449824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Wed</a:t>
            </a:r>
            <a:endParaRPr lang="en-US" sz="1200" dirty="0"/>
          </a:p>
        </p:txBody>
      </p:sp>
      <p:sp>
        <p:nvSpPr>
          <p:cNvPr id="20" name="shape-75"/>
          <p:cNvSpPr/>
          <p:nvPr/>
        </p:nvSpPr>
        <p:spPr>
          <a:xfrm>
            <a:off x="5449824" y="1389888"/>
            <a:ext cx="155448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-76"/>
          <p:cNvSpPr txBox="1"/>
          <p:nvPr/>
        </p:nvSpPr>
        <p:spPr>
          <a:xfrm>
            <a:off x="5559552" y="1508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Commercial review</a:t>
            </a:r>
            <a:endParaRPr lang="en-US" sz="1000" dirty="0"/>
          </a:p>
        </p:txBody>
      </p:sp>
      <p:sp>
        <p:nvSpPr>
          <p:cNvPr id="22" name="text-77"/>
          <p:cNvSpPr txBox="1"/>
          <p:nvPr/>
        </p:nvSpPr>
        <p:spPr>
          <a:xfrm>
            <a:off x="5559552" y="2130552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Payment run check</a:t>
            </a:r>
            <a:endParaRPr lang="en-US" sz="1000" dirty="0"/>
          </a:p>
        </p:txBody>
      </p:sp>
      <p:sp>
        <p:nvSpPr>
          <p:cNvPr id="23" name="shape-78"/>
          <p:cNvSpPr/>
          <p:nvPr/>
        </p:nvSpPr>
        <p:spPr>
          <a:xfrm>
            <a:off x="7114032" y="1005840"/>
            <a:ext cx="1554480" cy="3840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79"/>
          <p:cNvSpPr txBox="1"/>
          <p:nvPr/>
        </p:nvSpPr>
        <p:spPr>
          <a:xfrm>
            <a:off x="7114032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Thu</a:t>
            </a:r>
            <a:endParaRPr lang="en-US" sz="1200" dirty="0"/>
          </a:p>
        </p:txBody>
      </p:sp>
      <p:sp>
        <p:nvSpPr>
          <p:cNvPr id="25" name="shape-80"/>
          <p:cNvSpPr/>
          <p:nvPr/>
        </p:nvSpPr>
        <p:spPr>
          <a:xfrm>
            <a:off x="7114032" y="1389888"/>
            <a:ext cx="155448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-81"/>
          <p:cNvSpPr txBox="1"/>
          <p:nvPr/>
        </p:nvSpPr>
        <p:spPr>
          <a:xfrm>
            <a:off x="7223760" y="150876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Week-close summary</a:t>
            </a:r>
            <a:endParaRPr lang="en-US" sz="1000" dirty="0"/>
          </a:p>
        </p:txBody>
      </p:sp>
      <p:sp>
        <p:nvSpPr>
          <p:cNvPr id="27" name="text-82"/>
          <p:cNvSpPr txBox="1"/>
          <p:nvPr/>
        </p:nvSpPr>
        <p:spPr>
          <a:xfrm>
            <a:off x="7223760" y="2130552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Next week's diary</a:t>
            </a:r>
            <a:endParaRPr lang="en-US" sz="1000" dirty="0"/>
          </a:p>
        </p:txBody>
      </p:sp>
      <p:sp>
        <p:nvSpPr>
          <p:cNvPr id="28" name="text-83"/>
          <p:cNvSpPr txBox="1"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month</a:t>
            </a:r>
            <a:endParaRPr lang="en-US" sz="1300" dirty="0"/>
          </a:p>
        </p:txBody>
      </p:sp>
      <p:sp>
        <p:nvSpPr>
          <p:cNvPr id="29" name="card-84"/>
          <p:cNvSpPr/>
          <p:nvPr/>
        </p:nvSpPr>
        <p:spPr>
          <a:xfrm>
            <a:off x="457200" y="3364992"/>
            <a:ext cx="1938528" cy="1252728"/>
          </a:xfrm>
          <a:prstGeom prst="roundRect">
            <a:avLst>
              <a:gd name="adj" fmla="val 583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ext-85"/>
          <p:cNvSpPr txBox="1"/>
          <p:nvPr/>
        </p:nvSpPr>
        <p:spPr>
          <a:xfrm>
            <a:off x="59436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WEEK 1</a:t>
            </a:r>
            <a:endParaRPr lang="en-US" sz="900" dirty="0"/>
          </a:p>
        </p:txBody>
      </p:sp>
      <p:sp>
        <p:nvSpPr>
          <p:cNvPr id="31" name="text-86"/>
          <p:cNvSpPr txBox="1"/>
          <p:nvPr/>
        </p:nvSpPr>
        <p:spPr>
          <a:xfrm>
            <a:off x="594360" y="37307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Monthly progress report pack to client</a:t>
            </a:r>
            <a:endParaRPr lang="en-US" sz="1050" dirty="0"/>
          </a:p>
        </p:txBody>
      </p:sp>
      <p:sp>
        <p:nvSpPr>
          <p:cNvPr id="32" name="card-87"/>
          <p:cNvSpPr/>
          <p:nvPr/>
        </p:nvSpPr>
        <p:spPr>
          <a:xfrm>
            <a:off x="2532888" y="3364992"/>
            <a:ext cx="1938528" cy="1252728"/>
          </a:xfrm>
          <a:prstGeom prst="roundRect">
            <a:avLst>
              <a:gd name="adj" fmla="val 583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-88"/>
          <p:cNvSpPr txBox="1"/>
          <p:nvPr/>
        </p:nvSpPr>
        <p:spPr>
          <a:xfrm>
            <a:off x="2670048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WEEK 2</a:t>
            </a:r>
            <a:endParaRPr lang="en-US" sz="900" dirty="0"/>
          </a:p>
        </p:txBody>
      </p:sp>
      <p:sp>
        <p:nvSpPr>
          <p:cNvPr id="34" name="text-89"/>
          <p:cNvSpPr txBox="1"/>
          <p:nvPr/>
        </p:nvSpPr>
        <p:spPr>
          <a:xfrm>
            <a:off x="2670048" y="37307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Manpower release &amp; visa renewal review</a:t>
            </a:r>
            <a:endParaRPr lang="en-US" sz="1050" dirty="0"/>
          </a:p>
        </p:txBody>
      </p:sp>
      <p:sp>
        <p:nvSpPr>
          <p:cNvPr id="35" name="card-90"/>
          <p:cNvSpPr/>
          <p:nvPr/>
        </p:nvSpPr>
        <p:spPr>
          <a:xfrm>
            <a:off x="4608576" y="3364992"/>
            <a:ext cx="1938528" cy="1252728"/>
          </a:xfrm>
          <a:prstGeom prst="roundRect">
            <a:avLst>
              <a:gd name="adj" fmla="val 583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-91"/>
          <p:cNvSpPr txBox="1"/>
          <p:nvPr/>
        </p:nvSpPr>
        <p:spPr>
          <a:xfrm>
            <a:off x="4745736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WEEK 3</a:t>
            </a:r>
            <a:endParaRPr lang="en-US" sz="900" dirty="0"/>
          </a:p>
        </p:txBody>
      </p:sp>
      <p:sp>
        <p:nvSpPr>
          <p:cNvPr id="37" name="text-92"/>
          <p:cNvSpPr txBox="1"/>
          <p:nvPr/>
        </p:nvSpPr>
        <p:spPr>
          <a:xfrm>
            <a:off x="4745736" y="37307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Board / steering committee papers</a:t>
            </a:r>
            <a:endParaRPr lang="en-US" sz="1050" dirty="0"/>
          </a:p>
        </p:txBody>
      </p:sp>
      <p:sp>
        <p:nvSpPr>
          <p:cNvPr id="38" name="card-93"/>
          <p:cNvSpPr/>
          <p:nvPr/>
        </p:nvSpPr>
        <p:spPr>
          <a:xfrm>
            <a:off x="6684264" y="3364992"/>
            <a:ext cx="1938528" cy="1252728"/>
          </a:xfrm>
          <a:prstGeom prst="roundRect">
            <a:avLst>
              <a:gd name="adj" fmla="val 583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-94"/>
          <p:cNvSpPr txBox="1"/>
          <p:nvPr/>
        </p:nvSpPr>
        <p:spPr>
          <a:xfrm>
            <a:off x="6821424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WEEK 4</a:t>
            </a:r>
            <a:endParaRPr lang="en-US" sz="900" dirty="0"/>
          </a:p>
        </p:txBody>
      </p:sp>
      <p:sp>
        <p:nvSpPr>
          <p:cNvPr id="40" name="text-95"/>
          <p:cNvSpPr txBox="1"/>
          <p:nvPr/>
        </p:nvSpPr>
        <p:spPr>
          <a:xfrm>
            <a:off x="6821424" y="37307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Fleet, petty cash and office supplies reconciliation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management – before, during, after</a:t>
            </a:r>
            <a:endParaRPr lang="en-US" sz="2400" dirty="0"/>
          </a:p>
        </p:txBody>
      </p:sp>
      <p:sp>
        <p:nvSpPr>
          <p:cNvPr id="3" name="card-96"/>
          <p:cNvSpPr/>
          <p:nvPr/>
        </p:nvSpPr>
        <p:spPr>
          <a:xfrm>
            <a:off x="45720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4" name="dot-97"/>
          <p:cNvSpPr/>
          <p:nvPr/>
        </p:nvSpPr>
        <p:spPr>
          <a:xfrm>
            <a:off x="658368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309421"/>
            <a:ext cx="307238" cy="307238"/>
          </a:xfrm>
          <a:prstGeom prst="rect">
            <a:avLst/>
          </a:prstGeom>
        </p:spPr>
      </p:pic>
      <p:sp>
        <p:nvSpPr>
          <p:cNvPr id="6" name="text-99"/>
          <p:cNvSpPr txBox="1"/>
          <p:nvPr/>
        </p:nvSpPr>
        <p:spPr>
          <a:xfrm>
            <a:off x="132588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mt-dot-0-0"/>
          <p:cNvSpPr/>
          <p:nvPr/>
        </p:nvSpPr>
        <p:spPr>
          <a:xfrm>
            <a:off x="704088" y="202996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-100"/>
          <p:cNvSpPr txBox="1"/>
          <p:nvPr/>
        </p:nvSpPr>
        <p:spPr>
          <a:xfrm>
            <a:off x="91440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Agenda agreed with the PD 48 h ahead</a:t>
            </a:r>
            <a:endParaRPr lang="en-US" sz="1050" dirty="0"/>
          </a:p>
        </p:txBody>
      </p:sp>
      <p:sp>
        <p:nvSpPr>
          <p:cNvPr id="9" name="mt-dot-0-1"/>
          <p:cNvSpPr/>
          <p:nvPr/>
        </p:nvSpPr>
        <p:spPr>
          <a:xfrm>
            <a:off x="704088" y="267004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-101"/>
          <p:cNvSpPr txBox="1"/>
          <p:nvPr/>
        </p:nvSpPr>
        <p:spPr>
          <a:xfrm>
            <a:off x="91440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Room, screen and refreshments booked</a:t>
            </a:r>
            <a:endParaRPr lang="en-US" sz="1050" dirty="0"/>
          </a:p>
        </p:txBody>
      </p:sp>
      <p:sp>
        <p:nvSpPr>
          <p:cNvPr id="11" name="mt-dot-0-2"/>
          <p:cNvSpPr/>
          <p:nvPr/>
        </p:nvSpPr>
        <p:spPr>
          <a:xfrm>
            <a:off x="704088" y="331012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-102"/>
          <p:cNvSpPr txBox="1"/>
          <p:nvPr/>
        </p:nvSpPr>
        <p:spPr>
          <a:xfrm>
            <a:off x="91440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Previous action log and pack printed</a:t>
            </a:r>
            <a:endParaRPr lang="en-US" sz="1050" dirty="0"/>
          </a:p>
        </p:txBody>
      </p:sp>
      <p:sp>
        <p:nvSpPr>
          <p:cNvPr id="13" name="mt-dot-0-3"/>
          <p:cNvSpPr/>
          <p:nvPr/>
        </p:nvSpPr>
        <p:spPr>
          <a:xfrm>
            <a:off x="704088" y="395020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-103"/>
          <p:cNvSpPr txBox="1"/>
          <p:nvPr/>
        </p:nvSpPr>
        <p:spPr>
          <a:xfrm>
            <a:off x="91440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Calendar invite with dial-in sent</a:t>
            </a:r>
            <a:endParaRPr lang="en-US" sz="1050" dirty="0"/>
          </a:p>
        </p:txBody>
      </p:sp>
      <p:sp>
        <p:nvSpPr>
          <p:cNvPr id="15" name="card-104"/>
          <p:cNvSpPr/>
          <p:nvPr/>
        </p:nvSpPr>
        <p:spPr>
          <a:xfrm>
            <a:off x="324612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16" name="dot-105"/>
          <p:cNvSpPr/>
          <p:nvPr/>
        </p:nvSpPr>
        <p:spPr>
          <a:xfrm>
            <a:off x="3447288" y="11887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1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989" y="1309421"/>
            <a:ext cx="307238" cy="307238"/>
          </a:xfrm>
          <a:prstGeom prst="rect">
            <a:avLst/>
          </a:prstGeom>
        </p:spPr>
      </p:pic>
      <p:sp>
        <p:nvSpPr>
          <p:cNvPr id="18" name="text-107"/>
          <p:cNvSpPr txBox="1"/>
          <p:nvPr/>
        </p:nvSpPr>
        <p:spPr>
          <a:xfrm>
            <a:off x="411480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1600" dirty="0"/>
          </a:p>
        </p:txBody>
      </p:sp>
      <p:sp>
        <p:nvSpPr>
          <p:cNvPr id="19" name="mt-dot-1-0"/>
          <p:cNvSpPr/>
          <p:nvPr/>
        </p:nvSpPr>
        <p:spPr>
          <a:xfrm>
            <a:off x="3493008" y="2029968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108"/>
          <p:cNvSpPr txBox="1"/>
          <p:nvPr/>
        </p:nvSpPr>
        <p:spPr>
          <a:xfrm>
            <a:off x="370332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Attendance recorded</a:t>
            </a:r>
            <a:endParaRPr lang="en-US" sz="1050" dirty="0"/>
          </a:p>
        </p:txBody>
      </p:sp>
      <p:sp>
        <p:nvSpPr>
          <p:cNvPr id="21" name="mt-dot-1-1"/>
          <p:cNvSpPr/>
          <p:nvPr/>
        </p:nvSpPr>
        <p:spPr>
          <a:xfrm>
            <a:off x="3493008" y="2670048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-109"/>
          <p:cNvSpPr txBox="1"/>
          <p:nvPr/>
        </p:nvSpPr>
        <p:spPr>
          <a:xfrm>
            <a:off x="370332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Decisions and actions captured live</a:t>
            </a:r>
            <a:endParaRPr lang="en-US" sz="1050" dirty="0"/>
          </a:p>
        </p:txBody>
      </p:sp>
      <p:sp>
        <p:nvSpPr>
          <p:cNvPr id="23" name="mt-dot-1-2"/>
          <p:cNvSpPr/>
          <p:nvPr/>
        </p:nvSpPr>
        <p:spPr>
          <a:xfrm>
            <a:off x="3493008" y="3310128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-110"/>
          <p:cNvSpPr txBox="1"/>
          <p:nvPr/>
        </p:nvSpPr>
        <p:spPr>
          <a:xfrm>
            <a:off x="370332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Owners and due dates confirmed</a:t>
            </a:r>
            <a:endParaRPr lang="en-US" sz="1050" dirty="0"/>
          </a:p>
        </p:txBody>
      </p:sp>
      <p:sp>
        <p:nvSpPr>
          <p:cNvPr id="25" name="mt-dot-1-3"/>
          <p:cNvSpPr/>
          <p:nvPr/>
        </p:nvSpPr>
        <p:spPr>
          <a:xfrm>
            <a:off x="3493008" y="3950208"/>
            <a:ext cx="109728" cy="1097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-111"/>
          <p:cNvSpPr txBox="1"/>
          <p:nvPr/>
        </p:nvSpPr>
        <p:spPr>
          <a:xfrm>
            <a:off x="370332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Time-keeping cue to the chair</a:t>
            </a:r>
            <a:endParaRPr lang="en-US" sz="1050" dirty="0"/>
          </a:p>
        </p:txBody>
      </p:sp>
      <p:sp>
        <p:nvSpPr>
          <p:cNvPr id="27" name="card-112"/>
          <p:cNvSpPr/>
          <p:nvPr/>
        </p:nvSpPr>
        <p:spPr>
          <a:xfrm>
            <a:off x="6035040" y="1005840"/>
            <a:ext cx="2606040" cy="361188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28" name="dot-113"/>
          <p:cNvSpPr/>
          <p:nvPr/>
        </p:nvSpPr>
        <p:spPr>
          <a:xfrm>
            <a:off x="6236208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-1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09" y="1309421"/>
            <a:ext cx="307238" cy="307238"/>
          </a:xfrm>
          <a:prstGeom prst="rect">
            <a:avLst/>
          </a:prstGeom>
        </p:spPr>
      </p:pic>
      <p:sp>
        <p:nvSpPr>
          <p:cNvPr id="30" name="text-115"/>
          <p:cNvSpPr txBox="1"/>
          <p:nvPr/>
        </p:nvSpPr>
        <p:spPr>
          <a:xfrm>
            <a:off x="690372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600" dirty="0"/>
          </a:p>
        </p:txBody>
      </p:sp>
      <p:sp>
        <p:nvSpPr>
          <p:cNvPr id="31" name="mt-dot-2-0"/>
          <p:cNvSpPr/>
          <p:nvPr/>
        </p:nvSpPr>
        <p:spPr>
          <a:xfrm>
            <a:off x="6281928" y="202996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-116"/>
          <p:cNvSpPr txBox="1"/>
          <p:nvPr/>
        </p:nvSpPr>
        <p:spPr>
          <a:xfrm>
            <a:off x="649224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Minutes issued within 24 hours</a:t>
            </a:r>
            <a:endParaRPr lang="en-US" sz="1050" dirty="0"/>
          </a:p>
        </p:txBody>
      </p:sp>
      <p:sp>
        <p:nvSpPr>
          <p:cNvPr id="33" name="mt-dot-2-1"/>
          <p:cNvSpPr/>
          <p:nvPr/>
        </p:nvSpPr>
        <p:spPr>
          <a:xfrm>
            <a:off x="6281928" y="267004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-117"/>
          <p:cNvSpPr txBox="1"/>
          <p:nvPr/>
        </p:nvSpPr>
        <p:spPr>
          <a:xfrm>
            <a:off x="649224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Action log updated and shared</a:t>
            </a:r>
            <a:endParaRPr lang="en-US" sz="1050" dirty="0"/>
          </a:p>
        </p:txBody>
      </p:sp>
      <p:sp>
        <p:nvSpPr>
          <p:cNvPr id="35" name="mt-dot-2-2"/>
          <p:cNvSpPr/>
          <p:nvPr/>
        </p:nvSpPr>
        <p:spPr>
          <a:xfrm>
            <a:off x="6281928" y="331012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-118"/>
          <p:cNvSpPr txBox="1"/>
          <p:nvPr/>
        </p:nvSpPr>
        <p:spPr>
          <a:xfrm>
            <a:off x="649224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Follow-ups booked in diaries</a:t>
            </a:r>
            <a:endParaRPr lang="en-US" sz="1050" dirty="0"/>
          </a:p>
        </p:txBody>
      </p:sp>
      <p:sp>
        <p:nvSpPr>
          <p:cNvPr id="37" name="mt-dot-2-3"/>
          <p:cNvSpPr/>
          <p:nvPr/>
        </p:nvSpPr>
        <p:spPr>
          <a:xfrm>
            <a:off x="6281928" y="3950208"/>
            <a:ext cx="109728" cy="1097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8" name="text-119"/>
          <p:cNvSpPr txBox="1"/>
          <p:nvPr/>
        </p:nvSpPr>
        <p:spPr>
          <a:xfrm>
            <a:off x="649224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Signed minutes filed in Aconex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Filing structure &amp; naming rule</a:t>
            </a:r>
            <a:endParaRPr lang="en-US" sz="2400" dirty="0"/>
          </a:p>
        </p:txBody>
      </p:sp>
      <p:sp>
        <p:nvSpPr>
          <p:cNvPr id="3" name="card-120"/>
          <p:cNvSpPr/>
          <p:nvPr/>
        </p:nvSpPr>
        <p:spPr>
          <a:xfrm>
            <a:off x="457200" y="1005840"/>
            <a:ext cx="475488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pic>
        <p:nvPicPr>
          <p:cNvPr id="4" name="tree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16152"/>
            <a:ext cx="237744" cy="237744"/>
          </a:xfrm>
          <a:prstGeom prst="rect">
            <a:avLst/>
          </a:prstGeom>
        </p:spPr>
      </p:pic>
      <p:sp>
        <p:nvSpPr>
          <p:cNvPr id="5" name="text-121"/>
          <p:cNvSpPr txBox="1"/>
          <p:nvPr/>
        </p:nvSpPr>
        <p:spPr>
          <a:xfrm>
            <a:off x="1033272" y="11887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PDO_Shared  (Office of the PD)</a:t>
            </a:r>
            <a:endParaRPr lang="en-US" sz="1150" dirty="0"/>
          </a:p>
        </p:txBody>
      </p:sp>
      <p:sp>
        <p:nvSpPr>
          <p:cNvPr id="6" name="line-122"/>
          <p:cNvSpPr/>
          <p:nvPr/>
        </p:nvSpPr>
        <p:spPr>
          <a:xfrm>
            <a:off x="822960" y="170992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7" name="tree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81912"/>
            <a:ext cx="237744" cy="237744"/>
          </a:xfrm>
          <a:prstGeom prst="rect">
            <a:avLst/>
          </a:prstGeom>
        </p:spPr>
      </p:pic>
      <p:sp>
        <p:nvSpPr>
          <p:cNvPr id="8" name="text-123"/>
          <p:cNvSpPr txBox="1"/>
          <p:nvPr/>
        </p:nvSpPr>
        <p:spPr>
          <a:xfrm>
            <a:off x="1444752" y="1554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01_Correspondence  ·  IN / OUT by year</a:t>
            </a:r>
            <a:endParaRPr lang="en-US" sz="1050" dirty="0"/>
          </a:p>
        </p:txBody>
      </p:sp>
      <p:sp>
        <p:nvSpPr>
          <p:cNvPr id="9" name="line-124"/>
          <p:cNvSpPr/>
          <p:nvPr/>
        </p:nvSpPr>
        <p:spPr>
          <a:xfrm>
            <a:off x="822960" y="207568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tree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47672"/>
            <a:ext cx="237744" cy="237744"/>
          </a:xfrm>
          <a:prstGeom prst="rect">
            <a:avLst/>
          </a:prstGeom>
        </p:spPr>
      </p:pic>
      <p:sp>
        <p:nvSpPr>
          <p:cNvPr id="11" name="text-125"/>
          <p:cNvSpPr txBox="1"/>
          <p:nvPr/>
        </p:nvSpPr>
        <p:spPr>
          <a:xfrm>
            <a:off x="1444752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02_Meetings  ·  agenda, minutes, action logs</a:t>
            </a:r>
            <a:endParaRPr lang="en-US" sz="1050" dirty="0"/>
          </a:p>
        </p:txBody>
      </p:sp>
      <p:sp>
        <p:nvSpPr>
          <p:cNvPr id="12" name="line-126"/>
          <p:cNvSpPr/>
          <p:nvPr/>
        </p:nvSpPr>
        <p:spPr>
          <a:xfrm>
            <a:off x="822960" y="244144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tree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13432"/>
            <a:ext cx="237744" cy="237744"/>
          </a:xfrm>
          <a:prstGeom prst="rect">
            <a:avLst/>
          </a:prstGeom>
        </p:spPr>
      </p:pic>
      <p:sp>
        <p:nvSpPr>
          <p:cNvPr id="14" name="text-127"/>
          <p:cNvSpPr txBox="1"/>
          <p:nvPr/>
        </p:nvSpPr>
        <p:spPr>
          <a:xfrm>
            <a:off x="1444752" y="22860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03_Approvals  ·  PR/PO, IPC, contracts</a:t>
            </a:r>
            <a:endParaRPr lang="en-US" sz="1050" dirty="0"/>
          </a:p>
        </p:txBody>
      </p:sp>
      <p:sp>
        <p:nvSpPr>
          <p:cNvPr id="15" name="line-128"/>
          <p:cNvSpPr/>
          <p:nvPr/>
        </p:nvSpPr>
        <p:spPr>
          <a:xfrm>
            <a:off x="822960" y="280720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tree-ic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679192"/>
            <a:ext cx="237744" cy="237744"/>
          </a:xfrm>
          <a:prstGeom prst="rect">
            <a:avLst/>
          </a:prstGeom>
        </p:spPr>
      </p:pic>
      <p:sp>
        <p:nvSpPr>
          <p:cNvPr id="17" name="text-129"/>
          <p:cNvSpPr txBox="1"/>
          <p:nvPr/>
        </p:nvSpPr>
        <p:spPr>
          <a:xfrm>
            <a:off x="1444752" y="26517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04_Reports  ·  weekly, monthly, board</a:t>
            </a:r>
            <a:endParaRPr lang="en-US" sz="1050" dirty="0"/>
          </a:p>
        </p:txBody>
      </p:sp>
      <p:sp>
        <p:nvSpPr>
          <p:cNvPr id="18" name="line-130"/>
          <p:cNvSpPr/>
          <p:nvPr/>
        </p:nvSpPr>
        <p:spPr>
          <a:xfrm>
            <a:off x="822960" y="317296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tree-ic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044952"/>
            <a:ext cx="237744" cy="237744"/>
          </a:xfrm>
          <a:prstGeom prst="rect">
            <a:avLst/>
          </a:prstGeom>
        </p:spPr>
      </p:pic>
      <p:sp>
        <p:nvSpPr>
          <p:cNvPr id="20" name="text-131"/>
          <p:cNvSpPr txBox="1"/>
          <p:nvPr/>
        </p:nvSpPr>
        <p:spPr>
          <a:xfrm>
            <a:off x="1444752" y="3017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05_HR_Admin  ·  leave, visas, releases</a:t>
            </a:r>
            <a:endParaRPr lang="en-US" sz="1050" dirty="0"/>
          </a:p>
        </p:txBody>
      </p:sp>
      <p:sp>
        <p:nvSpPr>
          <p:cNvPr id="21" name="line-132"/>
          <p:cNvSpPr/>
          <p:nvPr/>
        </p:nvSpPr>
        <p:spPr>
          <a:xfrm>
            <a:off x="822960" y="353872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tree-ic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410712"/>
            <a:ext cx="237744" cy="237744"/>
          </a:xfrm>
          <a:prstGeom prst="rect">
            <a:avLst/>
          </a:prstGeom>
        </p:spPr>
      </p:pic>
      <p:sp>
        <p:nvSpPr>
          <p:cNvPr id="23" name="text-133"/>
          <p:cNvSpPr txBox="1"/>
          <p:nvPr/>
        </p:nvSpPr>
        <p:spPr>
          <a:xfrm>
            <a:off x="1444752" y="33832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06_Travel_Fleet  ·  bookings, roster</a:t>
            </a:r>
            <a:endParaRPr lang="en-US" sz="1050" dirty="0"/>
          </a:p>
        </p:txBody>
      </p:sp>
      <p:sp>
        <p:nvSpPr>
          <p:cNvPr id="24" name="line-134"/>
          <p:cNvSpPr/>
          <p:nvPr/>
        </p:nvSpPr>
        <p:spPr>
          <a:xfrm>
            <a:off x="822960" y="390448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tree-ic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3776472"/>
            <a:ext cx="237744" cy="237744"/>
          </a:xfrm>
          <a:prstGeom prst="rect">
            <a:avLst/>
          </a:prstGeom>
        </p:spPr>
      </p:pic>
      <p:sp>
        <p:nvSpPr>
          <p:cNvPr id="26" name="text-135"/>
          <p:cNvSpPr txBox="1"/>
          <p:nvPr/>
        </p:nvSpPr>
        <p:spPr>
          <a:xfrm>
            <a:off x="1444752" y="37490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07_Visitors_Events  ·  VIP plans</a:t>
            </a:r>
            <a:endParaRPr lang="en-US" sz="1050" dirty="0"/>
          </a:p>
        </p:txBody>
      </p:sp>
      <p:sp>
        <p:nvSpPr>
          <p:cNvPr id="27" name="line-136"/>
          <p:cNvSpPr/>
          <p:nvPr/>
        </p:nvSpPr>
        <p:spPr>
          <a:xfrm>
            <a:off x="822960" y="4270248"/>
            <a:ext cx="27432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tree-ic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4142232"/>
            <a:ext cx="237744" cy="237744"/>
          </a:xfrm>
          <a:prstGeom prst="rect">
            <a:avLst/>
          </a:prstGeom>
        </p:spPr>
      </p:pic>
      <p:sp>
        <p:nvSpPr>
          <p:cNvPr id="29" name="text-137"/>
          <p:cNvSpPr txBox="1"/>
          <p:nvPr/>
        </p:nvSpPr>
        <p:spPr>
          <a:xfrm>
            <a:off x="1444752" y="41148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99_Archive  ·  closed items</a:t>
            </a:r>
            <a:endParaRPr lang="en-US" sz="1050" dirty="0"/>
          </a:p>
        </p:txBody>
      </p:sp>
      <p:sp>
        <p:nvSpPr>
          <p:cNvPr id="30" name="line-138"/>
          <p:cNvSpPr/>
          <p:nvPr/>
        </p:nvSpPr>
        <p:spPr>
          <a:xfrm>
            <a:off x="822960" y="1508760"/>
            <a:ext cx="0" cy="2852928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1" name="card-139"/>
          <p:cNvSpPr/>
          <p:nvPr/>
        </p:nvSpPr>
        <p:spPr>
          <a:xfrm>
            <a:off x="5394960" y="1005840"/>
            <a:ext cx="3291840" cy="361188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32" name="text-140"/>
          <p:cNvSpPr txBox="1"/>
          <p:nvPr/>
        </p:nvSpPr>
        <p:spPr>
          <a:xfrm>
            <a:off x="562356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naming rule</a:t>
            </a:r>
            <a:endParaRPr lang="en-US" sz="1400" dirty="0"/>
          </a:p>
        </p:txBody>
      </p:sp>
      <p:sp>
        <p:nvSpPr>
          <p:cNvPr id="33" name="text-141"/>
          <p:cNvSpPr txBox="1"/>
          <p:nvPr/>
        </p:nvSpPr>
        <p:spPr>
          <a:xfrm>
            <a:off x="56235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YYYYMMDD_Ref_Subject_Rev</a:t>
            </a:r>
            <a:endParaRPr lang="en-US" sz="1300" dirty="0"/>
          </a:p>
        </p:txBody>
      </p:sp>
      <p:sp>
        <p:nvSpPr>
          <p:cNvPr id="34" name="text-142"/>
          <p:cNvSpPr txBox="1"/>
          <p:nvPr/>
        </p:nvSpPr>
        <p:spPr>
          <a:xfrm>
            <a:off x="5623560" y="2103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4"/>
                </a:solidFill>
              </a:rPr>
              <a:t>Example</a:t>
            </a:r>
            <a:endParaRPr lang="en-US" sz="900" dirty="0"/>
          </a:p>
        </p:txBody>
      </p:sp>
      <p:sp>
        <p:nvSpPr>
          <p:cNvPr id="35" name="text-143"/>
          <p:cNvSpPr txBox="1"/>
          <p:nvPr/>
        </p:nvSpPr>
        <p:spPr>
          <a:xfrm>
            <a:off x="562356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20261118_DHJV-CGDA-LT-0412_TBM_Ceremony_Invite_R1.pdf</a:t>
            </a:r>
            <a:endParaRPr lang="en-US" sz="1000" dirty="0"/>
          </a:p>
        </p:txBody>
      </p:sp>
      <p:sp>
        <p:nvSpPr>
          <p:cNvPr id="36" name="text-144"/>
          <p:cNvSpPr txBox="1"/>
          <p:nvPr/>
        </p:nvSpPr>
        <p:spPr>
          <a:xfrm>
            <a:off x="5623560" y="30175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Signed copy = final; drafts stay in the working folder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Reference numbers only from the register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Confidential HR files in the restricted folder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 &amp; travel</a:t>
            </a:r>
            <a:endParaRPr lang="en-US" sz="2400" dirty="0"/>
          </a:p>
        </p:txBody>
      </p:sp>
      <p:graphicFrame>
        <p:nvGraphicFramePr>
          <p:cNvPr id="8" name="table-1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4805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051560"/>
                <a:gridCol w="146304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Driver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Assignment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Shift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DRV-01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Rashed K.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PD vehicle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06:30–16:30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DRV-02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Tariq A.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Executive pool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07:00–17:00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DRV-03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Nabeel S.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Executive pool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10:00–20:00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DRV-04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Hamza R.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Airport &amp; visitors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On call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DRV-05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Omar F.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Document runs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08:00–17:00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-146"/>
          <p:cNvSpPr txBox="1"/>
          <p:nvPr/>
        </p:nvSpPr>
        <p:spPr>
          <a:xfrm>
            <a:off x="457200" y="3611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Driver plan for the next day is shared on the fleet group by 17:00.</a:t>
            </a:r>
            <a:endParaRPr lang="en-US" sz="1000" dirty="0"/>
          </a:p>
        </p:txBody>
      </p:sp>
      <p:sp>
        <p:nvSpPr>
          <p:cNvPr id="5" name="text-147"/>
          <p:cNvSpPr txBox="1"/>
          <p:nvPr/>
        </p:nvSpPr>
        <p:spPr>
          <a:xfrm>
            <a:off x="521208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travel – 5 steps</a:t>
            </a:r>
            <a:endParaRPr lang="en-US" sz="1300" dirty="0"/>
          </a:p>
        </p:txBody>
      </p:sp>
      <p:sp>
        <p:nvSpPr>
          <p:cNvPr id="6" name="dot-148"/>
          <p:cNvSpPr/>
          <p:nvPr/>
        </p:nvSpPr>
        <p:spPr>
          <a:xfrm>
            <a:off x="5212080" y="13716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-149"/>
          <p:cNvSpPr txBox="1"/>
          <p:nvPr/>
        </p:nvSpPr>
        <p:spPr>
          <a:xfrm>
            <a:off x="521208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card-150"/>
          <p:cNvSpPr/>
          <p:nvPr/>
        </p:nvSpPr>
        <p:spPr>
          <a:xfrm>
            <a:off x="5760720" y="1335024"/>
            <a:ext cx="292608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-151"/>
          <p:cNvSpPr txBox="1"/>
          <p:nvPr/>
        </p:nvSpPr>
        <p:spPr>
          <a:xfrm>
            <a:off x="5897880" y="133502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Travel request raised in Oracle</a:t>
            </a:r>
            <a:endParaRPr lang="en-US" sz="1050" dirty="0"/>
          </a:p>
        </p:txBody>
      </p:sp>
      <p:sp>
        <p:nvSpPr>
          <p:cNvPr id="10" name="dot-152"/>
          <p:cNvSpPr/>
          <p:nvPr/>
        </p:nvSpPr>
        <p:spPr>
          <a:xfrm>
            <a:off x="5212080" y="20116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-153"/>
          <p:cNvSpPr txBox="1"/>
          <p:nvPr/>
        </p:nvSpPr>
        <p:spPr>
          <a:xfrm>
            <a:off x="52120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card-154"/>
          <p:cNvSpPr/>
          <p:nvPr/>
        </p:nvSpPr>
        <p:spPr>
          <a:xfrm>
            <a:off x="5760720" y="1975104"/>
            <a:ext cx="292608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-155"/>
          <p:cNvSpPr txBox="1"/>
          <p:nvPr/>
        </p:nvSpPr>
        <p:spPr>
          <a:xfrm>
            <a:off x="5897880" y="197510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Line manager and PD approve</a:t>
            </a:r>
            <a:endParaRPr lang="en-US" sz="1050" dirty="0"/>
          </a:p>
        </p:txBody>
      </p:sp>
      <p:sp>
        <p:nvSpPr>
          <p:cNvPr id="14" name="dot-156"/>
          <p:cNvSpPr/>
          <p:nvPr/>
        </p:nvSpPr>
        <p:spPr>
          <a:xfrm>
            <a:off x="5212080" y="26517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um-157"/>
          <p:cNvSpPr txBox="1"/>
          <p:nvPr/>
        </p:nvSpPr>
        <p:spPr>
          <a:xfrm>
            <a:off x="521208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card-158"/>
          <p:cNvSpPr/>
          <p:nvPr/>
        </p:nvSpPr>
        <p:spPr>
          <a:xfrm>
            <a:off x="5760720" y="2615184"/>
            <a:ext cx="292608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-159"/>
          <p:cNvSpPr txBox="1"/>
          <p:nvPr/>
        </p:nvSpPr>
        <p:spPr>
          <a:xfrm>
            <a:off x="5897880" y="261518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Flights &amp; hotel booked via travel desk</a:t>
            </a:r>
            <a:endParaRPr lang="en-US" sz="1050" dirty="0"/>
          </a:p>
        </p:txBody>
      </p:sp>
      <p:sp>
        <p:nvSpPr>
          <p:cNvPr id="18" name="dot-160"/>
          <p:cNvSpPr/>
          <p:nvPr/>
        </p:nvSpPr>
        <p:spPr>
          <a:xfrm>
            <a:off x="5212080" y="3291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-161"/>
          <p:cNvSpPr txBox="1"/>
          <p:nvPr/>
        </p:nvSpPr>
        <p:spPr>
          <a:xfrm>
            <a:off x="521208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card-162"/>
          <p:cNvSpPr/>
          <p:nvPr/>
        </p:nvSpPr>
        <p:spPr>
          <a:xfrm>
            <a:off x="5760720" y="3255264"/>
            <a:ext cx="292608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-163"/>
          <p:cNvSpPr txBox="1"/>
          <p:nvPr/>
        </p:nvSpPr>
        <p:spPr>
          <a:xfrm>
            <a:off x="5897880" y="32552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Itinerary + driver pick-up sent to traveller</a:t>
            </a:r>
            <a:endParaRPr lang="en-US" sz="1050" dirty="0"/>
          </a:p>
        </p:txBody>
      </p:sp>
      <p:sp>
        <p:nvSpPr>
          <p:cNvPr id="22" name="dot-164"/>
          <p:cNvSpPr/>
          <p:nvPr/>
        </p:nvSpPr>
        <p:spPr>
          <a:xfrm>
            <a:off x="5212080" y="39319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um-165"/>
          <p:cNvSpPr txBox="1"/>
          <p:nvPr/>
        </p:nvSpPr>
        <p:spPr>
          <a:xfrm>
            <a:off x="52120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card-166"/>
          <p:cNvSpPr/>
          <p:nvPr/>
        </p:nvSpPr>
        <p:spPr>
          <a:xfrm>
            <a:off x="5760720" y="3895344"/>
            <a:ext cx="2926080" cy="493776"/>
          </a:xfrm>
          <a:prstGeom prst="roundRect">
            <a:avLst>
              <a:gd name="adj" fmla="val 148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-167"/>
          <p:cNvSpPr txBox="1"/>
          <p:nvPr/>
        </p:nvSpPr>
        <p:spPr>
          <a:xfrm>
            <a:off x="5897880" y="389534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Expense claim within 5 days of return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contacts</a:t>
            </a:r>
            <a:endParaRPr lang="en-US" sz="2400" dirty="0"/>
          </a:p>
        </p:txBody>
      </p:sp>
      <p:graphicFrame>
        <p:nvGraphicFramePr>
          <p:cNvPr id="9" name="table-1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103120"/>
                <a:gridCol w="26517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Main topic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Contact them for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Project Director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Marco V.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Principal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Diary, approvals, travel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Project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Hana J.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Daily coordination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Meetings, client letters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Commercial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Dmitri L.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IPCs &amp; contracts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DocuSign envelopes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HR &amp; Admin Manager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Nadia B.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Leave, visas, releases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Staff movements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Document Controller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Ali Z.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Aconex &amp; register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Reference numbers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Fleet Supervisor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Imad Q.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Drivers &amp; vehicles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Daily driver plan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Client PMO (CGDA)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Reem T.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Client coordination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Meeting invites, visits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IT Helpdesk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Ext. 4400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Systems &amp; access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Laptop, email, printers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&amp; access transfer</a:t>
            </a:r>
            <a:endParaRPr lang="en-US" sz="2400" dirty="0"/>
          </a:p>
        </p:txBody>
      </p:sp>
      <p:sp>
        <p:nvSpPr>
          <p:cNvPr id="3" name="card-169"/>
          <p:cNvSpPr/>
          <p:nvPr/>
        </p:nvSpPr>
        <p:spPr>
          <a:xfrm>
            <a:off x="45720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4" name="dot-170"/>
          <p:cNvSpPr/>
          <p:nvPr/>
        </p:nvSpPr>
        <p:spPr>
          <a:xfrm>
            <a:off x="658368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10" y="1345082"/>
            <a:ext cx="281635" cy="281635"/>
          </a:xfrm>
          <a:prstGeom prst="rect">
            <a:avLst/>
          </a:prstGeom>
        </p:spPr>
      </p:pic>
      <p:sp>
        <p:nvSpPr>
          <p:cNvPr id="6" name="text-172"/>
          <p:cNvSpPr txBox="1"/>
          <p:nvPr/>
        </p:nvSpPr>
        <p:spPr>
          <a:xfrm>
            <a:off x="128016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Outlook &amp; PD calendar</a:t>
            </a:r>
            <a:endParaRPr lang="en-US" sz="1200" dirty="0"/>
          </a:p>
        </p:txBody>
      </p:sp>
      <p:sp>
        <p:nvSpPr>
          <p:cNvPr id="7" name="text-173"/>
          <p:cNvSpPr txBox="1"/>
          <p:nvPr/>
        </p:nvSpPr>
        <p:spPr>
          <a:xfrm>
            <a:off x="658368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Delegate access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Granted by: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IT Helpdesk</a:t>
            </a:r>
            <a:endParaRPr lang="en-US" sz="1000" dirty="0"/>
          </a:p>
        </p:txBody>
      </p:sp>
      <p:sp>
        <p:nvSpPr>
          <p:cNvPr id="8" name="card-174"/>
          <p:cNvSpPr/>
          <p:nvPr/>
        </p:nvSpPr>
        <p:spPr>
          <a:xfrm>
            <a:off x="324612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9" name="dot-175"/>
          <p:cNvSpPr/>
          <p:nvPr/>
        </p:nvSpPr>
        <p:spPr>
          <a:xfrm>
            <a:off x="3447288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930" y="1345082"/>
            <a:ext cx="281635" cy="281635"/>
          </a:xfrm>
          <a:prstGeom prst="rect">
            <a:avLst/>
          </a:prstGeom>
        </p:spPr>
      </p:pic>
      <p:sp>
        <p:nvSpPr>
          <p:cNvPr id="11" name="text-177"/>
          <p:cNvSpPr txBox="1"/>
          <p:nvPr/>
        </p:nvSpPr>
        <p:spPr>
          <a:xfrm>
            <a:off x="406908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Oracle Fusion</a:t>
            </a:r>
            <a:endParaRPr lang="en-US" sz="1200" dirty="0"/>
          </a:p>
        </p:txBody>
      </p:sp>
      <p:sp>
        <p:nvSpPr>
          <p:cNvPr id="12" name="text-178"/>
          <p:cNvSpPr txBox="1"/>
          <p:nvPr/>
        </p:nvSpPr>
        <p:spPr>
          <a:xfrm>
            <a:off x="3447288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Requester + tracker role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Granted by: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ERP team</a:t>
            </a:r>
            <a:endParaRPr lang="en-US" sz="1000" dirty="0"/>
          </a:p>
        </p:txBody>
      </p:sp>
      <p:sp>
        <p:nvSpPr>
          <p:cNvPr id="13" name="card-179"/>
          <p:cNvSpPr/>
          <p:nvPr/>
        </p:nvSpPr>
        <p:spPr>
          <a:xfrm>
            <a:off x="6035040" y="1005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14" name="dot-180"/>
          <p:cNvSpPr/>
          <p:nvPr/>
        </p:nvSpPr>
        <p:spPr>
          <a:xfrm>
            <a:off x="6236208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1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850" y="1345082"/>
            <a:ext cx="281635" cy="281635"/>
          </a:xfrm>
          <a:prstGeom prst="rect">
            <a:avLst/>
          </a:prstGeom>
        </p:spPr>
      </p:pic>
      <p:sp>
        <p:nvSpPr>
          <p:cNvPr id="16" name="text-182"/>
          <p:cNvSpPr txBox="1"/>
          <p:nvPr/>
        </p:nvSpPr>
        <p:spPr>
          <a:xfrm>
            <a:off x="685800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DocuSign</a:t>
            </a:r>
            <a:endParaRPr lang="en-US" sz="1200" dirty="0"/>
          </a:p>
        </p:txBody>
      </p:sp>
      <p:sp>
        <p:nvSpPr>
          <p:cNvPr id="17" name="text-183"/>
          <p:cNvSpPr txBox="1"/>
          <p:nvPr/>
        </p:nvSpPr>
        <p:spPr>
          <a:xfrm>
            <a:off x="6236208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Sender account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Granted by: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Commercial</a:t>
            </a:r>
            <a:endParaRPr lang="en-US" sz="1000" dirty="0"/>
          </a:p>
        </p:txBody>
      </p:sp>
      <p:sp>
        <p:nvSpPr>
          <p:cNvPr id="18" name="card-184"/>
          <p:cNvSpPr/>
          <p:nvPr/>
        </p:nvSpPr>
        <p:spPr>
          <a:xfrm>
            <a:off x="45720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19" name="dot-185"/>
          <p:cNvSpPr/>
          <p:nvPr/>
        </p:nvSpPr>
        <p:spPr>
          <a:xfrm>
            <a:off x="658368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1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" y="3128162"/>
            <a:ext cx="281635" cy="281635"/>
          </a:xfrm>
          <a:prstGeom prst="rect">
            <a:avLst/>
          </a:prstGeom>
        </p:spPr>
      </p:pic>
      <p:sp>
        <p:nvSpPr>
          <p:cNvPr id="21" name="text-187"/>
          <p:cNvSpPr txBox="1"/>
          <p:nvPr/>
        </p:nvSpPr>
        <p:spPr>
          <a:xfrm>
            <a:off x="128016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Aconex</a:t>
            </a:r>
            <a:endParaRPr lang="en-US" sz="1200" dirty="0"/>
          </a:p>
        </p:txBody>
      </p:sp>
      <p:sp>
        <p:nvSpPr>
          <p:cNvPr id="22" name="text-188"/>
          <p:cNvSpPr txBox="1"/>
          <p:nvPr/>
        </p:nvSpPr>
        <p:spPr>
          <a:xfrm>
            <a:off x="658368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Executive Office user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Granted by: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Document Control</a:t>
            </a:r>
            <a:endParaRPr lang="en-US" sz="1000" dirty="0"/>
          </a:p>
        </p:txBody>
      </p:sp>
      <p:sp>
        <p:nvSpPr>
          <p:cNvPr id="23" name="card-189"/>
          <p:cNvSpPr/>
          <p:nvPr/>
        </p:nvSpPr>
        <p:spPr>
          <a:xfrm>
            <a:off x="324612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24" name="dot-190"/>
          <p:cNvSpPr/>
          <p:nvPr/>
        </p:nvSpPr>
        <p:spPr>
          <a:xfrm>
            <a:off x="3447288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19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930" y="3128162"/>
            <a:ext cx="281635" cy="281635"/>
          </a:xfrm>
          <a:prstGeom prst="rect">
            <a:avLst/>
          </a:prstGeom>
        </p:spPr>
      </p:pic>
      <p:sp>
        <p:nvSpPr>
          <p:cNvPr id="26" name="text-192"/>
          <p:cNvSpPr txBox="1"/>
          <p:nvPr/>
        </p:nvSpPr>
        <p:spPr>
          <a:xfrm>
            <a:off x="406908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Office keys &amp; safe</a:t>
            </a:r>
            <a:endParaRPr lang="en-US" sz="1200" dirty="0"/>
          </a:p>
        </p:txBody>
      </p:sp>
      <p:sp>
        <p:nvSpPr>
          <p:cNvPr id="27" name="text-193"/>
          <p:cNvSpPr txBox="1"/>
          <p:nvPr/>
        </p:nvSpPr>
        <p:spPr>
          <a:xfrm>
            <a:off x="3447288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Physical handover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Granted by: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Outgoing EA</a:t>
            </a:r>
            <a:endParaRPr lang="en-US" sz="1000" dirty="0"/>
          </a:p>
        </p:txBody>
      </p:sp>
      <p:sp>
        <p:nvSpPr>
          <p:cNvPr id="28" name="card-194"/>
          <p:cNvSpPr/>
          <p:nvPr/>
        </p:nvSpPr>
        <p:spPr>
          <a:xfrm>
            <a:off x="6035040" y="2788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29" name="dot-195"/>
          <p:cNvSpPr/>
          <p:nvPr/>
        </p:nvSpPr>
        <p:spPr>
          <a:xfrm>
            <a:off x="6236208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19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850" y="3128162"/>
            <a:ext cx="281635" cy="281635"/>
          </a:xfrm>
          <a:prstGeom prst="rect">
            <a:avLst/>
          </a:prstGeom>
        </p:spPr>
      </p:pic>
      <p:sp>
        <p:nvSpPr>
          <p:cNvPr id="31" name="text-197"/>
          <p:cNvSpPr txBox="1"/>
          <p:nvPr/>
        </p:nvSpPr>
        <p:spPr>
          <a:xfrm>
            <a:off x="6858000" y="3017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Visitor system</a:t>
            </a:r>
            <a:endParaRPr lang="en-US" sz="1200" dirty="0"/>
          </a:p>
        </p:txBody>
      </p:sp>
      <p:sp>
        <p:nvSpPr>
          <p:cNvPr id="32" name="text-198"/>
          <p:cNvSpPr txBox="1"/>
          <p:nvPr/>
        </p:nvSpPr>
        <p:spPr>
          <a:xfrm>
            <a:off x="6236208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Access: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Host approver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Granted by: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Security</a:t>
            </a:r>
            <a:endParaRPr lang="en-US" sz="1000" dirty="0"/>
          </a:p>
        </p:txBody>
      </p:sp>
      <p:sp>
        <p:nvSpPr>
          <p:cNvPr id="33" name="text-199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Passwords are never written in this pack – each new user sets their own on first login.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 checklist &amp; sign-off</a:t>
            </a:r>
            <a:endParaRPr lang="en-US" sz="2400" dirty="0"/>
          </a:p>
        </p:txBody>
      </p:sp>
      <p:sp>
        <p:nvSpPr>
          <p:cNvPr id="3" name="card-200"/>
          <p:cNvSpPr/>
          <p:nvPr/>
        </p:nvSpPr>
        <p:spPr>
          <a:xfrm>
            <a:off x="457200" y="1005840"/>
            <a:ext cx="512064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4" name="cb-0"/>
          <p:cNvSpPr/>
          <p:nvPr/>
        </p:nvSpPr>
        <p:spPr>
          <a:xfrm>
            <a:off x="685800" y="126187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cbk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43584"/>
            <a:ext cx="182880" cy="182880"/>
          </a:xfrm>
          <a:prstGeom prst="rect">
            <a:avLst/>
          </a:prstGeom>
        </p:spPr>
      </p:pic>
      <p:sp>
        <p:nvSpPr>
          <p:cNvPr id="6" name="text-201"/>
          <p:cNvSpPr txBox="1"/>
          <p:nvPr/>
        </p:nvSpPr>
        <p:spPr>
          <a:xfrm>
            <a:off x="1005840" y="1188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Diary for the next 4 weeks walked through</a:t>
            </a:r>
            <a:endParaRPr lang="en-US" sz="1050" dirty="0"/>
          </a:p>
        </p:txBody>
      </p:sp>
      <p:sp>
        <p:nvSpPr>
          <p:cNvPr id="7" name="cb-1"/>
          <p:cNvSpPr/>
          <p:nvPr/>
        </p:nvSpPr>
        <p:spPr>
          <a:xfrm>
            <a:off x="685800" y="167335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cbk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655064"/>
            <a:ext cx="182880" cy="182880"/>
          </a:xfrm>
          <a:prstGeom prst="rect">
            <a:avLst/>
          </a:prstGeom>
        </p:spPr>
      </p:pic>
      <p:sp>
        <p:nvSpPr>
          <p:cNvPr id="9" name="text-202"/>
          <p:cNvSpPr txBox="1"/>
          <p:nvPr/>
        </p:nvSpPr>
        <p:spPr>
          <a:xfrm>
            <a:off x="1005840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Open action logs and pending approvals listed</a:t>
            </a:r>
            <a:endParaRPr lang="en-US" sz="1050" dirty="0"/>
          </a:p>
        </p:txBody>
      </p:sp>
      <p:sp>
        <p:nvSpPr>
          <p:cNvPr id="10" name="cb-2"/>
          <p:cNvSpPr/>
          <p:nvPr/>
        </p:nvSpPr>
        <p:spPr>
          <a:xfrm>
            <a:off x="685800" y="208483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cbk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66544"/>
            <a:ext cx="182880" cy="182880"/>
          </a:xfrm>
          <a:prstGeom prst="rect">
            <a:avLst/>
          </a:prstGeom>
        </p:spPr>
      </p:pic>
      <p:sp>
        <p:nvSpPr>
          <p:cNvPr id="12" name="text-203"/>
          <p:cNvSpPr txBox="1"/>
          <p:nvPr/>
        </p:nvSpPr>
        <p:spPr>
          <a:xfrm>
            <a:off x="1005840" y="2011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Shared drive tour and filing rule explained</a:t>
            </a:r>
            <a:endParaRPr lang="en-US" sz="1050" dirty="0"/>
          </a:p>
        </p:txBody>
      </p:sp>
      <p:sp>
        <p:nvSpPr>
          <p:cNvPr id="13" name="cb-3"/>
          <p:cNvSpPr/>
          <p:nvPr/>
        </p:nvSpPr>
        <p:spPr>
          <a:xfrm>
            <a:off x="685800" y="249631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4" name="cbk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478024"/>
            <a:ext cx="182880" cy="182880"/>
          </a:xfrm>
          <a:prstGeom prst="rect">
            <a:avLst/>
          </a:prstGeom>
        </p:spPr>
      </p:pic>
      <p:sp>
        <p:nvSpPr>
          <p:cNvPr id="15" name="text-204"/>
          <p:cNvSpPr txBox="1"/>
          <p:nvPr/>
        </p:nvSpPr>
        <p:spPr>
          <a:xfrm>
            <a:off x="1005840" y="24231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Contact list introduced in person</a:t>
            </a:r>
            <a:endParaRPr lang="en-US" sz="1050" dirty="0"/>
          </a:p>
        </p:txBody>
      </p:sp>
      <p:sp>
        <p:nvSpPr>
          <p:cNvPr id="16" name="cb-4"/>
          <p:cNvSpPr/>
          <p:nvPr/>
        </p:nvSpPr>
        <p:spPr>
          <a:xfrm>
            <a:off x="685800" y="290779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7" name="cbk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889504"/>
            <a:ext cx="182880" cy="182880"/>
          </a:xfrm>
          <a:prstGeom prst="rect">
            <a:avLst/>
          </a:prstGeom>
        </p:spPr>
      </p:pic>
      <p:sp>
        <p:nvSpPr>
          <p:cNvPr id="18" name="text-205"/>
          <p:cNvSpPr txBox="1"/>
          <p:nvPr/>
        </p:nvSpPr>
        <p:spPr>
          <a:xfrm>
            <a:off x="1005840" y="2834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Driver roster and travel desk introduced</a:t>
            </a:r>
            <a:endParaRPr lang="en-US" sz="1050" dirty="0"/>
          </a:p>
        </p:txBody>
      </p:sp>
      <p:sp>
        <p:nvSpPr>
          <p:cNvPr id="19" name="cb-5"/>
          <p:cNvSpPr/>
          <p:nvPr/>
        </p:nvSpPr>
        <p:spPr>
          <a:xfrm>
            <a:off x="685800" y="331927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0" name="cbk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300984"/>
            <a:ext cx="182880" cy="182880"/>
          </a:xfrm>
          <a:prstGeom prst="rect">
            <a:avLst/>
          </a:prstGeom>
        </p:spPr>
      </p:pic>
      <p:sp>
        <p:nvSpPr>
          <p:cNvPr id="21" name="text-206"/>
          <p:cNvSpPr txBox="1"/>
          <p:nvPr/>
        </p:nvSpPr>
        <p:spPr>
          <a:xfrm>
            <a:off x="1005840" y="32461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System access granted and tested</a:t>
            </a:r>
            <a:endParaRPr lang="en-US" sz="1050" dirty="0"/>
          </a:p>
        </p:txBody>
      </p:sp>
      <p:sp>
        <p:nvSpPr>
          <p:cNvPr id="22" name="cb-6"/>
          <p:cNvSpPr/>
          <p:nvPr/>
        </p:nvSpPr>
        <p:spPr>
          <a:xfrm>
            <a:off x="685800" y="373075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-207"/>
          <p:cNvSpPr txBox="1"/>
          <p:nvPr/>
        </p:nvSpPr>
        <p:spPr>
          <a:xfrm>
            <a:off x="1005840" y="36576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Office keys, safe and stationery handed over</a:t>
            </a:r>
            <a:endParaRPr lang="en-US" sz="1050" dirty="0"/>
          </a:p>
        </p:txBody>
      </p:sp>
      <p:sp>
        <p:nvSpPr>
          <p:cNvPr id="24" name="cb-7"/>
          <p:cNvSpPr/>
          <p:nvPr/>
        </p:nvSpPr>
        <p:spPr>
          <a:xfrm>
            <a:off x="685800" y="4142232"/>
            <a:ext cx="182880" cy="182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-208"/>
          <p:cNvSpPr txBox="1"/>
          <p:nvPr/>
        </p:nvSpPr>
        <p:spPr>
          <a:xfrm>
            <a:off x="1005840" y="40690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Confidential files and HR papers handed over</a:t>
            </a:r>
            <a:endParaRPr lang="en-US" sz="1050" dirty="0"/>
          </a:p>
        </p:txBody>
      </p:sp>
      <p:sp>
        <p:nvSpPr>
          <p:cNvPr id="26" name="card-209"/>
          <p:cNvSpPr/>
          <p:nvPr/>
        </p:nvSpPr>
        <p:spPr>
          <a:xfrm>
            <a:off x="5760720" y="1005840"/>
            <a:ext cx="2926080" cy="361188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19050" dir="5400000">
              <a:srgbClr val="45192F">
                <a:alpha val="12000"/>
              </a:srgbClr>
            </a:outerShdw>
          </a:effectLst>
        </p:spPr>
      </p:sp>
      <p:sp>
        <p:nvSpPr>
          <p:cNvPr id="27" name="text-210"/>
          <p:cNvSpPr txBox="1"/>
          <p:nvPr/>
        </p:nvSpPr>
        <p:spPr>
          <a:xfrm>
            <a:off x="59893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</a:t>
            </a:r>
            <a:endParaRPr lang="en-US" sz="1400" dirty="0"/>
          </a:p>
        </p:txBody>
      </p:sp>
      <p:sp>
        <p:nvSpPr>
          <p:cNvPr id="28" name="text-211"/>
          <p:cNvSpPr txBox="1"/>
          <p:nvPr/>
        </p:nvSpPr>
        <p:spPr>
          <a:xfrm>
            <a:off x="598932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Outgoing EA</a:t>
            </a:r>
            <a:endParaRPr lang="en-US" sz="1050" dirty="0"/>
          </a:p>
        </p:txBody>
      </p:sp>
      <p:sp>
        <p:nvSpPr>
          <p:cNvPr id="29" name="line-212"/>
          <p:cNvSpPr/>
          <p:nvPr/>
        </p:nvSpPr>
        <p:spPr>
          <a:xfrm>
            <a:off x="5989320" y="2331720"/>
            <a:ext cx="24688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-213"/>
          <p:cNvSpPr txBox="1"/>
          <p:nvPr/>
        </p:nvSpPr>
        <p:spPr>
          <a:xfrm>
            <a:off x="5989320" y="23591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Signature / date</a:t>
            </a:r>
            <a:endParaRPr lang="en-US" sz="800" dirty="0"/>
          </a:p>
        </p:txBody>
      </p:sp>
      <p:sp>
        <p:nvSpPr>
          <p:cNvPr id="31" name="text-214"/>
          <p:cNvSpPr txBox="1"/>
          <p:nvPr/>
        </p:nvSpPr>
        <p:spPr>
          <a:xfrm>
            <a:off x="5989320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Incoming EA</a:t>
            </a:r>
            <a:endParaRPr lang="en-US" sz="1050" dirty="0"/>
          </a:p>
        </p:txBody>
      </p:sp>
      <p:sp>
        <p:nvSpPr>
          <p:cNvPr id="32" name="line-215"/>
          <p:cNvSpPr/>
          <p:nvPr/>
        </p:nvSpPr>
        <p:spPr>
          <a:xfrm>
            <a:off x="5989320" y="3246120"/>
            <a:ext cx="24688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-216"/>
          <p:cNvSpPr txBox="1"/>
          <p:nvPr/>
        </p:nvSpPr>
        <p:spPr>
          <a:xfrm>
            <a:off x="5989320" y="32735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Signature / date</a:t>
            </a:r>
            <a:endParaRPr lang="en-US" sz="800" dirty="0"/>
          </a:p>
        </p:txBody>
      </p:sp>
      <p:sp>
        <p:nvSpPr>
          <p:cNvPr id="34" name="text-217"/>
          <p:cNvSpPr txBox="1"/>
          <p:nvPr/>
        </p:nvSpPr>
        <p:spPr>
          <a:xfrm>
            <a:off x="5989320" y="3520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Project Director</a:t>
            </a:r>
            <a:endParaRPr lang="en-US" sz="1050" dirty="0"/>
          </a:p>
        </p:txBody>
      </p:sp>
      <p:sp>
        <p:nvSpPr>
          <p:cNvPr id="35" name="line-218"/>
          <p:cNvSpPr/>
          <p:nvPr/>
        </p:nvSpPr>
        <p:spPr>
          <a:xfrm>
            <a:off x="5989320" y="4160520"/>
            <a:ext cx="246888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-219"/>
          <p:cNvSpPr txBox="1"/>
          <p:nvPr/>
        </p:nvSpPr>
        <p:spPr>
          <a:xfrm>
            <a:off x="598932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4"/>
                </a:solidFill>
              </a:rPr>
              <a:t>Signature / date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 days</a:t>
            </a:r>
            <a:endParaRPr lang="en-US" sz="2400" dirty="0"/>
          </a:p>
        </p:txBody>
      </p:sp>
      <p:sp>
        <p:nvSpPr>
          <p:cNvPr id="3" name="card-220"/>
          <p:cNvSpPr/>
          <p:nvPr/>
        </p:nvSpPr>
        <p:spPr>
          <a:xfrm>
            <a:off x="457200" y="10515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221"/>
          <p:cNvSpPr txBox="1"/>
          <p:nvPr/>
        </p:nvSpPr>
        <p:spPr>
          <a:xfrm>
            <a:off x="68580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3"/>
                </a:solidFill>
              </a:rPr>
              <a:t>WEEK 1</a:t>
            </a:r>
            <a:endParaRPr lang="en-US" sz="950" dirty="0"/>
          </a:p>
        </p:txBody>
      </p:sp>
      <p:sp>
        <p:nvSpPr>
          <p:cNvPr id="5" name="text-222"/>
          <p:cNvSpPr txBox="1"/>
          <p:nvPr/>
        </p:nvSpPr>
        <p:spPr>
          <a:xfrm>
            <a:off x="685800" y="1481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</a:t>
            </a:r>
            <a:endParaRPr lang="en-US" sz="2400" dirty="0"/>
          </a:p>
        </p:txBody>
      </p:sp>
      <p:sp>
        <p:nvSpPr>
          <p:cNvPr id="6" name="text-223"/>
          <p:cNvSpPr txBox="1"/>
          <p:nvPr/>
        </p:nvSpPr>
        <p:spPr>
          <a:xfrm>
            <a:off x="685800" y="2103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Sit with the outgoing EA, attend every meeting, read the last 3 months of minutes.</a:t>
            </a:r>
            <a:endParaRPr lang="en-US" sz="1100" dirty="0"/>
          </a:p>
        </p:txBody>
      </p:sp>
      <p:sp>
        <p:nvSpPr>
          <p:cNvPr id="7" name="card-224"/>
          <p:cNvSpPr/>
          <p:nvPr/>
        </p:nvSpPr>
        <p:spPr>
          <a:xfrm>
            <a:off x="3246120" y="10515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225"/>
          <p:cNvSpPr txBox="1"/>
          <p:nvPr/>
        </p:nvSpPr>
        <p:spPr>
          <a:xfrm>
            <a:off x="347472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3"/>
                </a:solidFill>
              </a:rPr>
              <a:t>WEEK 2</a:t>
            </a:r>
            <a:endParaRPr lang="en-US" sz="950" dirty="0"/>
          </a:p>
        </p:txBody>
      </p:sp>
      <p:sp>
        <p:nvSpPr>
          <p:cNvPr id="9" name="text-226"/>
          <p:cNvSpPr txBox="1"/>
          <p:nvPr/>
        </p:nvSpPr>
        <p:spPr>
          <a:xfrm>
            <a:off x="3474720" y="1481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Co-run</a:t>
            </a:r>
            <a:endParaRPr lang="en-US" sz="2400" dirty="0"/>
          </a:p>
        </p:txBody>
      </p:sp>
      <p:sp>
        <p:nvSpPr>
          <p:cNvPr id="10" name="text-227"/>
          <p:cNvSpPr txBox="1"/>
          <p:nvPr/>
        </p:nvSpPr>
        <p:spPr>
          <a:xfrm>
            <a:off x="3474720" y="2103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Run the daily list and diary with support; meet each key contact.</a:t>
            </a:r>
            <a:endParaRPr lang="en-US" sz="1100" dirty="0"/>
          </a:p>
        </p:txBody>
      </p:sp>
      <p:sp>
        <p:nvSpPr>
          <p:cNvPr id="11" name="card-228"/>
          <p:cNvSpPr/>
          <p:nvPr/>
        </p:nvSpPr>
        <p:spPr>
          <a:xfrm>
            <a:off x="6035040" y="10515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-229"/>
          <p:cNvSpPr txBox="1"/>
          <p:nvPr/>
        </p:nvSpPr>
        <p:spPr>
          <a:xfrm>
            <a:off x="626364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tx1"/>
                </a:solidFill>
              </a:rPr>
              <a:t>WEEKS 3–4</a:t>
            </a:r>
            <a:endParaRPr lang="en-US" sz="950" dirty="0"/>
          </a:p>
        </p:txBody>
      </p:sp>
      <p:sp>
        <p:nvSpPr>
          <p:cNvPr id="13" name="text-230"/>
          <p:cNvSpPr txBox="1"/>
          <p:nvPr/>
        </p:nvSpPr>
        <p:spPr>
          <a:xfrm>
            <a:off x="6263640" y="1481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</a:t>
            </a:r>
            <a:endParaRPr lang="en-US" sz="2400" dirty="0"/>
          </a:p>
        </p:txBody>
      </p:sp>
      <p:sp>
        <p:nvSpPr>
          <p:cNvPr id="14" name="text-231"/>
          <p:cNvSpPr txBox="1"/>
          <p:nvPr/>
        </p:nvSpPr>
        <p:spPr>
          <a:xfrm>
            <a:off x="6263640" y="2103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the office independently; outgoing EA available for questions only.</a:t>
            </a:r>
            <a:endParaRPr lang="en-US" sz="1100" dirty="0"/>
          </a:p>
        </p:txBody>
      </p:sp>
      <p:sp>
        <p:nvSpPr>
          <p:cNvPr id="15" name="text-232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calm office is a planned office.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ry and Cream Playbook">
  <a:themeElements>
    <a:clrScheme name="Berry and Cream Playbook">
      <a:dk1>
        <a:srgbClr val="45192F"/>
      </a:dk1>
      <a:lt1>
        <a:srgbClr val="FFFFFF"/>
      </a:lt1>
      <a:dk2>
        <a:srgbClr val="7A5A66"/>
      </a:dk2>
      <a:lt2>
        <a:srgbClr val="F8F1EA"/>
      </a:lt2>
      <a:accent1>
        <a:srgbClr val="8E3B5E"/>
      </a:accent1>
      <a:accent2>
        <a:srgbClr val="D9A441"/>
      </a:accent2>
      <a:accent3>
        <a:srgbClr val="F1DFDB"/>
      </a:accent3>
      <a:accent4>
        <a:srgbClr val="C98B8F"/>
      </a:accent4>
      <a:accent5>
        <a:srgbClr val="3F6E5A"/>
      </a:accent5>
      <a:accent6>
        <a:srgbClr val="B5654F"/>
      </a:accent6>
      <a:hlink>
        <a:srgbClr val="8E3B5E"/>
      </a:hlink>
      <a:folHlink>
        <a:srgbClr val="7A5A66"/>
      </a:folHlink>
    </a:clrScheme>
    <a:fontScheme name="Berry and Cream Playboo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Desert Horizon JV (demo)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Assistant Handover and Office Playbook</dc:title>
  <dc:subject>PptxGenJS Presentation</dc:subject>
  <dc:creator>Sudheer Ahmed Khattak</dc:creator>
  <cp:lastModifiedBy>Sudheer Ahmed Khattak</cp:lastModifiedBy>
  <cp:revision>1</cp:revision>
  <dcterms:created xsi:type="dcterms:W3CDTF">2026-10-14T07:53:06Z</dcterms:created>
  <dcterms:modified xsi:type="dcterms:W3CDTF">2026-10-14T07:53:06Z</dcterms:modified>
</cp:coreProperties>
</file>