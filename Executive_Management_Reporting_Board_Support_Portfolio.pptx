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2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Action Exposure by Function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Finance</c:v>
                </c:pt>
                <c:pt idx="1">
                  <c:v>Procurement</c:v>
                </c:pt>
                <c:pt idx="2">
                  <c:v>Engineering</c:v>
                </c:pt>
                <c:pt idx="3">
                  <c:v>Document Control</c:v>
                </c:pt>
                <c:pt idx="4">
                  <c:v>HR/Admin</c:v>
                </c:pt>
                <c:pt idx="5">
                  <c:v>Logistics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11</c:v>
                </c:pt>
                <c:pt idx="3">
                  <c:v>15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4F-4F53-ADC0-2094E98B24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Overdue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Finance</c:v>
                </c:pt>
                <c:pt idx="1">
                  <c:v>Procurement</c:v>
                </c:pt>
                <c:pt idx="2">
                  <c:v>Engineering</c:v>
                </c:pt>
                <c:pt idx="3">
                  <c:v>Document Control</c:v>
                </c:pt>
                <c:pt idx="4">
                  <c:v>HR/Admin</c:v>
                </c:pt>
                <c:pt idx="5">
                  <c:v>Logistics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2</c:v>
                </c:pt>
                <c:pt idx="3">
                  <c:v>4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4F-4F53-ADC0-2094E98B24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Action Status Mix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D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04F-432F-BD7C-29F8B0DF3B07}"/>
              </c:ext>
            </c:extLst>
          </c:dPt>
          <c:dPt>
            <c:idx val="1"/>
            <c:bubble3D val="0"/>
            <c:spPr>
              <a:solidFill>
                <a:srgbClr val="2E53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04F-432F-BD7C-29F8B0DF3B07}"/>
              </c:ext>
            </c:extLst>
          </c:dPt>
          <c:dPt>
            <c:idx val="2"/>
            <c:bubble3D val="0"/>
            <c:spPr>
              <a:solidFill>
                <a:srgbClr val="C9A2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04F-432F-BD7C-29F8B0DF3B07}"/>
              </c:ext>
            </c:extLst>
          </c:dPt>
          <c:dPt>
            <c:idx val="3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04F-432F-BD7C-29F8B0DF3B0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04F-432F-BD7C-29F8B0DF3B0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04F-432F-BD7C-29F8B0DF3B0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04F-432F-BD7C-29F8B0DF3B0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04F-432F-BD7C-29F8B0DF3B0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Closed</c:v>
                </c:pt>
                <c:pt idx="1">
                  <c:v>In Progress</c:v>
                </c:pt>
                <c:pt idx="2">
                  <c:v>Open</c:v>
                </c:pt>
                <c:pt idx="3">
                  <c:v>Overdue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</c:v>
                </c:pt>
                <c:pt idx="1">
                  <c:v>31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04F-432F-BD7C-29F8B0DF3B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Correspondence Status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Correspondence 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9A2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265-4BD1-9CE2-655D1CABF186}"/>
              </c:ext>
            </c:extLst>
          </c:dPt>
          <c:dPt>
            <c:idx val="1"/>
            <c:bubble3D val="0"/>
            <c:spPr>
              <a:solidFill>
                <a:srgbClr val="2E539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265-4BD1-9CE2-655D1CABF186}"/>
              </c:ext>
            </c:extLst>
          </c:dPt>
          <c:dPt>
            <c:idx val="2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265-4BD1-9CE2-655D1CABF186}"/>
              </c:ext>
            </c:extLst>
          </c:dPt>
          <c:dPt>
            <c:idx val="3"/>
            <c:bubble3D val="0"/>
            <c:spPr>
              <a:solidFill>
                <a:srgbClr val="2E7D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265-4BD1-9CE2-655D1CABF18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265-4BD1-9CE2-655D1CABF18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265-4BD1-9CE2-655D1CABF186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265-4BD1-9CE2-655D1CABF186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265-4BD1-9CE2-655D1CABF18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Open</c:v>
                </c:pt>
                <c:pt idx="1">
                  <c:v>Under Review</c:v>
                </c:pt>
                <c:pt idx="2">
                  <c:v>Action Required</c:v>
                </c:pt>
                <c:pt idx="3">
                  <c:v>Closed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</c:v>
                </c:pt>
                <c:pt idx="1">
                  <c:v>14</c:v>
                </c:pt>
                <c:pt idx="2">
                  <c:v>9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265-4BD1-9CE2-655D1CABF1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Active Exposure by Department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items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Document Control</c:v>
                </c:pt>
                <c:pt idx="1">
                  <c:v>Contracts</c:v>
                </c:pt>
                <c:pt idx="2">
                  <c:v>Engineering</c:v>
                </c:pt>
                <c:pt idx="3">
                  <c:v>Management</c:v>
                </c:pt>
                <c:pt idx="4">
                  <c:v>HSE</c:v>
                </c:pt>
                <c:pt idx="5">
                  <c:v>Procurement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6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00-4823-A0E2-99F3F8FF43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Payment Control Trend (M SAR)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 value</c:v>
                </c:pt>
              </c:strCache>
            </c:strRef>
          </c:tx>
          <c:spPr>
            <a:ln w="254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</c:v>
                </c:pt>
                <c:pt idx="1">
                  <c:v>2.8</c:v>
                </c:pt>
                <c:pt idx="2">
                  <c:v>3.6</c:v>
                </c:pt>
                <c:pt idx="3">
                  <c:v>3.2</c:v>
                </c:pt>
                <c:pt idx="4">
                  <c:v>2.7</c:v>
                </c:pt>
                <c:pt idx="5">
                  <c:v>2.2000000000000002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1A-4955-8016-372FF1F503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value</c:v>
                </c:pt>
              </c:strCache>
            </c:strRef>
          </c:tx>
          <c:spPr>
            <a:ln w="25400" cap="flat">
              <a:solidFill>
                <a:srgbClr val="2E7D3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</c:v>
                </c:pt>
                <c:pt idx="1">
                  <c:v>1.6</c:v>
                </c:pt>
                <c:pt idx="2">
                  <c:v>2</c:v>
                </c:pt>
                <c:pt idx="3">
                  <c:v>2.8</c:v>
                </c:pt>
                <c:pt idx="4">
                  <c:v>3.1</c:v>
                </c:pt>
                <c:pt idx="5">
                  <c:v>3.4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81A-4955-8016-372FF1F503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7434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32833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142011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42621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70393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43947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665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0913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07736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41874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46440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706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919041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39343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0224257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416469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021449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531301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746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4AAD347D-5ACD-4C99-B74B-A9C85AD731AF}" type="datetimeFigureOut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3430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572768"/>
            <a:ext cx="12191695" cy="164592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384048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Management Reporting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&amp; Board Support Portfolio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12801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</a:rPr>
              <a:t>PowerPoint portfolio sample demonstrating executive reporting, board meeting support, action tracking and project control presentation capability.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869680" y="502920"/>
            <a:ext cx="2057400" cy="731520"/>
          </a:xfrm>
          <a:prstGeom prst="roundRect">
            <a:avLst/>
          </a:prstGeom>
          <a:solidFill>
            <a:srgbClr val="FFFFFF">
              <a:alpha val="94000"/>
            </a:srgbClr>
          </a:solidFill>
          <a:ln w="12700">
            <a:solidFill>
              <a:srgbClr val="D9E1F2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89720" y="64008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</a:rPr>
              <a:t>SUDHEER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</a:rPr>
              <a:t>AHMED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212080" y="3017520"/>
            <a:ext cx="1737360" cy="173736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0" y="360273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Reporting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6080" y="2834640"/>
            <a:ext cx="1508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4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99232" y="2980944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C9A24B"/>
                </a:solidFill>
              </a:rPr>
              <a:t>Board Support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7269480" y="2423160"/>
            <a:ext cx="1508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5395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42632" y="2569464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E5395"/>
                </a:solidFill>
              </a:rPr>
              <a:t>PMO Coordination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8321040" y="4526280"/>
            <a:ext cx="1508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94192" y="4672584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E7D32"/>
                </a:solidFill>
              </a:rPr>
              <a:t>KPI Dashboards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749040" y="4892040"/>
            <a:ext cx="1508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22192" y="5038344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C0392B"/>
                </a:solidFill>
              </a:rPr>
              <a:t>Document Control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965960" y="4343400"/>
            <a:ext cx="150876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8A00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039112" y="4489704"/>
            <a:ext cx="13624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E08A00"/>
                </a:solidFill>
              </a:rPr>
              <a:t>Procurement Follow-up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658368" y="62362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Portfolio demonstration with synthetic/anonymized sample data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0515600" y="62362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July 2026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Professional Reporting Positioning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Built around executive office coordination, board support, PMO-style project administration and management reporting.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234440"/>
            <a:ext cx="141732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371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EXPERIENCE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04088" y="1618488"/>
            <a:ext cx="119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4B"/>
                </a:solidFill>
              </a:rPr>
              <a:t>11+ yrs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240280" y="1234440"/>
            <a:ext cx="141732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77440" y="1371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EXECUTIVE SUPPORT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350008" y="1618488"/>
            <a:ext cx="1197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864"/>
                </a:solidFill>
              </a:rPr>
              <a:t>PD / PSM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886200" y="1234440"/>
            <a:ext cx="141732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023360" y="1371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REPORTING STACK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995928" y="161848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5395"/>
                </a:solidFill>
              </a:rPr>
              <a:t>Excel + BI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532120" y="1234440"/>
            <a:ext cx="141732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0" y="1371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WORKFLOWS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641848" y="1618488"/>
            <a:ext cx="1197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Oracle/Aconex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78040" y="1234440"/>
            <a:ext cx="1417320" cy="868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0" y="137160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BOARD SUPPORT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287768" y="170078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</a:rPr>
              <a:t>MOM/ Sign-off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94360" y="2514600"/>
            <a:ext cx="40690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94360" y="2514600"/>
            <a:ext cx="40690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" y="2569464"/>
            <a:ext cx="3886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CORE POSITIONING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2971800"/>
            <a:ext cx="3520440" cy="1627632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127000" indent="-1270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</a:rPr>
              <a:t>Executive office support with cross-functional follow-up</a:t>
            </a:r>
            <a:endParaRPr lang="en-US" sz="1020" dirty="0"/>
          </a:p>
          <a:p>
            <a:pPr marL="127000" indent="-1270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</a:rPr>
              <a:t>Action tracking, meeting notes, MOMs and closure visibility</a:t>
            </a:r>
            <a:endParaRPr lang="en-US" sz="1020" dirty="0"/>
          </a:p>
          <a:p>
            <a:pPr marL="127000" indent="-1270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</a:rPr>
              <a:t>Management-level KPI reports, dashboards and presentations</a:t>
            </a:r>
            <a:endParaRPr lang="en-US" sz="1020" dirty="0"/>
          </a:p>
          <a:p>
            <a:pPr marL="127000" indent="-1270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</a:rPr>
              <a:t>Document workflows: Aconex, DocuSign, SharePoint/Drive</a:t>
            </a:r>
            <a:endParaRPr lang="en-US" sz="1020" dirty="0"/>
          </a:p>
          <a:p>
            <a:pPr marL="127000" indent="-127000">
              <a:buSzPct val="100000"/>
              <a:buChar char="•"/>
            </a:pPr>
            <a:r>
              <a:rPr lang="en-US" sz="1020" dirty="0">
                <a:solidFill>
                  <a:srgbClr val="0F172A"/>
                </a:solidFill>
              </a:rPr>
              <a:t>Operations coordination across logistics, facilities, transport and procurement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4983480" y="2514600"/>
            <a:ext cx="6355080" cy="24140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83480" y="2514600"/>
            <a:ext cx="141732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0056" y="2587752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Capability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400800" y="2514600"/>
            <a:ext cx="242316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37376" y="2587752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Evidence in Work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8823960" y="2514600"/>
            <a:ext cx="251460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860536" y="2587752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Portfolio proof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983480" y="2898648"/>
            <a:ext cx="14173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20056" y="2971800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Board support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6400800" y="2898648"/>
            <a:ext cx="2423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37376" y="2971800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MOMs, DocuSign, agendas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8823960" y="2898648"/>
            <a:ext cx="2514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860536" y="2971800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This deck + action logs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4983480" y="3282696"/>
            <a:ext cx="141732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020056" y="3355848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Document control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6400800" y="3282696"/>
            <a:ext cx="242316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37376" y="3355848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Letters, transmittals, drawings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8823960" y="3282696"/>
            <a:ext cx="25146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860536" y="3355848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Command Center workbook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4983480" y="3666744"/>
            <a:ext cx="14173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020056" y="3739896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KPI reporting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6400800" y="3666744"/>
            <a:ext cx="2423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437376" y="3739896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Excel, Power BI, SQL reporting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8823960" y="3666744"/>
            <a:ext cx="2514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860536" y="3739896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Power BI + Excel repos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4983480" y="4050792"/>
            <a:ext cx="141732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020056" y="4123944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Operations control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>
            <a:off x="6400800" y="4050792"/>
            <a:ext cx="242316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37376" y="4123944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Fleet, facilities, procurement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823960" y="4050792"/>
            <a:ext cx="25146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860536" y="4123944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Control Center workbook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4983480" y="4434840"/>
            <a:ext cx="141732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20056" y="4507992"/>
            <a:ext cx="1344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Leadership follow-up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6400800" y="4434840"/>
            <a:ext cx="24231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437376" y="4507992"/>
            <a:ext cx="2350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Open actions, deadlines</a:t>
            </a:r>
            <a:endParaRPr lang="en-US" sz="720" dirty="0"/>
          </a:p>
        </p:txBody>
      </p:sp>
      <p:sp>
        <p:nvSpPr>
          <p:cNvPr id="61" name="Shape 59"/>
          <p:cNvSpPr/>
          <p:nvPr/>
        </p:nvSpPr>
        <p:spPr>
          <a:xfrm>
            <a:off x="8823960" y="4434840"/>
            <a:ext cx="2514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8860536" y="4507992"/>
            <a:ext cx="2441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Management Action Tracker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594360" y="5440680"/>
            <a:ext cx="10744200" cy="530352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94360" y="5440680"/>
            <a:ext cx="73152" cy="530352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822960" y="5586984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The portfolio is structured to prove practical administration and reporting capability: not only tools, but management follow-up, controls and decision-ready visibility.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Reporting Operating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A repeatable reporting flow from raw inputs to management decisions and closed actions.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508760" y="2953512"/>
            <a:ext cx="1234440" cy="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566160" y="2953512"/>
            <a:ext cx="1234440" cy="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23560" y="2953512"/>
            <a:ext cx="1234440" cy="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80960" y="2953512"/>
            <a:ext cx="1234440" cy="0"/>
          </a:xfrm>
          <a:prstGeom prst="line">
            <a:avLst/>
          </a:prstGeom>
          <a:noFill/>
          <a:ln w="1651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94360" y="2340864"/>
            <a:ext cx="960120" cy="960120"/>
          </a:xfrm>
          <a:prstGeom prst="ellipse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96112" y="25968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93192" y="3511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5395"/>
                </a:solidFill>
              </a:rPr>
              <a:t>Capture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" y="3803904"/>
            <a:ext cx="16002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475569"/>
                </a:solidFill>
              </a:rPr>
              <a:t>Emails, meetings, Aconex, Oracle, site inputs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651760" y="2340864"/>
            <a:ext cx="960120" cy="96012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53512" y="25968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50592" y="3511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24B"/>
                </a:solidFill>
              </a:rPr>
              <a:t>Validate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50008" y="3803904"/>
            <a:ext cx="16002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475569"/>
                </a:solidFill>
              </a:rPr>
              <a:t>Check owners, dates, evidence and status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709160" y="2340864"/>
            <a:ext cx="960120" cy="96012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10912" y="25968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07992" y="3511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</a:rPr>
              <a:t>Structure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07408" y="3803904"/>
            <a:ext cx="16002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475569"/>
                </a:solidFill>
              </a:rPr>
              <a:t>Excel registers, trackers and KPI logic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766560" y="2340864"/>
            <a:ext cx="960120" cy="9601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68312" y="25968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65392" y="3511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</a:rPr>
              <a:t>Report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64808" y="3803904"/>
            <a:ext cx="16002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475569"/>
                </a:solidFill>
              </a:rPr>
              <a:t>Dashboards, presentations and summary notes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823960" y="2340864"/>
            <a:ext cx="960120" cy="9601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254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125712" y="25968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622792" y="35112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</a:rPr>
              <a:t>Follow up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522208" y="3803904"/>
            <a:ext cx="16002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475569"/>
                </a:solidFill>
              </a:rPr>
              <a:t>Escalate, close, archive and retain visibility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85800" y="1207008"/>
            <a:ext cx="10744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" y="1353312"/>
            <a:ext cx="91440" cy="201168"/>
          </a:xfrm>
          <a:prstGeom prst="rect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124712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3864"/>
                </a:solidFill>
              </a:rPr>
              <a:t>Daily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" y="149047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inputs + urgent follow-up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566160" y="1353312"/>
            <a:ext cx="91440" cy="20116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730752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3864"/>
                </a:solidFill>
              </a:rPr>
              <a:t>Weekly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30752" y="149047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action log + KPI cut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172200" y="1353312"/>
            <a:ext cx="91440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36792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3864"/>
                </a:solidFill>
              </a:rPr>
              <a:t>Monthly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36792" y="149047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management dashboard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8778240" y="1353312"/>
            <a:ext cx="91440" cy="2011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942832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F3864"/>
                </a:solidFill>
              </a:rPr>
              <a:t>Board cycle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42832" y="149047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agenda + MOM + sign-off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77240" y="5166360"/>
            <a:ext cx="10561320" cy="749808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77240" y="5166360"/>
            <a:ext cx="73152" cy="7498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05840" y="5312664"/>
            <a:ext cx="10195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Designed result: leadership does not chase status manually; they see open items, risk, ownership and overdue exposure in one structured reporting cycle.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Executive KPI Pack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A board/management review slide combining status, risk and action closure visibility.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188720"/>
            <a:ext cx="1417320" cy="7315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OPEN ACTIONS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04088" y="1572768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8A00"/>
                </a:solidFill>
              </a:rPr>
              <a:t>61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194560" y="1188720"/>
            <a:ext cx="1417320" cy="7315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31720" y="132588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OVERDUE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304288" y="1572768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</a:rPr>
              <a:t>10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3794760" y="1188720"/>
            <a:ext cx="1417320" cy="7315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132588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CLOSURE %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904488" y="1572768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84%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394960" y="1188720"/>
            <a:ext cx="1417320" cy="7315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32120" y="132588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DOCS REVIEW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504688" y="1572768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5395"/>
                </a:solidFill>
              </a:rPr>
              <a:t>32</a:t>
            </a:r>
            <a:endParaRPr lang="en-US" sz="22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685800" y="2331720"/>
          <a:ext cx="489204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Chart 1"/>
          <p:cNvGraphicFramePr/>
          <p:nvPr/>
        </p:nvGraphicFramePr>
        <p:xfrm>
          <a:off x="5989320" y="2331720"/>
          <a:ext cx="24231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Shape 17"/>
          <p:cNvSpPr/>
          <p:nvPr/>
        </p:nvSpPr>
        <p:spPr>
          <a:xfrm>
            <a:off x="8732520" y="2331720"/>
            <a:ext cx="2560320" cy="219456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8732520" y="2331720"/>
            <a:ext cx="1124712" cy="347472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8769096" y="240487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Risk</a:t>
            </a:r>
            <a:endParaRPr lang="en-US" sz="750" dirty="0"/>
          </a:p>
        </p:txBody>
      </p:sp>
      <p:sp>
        <p:nvSpPr>
          <p:cNvPr id="24" name="Shape 20"/>
          <p:cNvSpPr/>
          <p:nvPr/>
        </p:nvSpPr>
        <p:spPr>
          <a:xfrm>
            <a:off x="9857232" y="2331720"/>
            <a:ext cx="502920" cy="347472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893808" y="2404872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Count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10360152" y="2331720"/>
            <a:ext cx="932688" cy="347472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10396728" y="2404872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Priority</a:t>
            </a:r>
            <a:endParaRPr lang="en-US" sz="750" dirty="0"/>
          </a:p>
        </p:txBody>
      </p:sp>
      <p:sp>
        <p:nvSpPr>
          <p:cNvPr id="28" name="Shape 24"/>
          <p:cNvSpPr/>
          <p:nvPr/>
        </p:nvSpPr>
        <p:spPr>
          <a:xfrm>
            <a:off x="8732520" y="2679192"/>
            <a:ext cx="1124712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8769096" y="2752344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Overdue &gt;14d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9857232" y="2679192"/>
            <a:ext cx="5029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9893808" y="2752344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10</a:t>
            </a:r>
            <a:endParaRPr lang="en-US" sz="720" dirty="0"/>
          </a:p>
        </p:txBody>
      </p:sp>
      <p:sp>
        <p:nvSpPr>
          <p:cNvPr id="32" name="Shape 28"/>
          <p:cNvSpPr/>
          <p:nvPr/>
        </p:nvSpPr>
        <p:spPr>
          <a:xfrm>
            <a:off x="10360152" y="2679192"/>
            <a:ext cx="93268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10396728" y="2752344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High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8732520" y="3026664"/>
            <a:ext cx="1124712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8769096" y="3099816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Unassigned</a:t>
            </a:r>
            <a:endParaRPr lang="en-US" sz="720" dirty="0"/>
          </a:p>
        </p:txBody>
      </p:sp>
      <p:sp>
        <p:nvSpPr>
          <p:cNvPr id="36" name="Shape 32"/>
          <p:cNvSpPr/>
          <p:nvPr/>
        </p:nvSpPr>
        <p:spPr>
          <a:xfrm>
            <a:off x="9857232" y="3026664"/>
            <a:ext cx="502920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9893808" y="3099816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4</a:t>
            </a:r>
            <a:endParaRPr lang="en-US" sz="720" dirty="0"/>
          </a:p>
        </p:txBody>
      </p:sp>
      <p:sp>
        <p:nvSpPr>
          <p:cNvPr id="38" name="Shape 34"/>
          <p:cNvSpPr/>
          <p:nvPr/>
        </p:nvSpPr>
        <p:spPr>
          <a:xfrm>
            <a:off x="10360152" y="3026664"/>
            <a:ext cx="932688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10396728" y="3099816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High</a:t>
            </a:r>
            <a:endParaRPr lang="en-US" sz="720" dirty="0"/>
          </a:p>
        </p:txBody>
      </p:sp>
      <p:sp>
        <p:nvSpPr>
          <p:cNvPr id="40" name="Shape 36"/>
          <p:cNvSpPr/>
          <p:nvPr/>
        </p:nvSpPr>
        <p:spPr>
          <a:xfrm>
            <a:off x="8732520" y="3374136"/>
            <a:ext cx="1124712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7"/>
          <p:cNvSpPr/>
          <p:nvPr/>
        </p:nvSpPr>
        <p:spPr>
          <a:xfrm>
            <a:off x="8769096" y="3447288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Pending sign-off</a:t>
            </a:r>
            <a:endParaRPr lang="en-US" sz="720" dirty="0"/>
          </a:p>
        </p:txBody>
      </p:sp>
      <p:sp>
        <p:nvSpPr>
          <p:cNvPr id="42" name="Shape 38"/>
          <p:cNvSpPr/>
          <p:nvPr/>
        </p:nvSpPr>
        <p:spPr>
          <a:xfrm>
            <a:off x="9857232" y="3374136"/>
            <a:ext cx="5029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39"/>
          <p:cNvSpPr/>
          <p:nvPr/>
        </p:nvSpPr>
        <p:spPr>
          <a:xfrm>
            <a:off x="9893808" y="3447288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8</a:t>
            </a:r>
            <a:endParaRPr lang="en-US" sz="720" dirty="0"/>
          </a:p>
        </p:txBody>
      </p:sp>
      <p:sp>
        <p:nvSpPr>
          <p:cNvPr id="44" name="Shape 40"/>
          <p:cNvSpPr/>
          <p:nvPr/>
        </p:nvSpPr>
        <p:spPr>
          <a:xfrm>
            <a:off x="10360152" y="3374136"/>
            <a:ext cx="93268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1"/>
          <p:cNvSpPr/>
          <p:nvPr/>
        </p:nvSpPr>
        <p:spPr>
          <a:xfrm>
            <a:off x="10396728" y="3447288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Medium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8732520" y="3721608"/>
            <a:ext cx="1124712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8769096" y="3794760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Late submission</a:t>
            </a:r>
            <a:endParaRPr lang="en-US" sz="720" dirty="0"/>
          </a:p>
        </p:txBody>
      </p:sp>
      <p:sp>
        <p:nvSpPr>
          <p:cNvPr id="48" name="Shape 44"/>
          <p:cNvSpPr/>
          <p:nvPr/>
        </p:nvSpPr>
        <p:spPr>
          <a:xfrm>
            <a:off x="9857232" y="3721608"/>
            <a:ext cx="502920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5"/>
          <p:cNvSpPr/>
          <p:nvPr/>
        </p:nvSpPr>
        <p:spPr>
          <a:xfrm>
            <a:off x="9893808" y="3794760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5</a:t>
            </a:r>
            <a:endParaRPr lang="en-US" sz="720" dirty="0"/>
          </a:p>
        </p:txBody>
      </p:sp>
      <p:sp>
        <p:nvSpPr>
          <p:cNvPr id="50" name="Shape 46"/>
          <p:cNvSpPr/>
          <p:nvPr/>
        </p:nvSpPr>
        <p:spPr>
          <a:xfrm>
            <a:off x="10360152" y="3721608"/>
            <a:ext cx="932688" cy="347472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7"/>
          <p:cNvSpPr/>
          <p:nvPr/>
        </p:nvSpPr>
        <p:spPr>
          <a:xfrm>
            <a:off x="10396728" y="3794760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Medium</a:t>
            </a:r>
            <a:endParaRPr lang="en-US" sz="720" dirty="0"/>
          </a:p>
        </p:txBody>
      </p:sp>
      <p:sp>
        <p:nvSpPr>
          <p:cNvPr id="52" name="Shape 48"/>
          <p:cNvSpPr/>
          <p:nvPr/>
        </p:nvSpPr>
        <p:spPr>
          <a:xfrm>
            <a:off x="8732520" y="4069080"/>
            <a:ext cx="1124712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9"/>
          <p:cNvSpPr/>
          <p:nvPr/>
        </p:nvSpPr>
        <p:spPr>
          <a:xfrm>
            <a:off x="8769096" y="4142232"/>
            <a:ext cx="1051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Closed this week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9857232" y="4069080"/>
            <a:ext cx="50292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1"/>
          <p:cNvSpPr/>
          <p:nvPr/>
        </p:nvSpPr>
        <p:spPr>
          <a:xfrm>
            <a:off x="9893808" y="4142232"/>
            <a:ext cx="4297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12</a:t>
            </a:r>
            <a:endParaRPr lang="en-US" sz="720" dirty="0"/>
          </a:p>
        </p:txBody>
      </p:sp>
      <p:sp>
        <p:nvSpPr>
          <p:cNvPr id="56" name="Shape 52"/>
          <p:cNvSpPr/>
          <p:nvPr/>
        </p:nvSpPr>
        <p:spPr>
          <a:xfrm>
            <a:off x="10360152" y="4069080"/>
            <a:ext cx="932688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3"/>
          <p:cNvSpPr/>
          <p:nvPr/>
        </p:nvSpPr>
        <p:spPr>
          <a:xfrm>
            <a:off x="10396728" y="4142232"/>
            <a:ext cx="8595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Positive</a:t>
            </a:r>
            <a:endParaRPr lang="en-US" sz="720" dirty="0"/>
          </a:p>
        </p:txBody>
      </p:sp>
      <p:sp>
        <p:nvSpPr>
          <p:cNvPr id="58" name="Shape 54"/>
          <p:cNvSpPr/>
          <p:nvPr/>
        </p:nvSpPr>
        <p:spPr>
          <a:xfrm>
            <a:off x="685800" y="5577840"/>
            <a:ext cx="10744200" cy="502920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5"/>
          <p:cNvSpPr/>
          <p:nvPr/>
        </p:nvSpPr>
        <p:spPr>
          <a:xfrm>
            <a:off x="685800" y="5577840"/>
            <a:ext cx="73152" cy="50292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6"/>
          <p:cNvSpPr/>
          <p:nvPr/>
        </p:nvSpPr>
        <p:spPr>
          <a:xfrm>
            <a:off x="914400" y="5724144"/>
            <a:ext cx="10378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Message to management: focus first on overdue items, missing owners and pending sign-offs; everything else remains visible through the routine dashboard cycle.</a:t>
            </a:r>
            <a:endParaRPr lang="en-US" sz="1100" dirty="0"/>
          </a:p>
        </p:txBody>
      </p:sp>
      <p:sp>
        <p:nvSpPr>
          <p:cNvPr id="61" name="Shape 57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8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63" name="Text 5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Board &amp; Management Meeting Cycle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A clean board secretariat workflow: agenda, minutes, approvals and action closure.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886200" y="1298448"/>
            <a:ext cx="56692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77640" y="13533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BOARD SECRETARIAT FLOW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977640" y="1920240"/>
            <a:ext cx="960120" cy="64008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023360" y="20665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Agenda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planning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992624" y="2066544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94A3B8"/>
                </a:solidFill>
              </a:rPr>
              <a:t>›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257800" y="1920240"/>
            <a:ext cx="960120" cy="640080"/>
          </a:xfrm>
          <a:prstGeom prst="roundRect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03520" y="20665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Meeting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notes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72784" y="2066544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94A3B8"/>
                </a:solidFill>
              </a:rPr>
              <a:t>›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537960" y="1920240"/>
            <a:ext cx="960120" cy="640080"/>
          </a:xfrm>
          <a:prstGeom prst="round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0" y="20665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MOM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drafting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552944" y="2066544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94A3B8"/>
                </a:solidFill>
              </a:rPr>
              <a:t>›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7818120" y="1920240"/>
            <a:ext cx="960120" cy="640080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63840" y="20665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DocuSign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sign-off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33104" y="2066544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94A3B8"/>
                </a:solidFill>
              </a:rPr>
              <a:t>›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9098280" y="1920240"/>
            <a:ext cx="960120" cy="640080"/>
          </a:xfrm>
          <a:prstGeom prst="round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0" y="20665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Action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closure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32120" y="3337560"/>
            <a:ext cx="1188720" cy="1188720"/>
          </a:xfrm>
          <a:prstGeom prst="ellipse">
            <a:avLst/>
          </a:prstGeom>
          <a:solidFill>
            <a:srgbClr val="FFFFFF"/>
          </a:solidFill>
          <a:ln w="16510">
            <a:solidFill>
              <a:srgbClr val="C9A24B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87568" y="3703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</a:rPr>
              <a:t>Board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864"/>
                </a:solidFill>
              </a:rPr>
              <a:t>Support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1280160"/>
            <a:ext cx="2743200" cy="230428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5800" y="1280160"/>
            <a:ext cx="914400" cy="365760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2376" y="135331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Output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600200" y="1280160"/>
            <a:ext cx="1828800" cy="365760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36776" y="135331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Purpose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85800" y="1645920"/>
            <a:ext cx="914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2376" y="171907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Agenda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1600200" y="1645920"/>
            <a:ext cx="18288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36776" y="171907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Meeting scope &amp; owner inputs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685800" y="2011680"/>
            <a:ext cx="9144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22376" y="208483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MOM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1600200" y="2011680"/>
            <a:ext cx="18288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636776" y="208483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Decisions and action owners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685800" y="2377440"/>
            <a:ext cx="914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22376" y="245059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Action Log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1600200" y="2377440"/>
            <a:ext cx="18288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636776" y="245059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Closure status and aging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685800" y="2743200"/>
            <a:ext cx="9144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22376" y="281635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Sign-off pack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1600200" y="2743200"/>
            <a:ext cx="18288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636776" y="281635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Controlled approval trail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685800" y="3108960"/>
            <a:ext cx="914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22376" y="318211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Summary note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1600200" y="3108960"/>
            <a:ext cx="18288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636776" y="318211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Fast leadership review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8732520" y="4251960"/>
            <a:ext cx="2514600" cy="1005840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8732520" y="4251960"/>
            <a:ext cx="73152" cy="10058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8961120" y="43982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Strong board support is not only writing minutes; it is preserving decisions, owners, deadlines and follow-up discipline.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829800" y="2697480"/>
            <a:ext cx="1481328" cy="29260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EAF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921240" y="2770632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1F3864"/>
                </a:solidFill>
              </a:rPr>
              <a:t>Confidentiality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829800" y="3063240"/>
            <a:ext cx="1481328" cy="292608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FF7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9921240" y="3136392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7A5A00"/>
                </a:solidFill>
              </a:rPr>
              <a:t>Clear ownership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829800" y="3429000"/>
            <a:ext cx="1481328" cy="292608"/>
          </a:xfrm>
          <a:prstGeom prst="roundRect">
            <a:avLst/>
          </a:prstGeom>
          <a:solidFill>
            <a:srgbClr val="EAF5EA"/>
          </a:solidFill>
          <a:ln w="12700">
            <a:solidFill>
              <a:srgbClr val="EAF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921240" y="3502152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2E7D32"/>
                </a:solidFill>
              </a:rPr>
              <a:t>Approval trail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9829800" y="3794760"/>
            <a:ext cx="1481328" cy="292608"/>
          </a:xfrm>
          <a:prstGeom prst="roundRect">
            <a:avLst/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9921240" y="3867912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C0392B"/>
                </a:solidFill>
              </a:rPr>
              <a:t>Closure focus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 Control &amp; Correspondence Reporting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Portfolio design for correspondence registers, transmittals, revision tracking and response aging.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" y="1216152"/>
            <a:ext cx="5349240" cy="24140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1216152"/>
            <a:ext cx="91440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6656" y="128930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Ref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554480" y="1216152"/>
            <a:ext cx="114300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91056" y="1289304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Type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697480" y="1216152"/>
            <a:ext cx="114300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34056" y="1289304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840480" y="1216152"/>
            <a:ext cx="77724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77056" y="1289304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Aging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617720" y="1216152"/>
            <a:ext cx="137160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289304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Owner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6656" y="1673352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COR-001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1554480" y="1600200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591056" y="1673352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Letter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97480" y="1600200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34056" y="1673352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Action Req.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3840480" y="1600200"/>
            <a:ext cx="777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77056" y="1673352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18d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4617720" y="1600200"/>
            <a:ext cx="1371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54296" y="1673352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Contracts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640080" y="1984248"/>
            <a:ext cx="9144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6656" y="2057400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COR-002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1554480" y="1984248"/>
            <a:ext cx="11430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591056" y="2057400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Transmittal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2697480" y="1984248"/>
            <a:ext cx="11430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34056" y="2057400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Under Review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3840480" y="1984248"/>
            <a:ext cx="77724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77056" y="2057400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7d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4617720" y="1984248"/>
            <a:ext cx="13716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54296" y="2057400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Engineering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640080" y="2368296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6656" y="2441448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COR-003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1554480" y="2368296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591056" y="2441448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RFI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2697480" y="2368296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34056" y="2441448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Open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840480" y="2368296"/>
            <a:ext cx="777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877056" y="2441448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12d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4617720" y="2368296"/>
            <a:ext cx="1371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654296" y="2441448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Construction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640080" y="2752344"/>
            <a:ext cx="9144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76656" y="2825496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COR-004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1554480" y="2752344"/>
            <a:ext cx="11430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1591056" y="2825496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Submittal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97480" y="2752344"/>
            <a:ext cx="11430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734056" y="2825496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Closed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3840480" y="2752344"/>
            <a:ext cx="77724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877056" y="2825496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0d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4617720" y="2752344"/>
            <a:ext cx="137160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654296" y="2825496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Doc Control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640080" y="3136392"/>
            <a:ext cx="9144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76656" y="320954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COR-005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1554480" y="3136392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591056" y="3209544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Memo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2697480" y="3136392"/>
            <a:ext cx="11430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734056" y="3209544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Open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3840480" y="3136392"/>
            <a:ext cx="777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877056" y="3209544"/>
            <a:ext cx="704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21d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4617720" y="3136392"/>
            <a:ext cx="1371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654296" y="3209544"/>
            <a:ext cx="12984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Management</a:t>
            </a:r>
            <a:endParaRPr lang="en-US" sz="720" dirty="0"/>
          </a:p>
        </p:txBody>
      </p:sp>
      <p:graphicFrame>
        <p:nvGraphicFramePr>
          <p:cNvPr id="68" name="Chart 0"/>
          <p:cNvGraphicFramePr/>
          <p:nvPr/>
        </p:nvGraphicFramePr>
        <p:xfrm>
          <a:off x="6263640" y="1234440"/>
          <a:ext cx="246888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9" name="Chart 1"/>
          <p:cNvGraphicFramePr/>
          <p:nvPr/>
        </p:nvGraphicFramePr>
        <p:xfrm>
          <a:off x="6263640" y="3840480"/>
          <a:ext cx="4617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0" name="Shape 66"/>
          <p:cNvSpPr/>
          <p:nvPr/>
        </p:nvSpPr>
        <p:spPr>
          <a:xfrm>
            <a:off x="640080" y="4251960"/>
            <a:ext cx="534924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7"/>
          <p:cNvSpPr/>
          <p:nvPr/>
        </p:nvSpPr>
        <p:spPr>
          <a:xfrm>
            <a:off x="731520" y="4306824"/>
            <a:ext cx="5166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DOCUMENT WORKFLOW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472184" y="5166360"/>
            <a:ext cx="320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69"/>
          <p:cNvSpPr/>
          <p:nvPr/>
        </p:nvSpPr>
        <p:spPr>
          <a:xfrm>
            <a:off x="777240" y="4754880"/>
            <a:ext cx="749808" cy="502920"/>
          </a:xfrm>
          <a:prstGeom prst="roundRect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0"/>
          <p:cNvSpPr/>
          <p:nvPr/>
        </p:nvSpPr>
        <p:spPr>
          <a:xfrm>
            <a:off x="822960" y="48554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Receive</a:t>
            </a:r>
            <a:endParaRPr lang="en-US" sz="780" dirty="0"/>
          </a:p>
        </p:txBody>
      </p:sp>
      <p:sp>
        <p:nvSpPr>
          <p:cNvPr id="75" name="Text 71"/>
          <p:cNvSpPr/>
          <p:nvPr/>
        </p:nvSpPr>
        <p:spPr>
          <a:xfrm>
            <a:off x="704088" y="53218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dirty="0">
                <a:solidFill>
                  <a:srgbClr val="64748B"/>
                </a:solidFill>
              </a:rPr>
              <a:t>letter / drawing</a:t>
            </a:r>
            <a:endParaRPr lang="en-US" sz="660" dirty="0"/>
          </a:p>
        </p:txBody>
      </p:sp>
      <p:sp>
        <p:nvSpPr>
          <p:cNvPr id="76" name="Shape 72"/>
          <p:cNvSpPr/>
          <p:nvPr/>
        </p:nvSpPr>
        <p:spPr>
          <a:xfrm>
            <a:off x="2496312" y="5166360"/>
            <a:ext cx="320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3"/>
          <p:cNvSpPr/>
          <p:nvPr/>
        </p:nvSpPr>
        <p:spPr>
          <a:xfrm>
            <a:off x="1801368" y="4754880"/>
            <a:ext cx="749808" cy="502920"/>
          </a:xfrm>
          <a:prstGeom prst="round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/>
          <p:nvPr/>
        </p:nvSpPr>
        <p:spPr>
          <a:xfrm>
            <a:off x="1847088" y="48554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Register</a:t>
            </a:r>
            <a:endParaRPr lang="en-US" sz="780" dirty="0"/>
          </a:p>
        </p:txBody>
      </p:sp>
      <p:sp>
        <p:nvSpPr>
          <p:cNvPr id="79" name="Text 75"/>
          <p:cNvSpPr/>
          <p:nvPr/>
        </p:nvSpPr>
        <p:spPr>
          <a:xfrm>
            <a:off x="1728216" y="53218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dirty="0">
                <a:solidFill>
                  <a:srgbClr val="64748B"/>
                </a:solidFill>
              </a:rPr>
              <a:t>ref no. &amp; metadata</a:t>
            </a:r>
            <a:endParaRPr lang="en-US" sz="660" dirty="0"/>
          </a:p>
        </p:txBody>
      </p:sp>
      <p:sp>
        <p:nvSpPr>
          <p:cNvPr id="80" name="Shape 76"/>
          <p:cNvSpPr/>
          <p:nvPr/>
        </p:nvSpPr>
        <p:spPr>
          <a:xfrm>
            <a:off x="3520440" y="5166360"/>
            <a:ext cx="320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7"/>
          <p:cNvSpPr/>
          <p:nvPr/>
        </p:nvSpPr>
        <p:spPr>
          <a:xfrm>
            <a:off x="2825496" y="4754880"/>
            <a:ext cx="749808" cy="502920"/>
          </a:xfrm>
          <a:prstGeom prst="round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8"/>
          <p:cNvSpPr/>
          <p:nvPr/>
        </p:nvSpPr>
        <p:spPr>
          <a:xfrm>
            <a:off x="2871216" y="48554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Assign</a:t>
            </a:r>
            <a:endParaRPr lang="en-US" sz="780" dirty="0"/>
          </a:p>
        </p:txBody>
      </p:sp>
      <p:sp>
        <p:nvSpPr>
          <p:cNvPr id="83" name="Text 79"/>
          <p:cNvSpPr/>
          <p:nvPr/>
        </p:nvSpPr>
        <p:spPr>
          <a:xfrm>
            <a:off x="2752344" y="53218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dirty="0">
                <a:solidFill>
                  <a:srgbClr val="64748B"/>
                </a:solidFill>
              </a:rPr>
              <a:t>owner + due date</a:t>
            </a:r>
            <a:endParaRPr lang="en-US" sz="660" dirty="0"/>
          </a:p>
        </p:txBody>
      </p:sp>
      <p:sp>
        <p:nvSpPr>
          <p:cNvPr id="84" name="Shape 80"/>
          <p:cNvSpPr/>
          <p:nvPr/>
        </p:nvSpPr>
        <p:spPr>
          <a:xfrm>
            <a:off x="4544568" y="5166360"/>
            <a:ext cx="3200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1"/>
          <p:cNvSpPr/>
          <p:nvPr/>
        </p:nvSpPr>
        <p:spPr>
          <a:xfrm>
            <a:off x="3849624" y="4754880"/>
            <a:ext cx="749808" cy="502920"/>
          </a:xfrm>
          <a:prstGeom prst="round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2"/>
          <p:cNvSpPr/>
          <p:nvPr/>
        </p:nvSpPr>
        <p:spPr>
          <a:xfrm>
            <a:off x="3895344" y="48554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Track</a:t>
            </a:r>
            <a:endParaRPr lang="en-US" sz="780" dirty="0"/>
          </a:p>
        </p:txBody>
      </p:sp>
      <p:sp>
        <p:nvSpPr>
          <p:cNvPr id="87" name="Text 83"/>
          <p:cNvSpPr/>
          <p:nvPr/>
        </p:nvSpPr>
        <p:spPr>
          <a:xfrm>
            <a:off x="3776472" y="53218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dirty="0">
                <a:solidFill>
                  <a:srgbClr val="64748B"/>
                </a:solidFill>
              </a:rPr>
              <a:t>aging + response</a:t>
            </a:r>
            <a:endParaRPr lang="en-US" sz="660" dirty="0"/>
          </a:p>
        </p:txBody>
      </p:sp>
      <p:sp>
        <p:nvSpPr>
          <p:cNvPr id="88" name="Shape 84"/>
          <p:cNvSpPr/>
          <p:nvPr/>
        </p:nvSpPr>
        <p:spPr>
          <a:xfrm>
            <a:off x="4873752" y="4754880"/>
            <a:ext cx="749808" cy="50292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5"/>
          <p:cNvSpPr/>
          <p:nvPr/>
        </p:nvSpPr>
        <p:spPr>
          <a:xfrm>
            <a:off x="4919472" y="4855464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FFFFFF"/>
                </a:solidFill>
              </a:rPr>
              <a:t>Archive</a:t>
            </a:r>
            <a:endParaRPr lang="en-US" sz="780" dirty="0"/>
          </a:p>
        </p:txBody>
      </p:sp>
      <p:sp>
        <p:nvSpPr>
          <p:cNvPr id="90" name="Text 86"/>
          <p:cNvSpPr/>
          <p:nvPr/>
        </p:nvSpPr>
        <p:spPr>
          <a:xfrm>
            <a:off x="4800600" y="53218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dirty="0">
                <a:solidFill>
                  <a:srgbClr val="64748B"/>
                </a:solidFill>
              </a:rPr>
              <a:t>link + closure</a:t>
            </a:r>
            <a:endParaRPr lang="en-US" sz="660" dirty="0"/>
          </a:p>
        </p:txBody>
      </p:sp>
      <p:sp>
        <p:nvSpPr>
          <p:cNvPr id="91" name="Shape 87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88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Procurement, Payment &amp; Operations Control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Executive presentation view connecting PR/PO workflows, invoices, payments and operational support.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960120" cy="621792"/>
          </a:xfrm>
          <a:prstGeom prst="chevron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13816" y="195681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raised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960120" cy="621792"/>
          </a:xfrm>
          <a:prstGeom prst="chevron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05456" y="195681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PO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approval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0" y="1828800"/>
            <a:ext cx="960120" cy="621792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97096" y="195681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received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806440" y="1828800"/>
            <a:ext cx="960120" cy="621792"/>
          </a:xfrm>
          <a:prstGeom prst="chevron">
            <a:avLst/>
          </a:prstGeom>
          <a:solidFill>
            <a:srgbClr val="E08A00"/>
          </a:solidFill>
          <a:ln w="12700">
            <a:solidFill>
              <a:srgbClr val="E08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888736" y="195681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Invoice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review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498080" y="1828800"/>
            <a:ext cx="960120" cy="621792"/>
          </a:xfrm>
          <a:prstGeom prst="chevron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580376" y="195681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Payment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closure</a:t>
            </a:r>
            <a:endParaRPr lang="en-US" sz="9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85800" y="3063240"/>
          <a:ext cx="4754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5897880" y="3063240"/>
            <a:ext cx="5212080" cy="2414016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897880" y="3063240"/>
            <a:ext cx="192024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934456" y="3136392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Control area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818120" y="3063240"/>
            <a:ext cx="150876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854696" y="3136392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Metric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9326880" y="3063240"/>
            <a:ext cx="1783080" cy="384048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363456" y="3136392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Status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897880" y="3447288"/>
            <a:ext cx="1920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934456" y="3520440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PR/PO aging</a:t>
            </a:r>
            <a:endParaRPr lang="en-US" sz="720" dirty="0"/>
          </a:p>
        </p:txBody>
      </p:sp>
      <p:sp>
        <p:nvSpPr>
          <p:cNvPr id="27" name="Shape 24"/>
          <p:cNvSpPr/>
          <p:nvPr/>
        </p:nvSpPr>
        <p:spPr>
          <a:xfrm>
            <a:off x="7818120" y="3447288"/>
            <a:ext cx="15087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854696" y="3520440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14 open &gt; 10d</a:t>
            </a:r>
            <a:endParaRPr lang="en-US" sz="720" dirty="0"/>
          </a:p>
        </p:txBody>
      </p:sp>
      <p:sp>
        <p:nvSpPr>
          <p:cNvPr id="29" name="Shape 26"/>
          <p:cNvSpPr/>
          <p:nvPr/>
        </p:nvSpPr>
        <p:spPr>
          <a:xfrm>
            <a:off x="9326880" y="3447288"/>
            <a:ext cx="17830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9363456" y="3520440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Watch</a:t>
            </a:r>
            <a:endParaRPr lang="en-US" sz="720" dirty="0"/>
          </a:p>
        </p:txBody>
      </p:sp>
      <p:sp>
        <p:nvSpPr>
          <p:cNvPr id="31" name="Shape 28"/>
          <p:cNvSpPr/>
          <p:nvPr/>
        </p:nvSpPr>
        <p:spPr>
          <a:xfrm>
            <a:off x="5897880" y="3831336"/>
            <a:ext cx="192024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934456" y="3904488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Delivery records</a:t>
            </a:r>
            <a:endParaRPr lang="en-US" sz="720" dirty="0"/>
          </a:p>
        </p:txBody>
      </p:sp>
      <p:sp>
        <p:nvSpPr>
          <p:cNvPr id="33" name="Shape 30"/>
          <p:cNvSpPr/>
          <p:nvPr/>
        </p:nvSpPr>
        <p:spPr>
          <a:xfrm>
            <a:off x="7818120" y="3831336"/>
            <a:ext cx="150876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7854696" y="3904488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92% received</a:t>
            </a:r>
            <a:endParaRPr lang="en-US" sz="720" dirty="0"/>
          </a:p>
        </p:txBody>
      </p:sp>
      <p:sp>
        <p:nvSpPr>
          <p:cNvPr id="35" name="Shape 32"/>
          <p:cNvSpPr/>
          <p:nvPr/>
        </p:nvSpPr>
        <p:spPr>
          <a:xfrm>
            <a:off x="9326880" y="3831336"/>
            <a:ext cx="178308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9363456" y="3904488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On track</a:t>
            </a:r>
            <a:endParaRPr lang="en-US" sz="720" dirty="0"/>
          </a:p>
        </p:txBody>
      </p:sp>
      <p:sp>
        <p:nvSpPr>
          <p:cNvPr id="37" name="Shape 34"/>
          <p:cNvSpPr/>
          <p:nvPr/>
        </p:nvSpPr>
        <p:spPr>
          <a:xfrm>
            <a:off x="5897880" y="4215384"/>
            <a:ext cx="1920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5934456" y="4288536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Invoice follow-up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7818120" y="4215384"/>
            <a:ext cx="15087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7854696" y="4288536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8 pending</a:t>
            </a:r>
            <a:endParaRPr lang="en-US" sz="720" dirty="0"/>
          </a:p>
        </p:txBody>
      </p:sp>
      <p:sp>
        <p:nvSpPr>
          <p:cNvPr id="41" name="Shape 38"/>
          <p:cNvSpPr/>
          <p:nvPr/>
        </p:nvSpPr>
        <p:spPr>
          <a:xfrm>
            <a:off x="9326880" y="4215384"/>
            <a:ext cx="17830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9363456" y="4288536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Action</a:t>
            </a:r>
            <a:endParaRPr lang="en-US" sz="720" dirty="0"/>
          </a:p>
        </p:txBody>
      </p:sp>
      <p:sp>
        <p:nvSpPr>
          <p:cNvPr id="43" name="Shape 40"/>
          <p:cNvSpPr/>
          <p:nvPr/>
        </p:nvSpPr>
        <p:spPr>
          <a:xfrm>
            <a:off x="5897880" y="4599432"/>
            <a:ext cx="192024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5934456" y="4672584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DocuSign sign-off</a:t>
            </a:r>
            <a:endParaRPr lang="en-US" sz="720" dirty="0"/>
          </a:p>
        </p:txBody>
      </p:sp>
      <p:sp>
        <p:nvSpPr>
          <p:cNvPr id="45" name="Shape 42"/>
          <p:cNvSpPr/>
          <p:nvPr/>
        </p:nvSpPr>
        <p:spPr>
          <a:xfrm>
            <a:off x="7818120" y="4599432"/>
            <a:ext cx="150876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854696" y="4672584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5 waiting</a:t>
            </a:r>
            <a:endParaRPr lang="en-US" sz="720" dirty="0"/>
          </a:p>
        </p:txBody>
      </p:sp>
      <p:sp>
        <p:nvSpPr>
          <p:cNvPr id="47" name="Shape 44"/>
          <p:cNvSpPr/>
          <p:nvPr/>
        </p:nvSpPr>
        <p:spPr>
          <a:xfrm>
            <a:off x="9326880" y="4599432"/>
            <a:ext cx="1783080" cy="384048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9363456" y="4672584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Action</a:t>
            </a:r>
            <a:endParaRPr lang="en-US" sz="720" dirty="0"/>
          </a:p>
        </p:txBody>
      </p:sp>
      <p:sp>
        <p:nvSpPr>
          <p:cNvPr id="49" name="Shape 46"/>
          <p:cNvSpPr/>
          <p:nvPr/>
        </p:nvSpPr>
        <p:spPr>
          <a:xfrm>
            <a:off x="5897880" y="4983480"/>
            <a:ext cx="192024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5934456" y="5056632"/>
            <a:ext cx="1847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Monthly close</a:t>
            </a:r>
            <a:endParaRPr lang="en-US" sz="720" dirty="0"/>
          </a:p>
        </p:txBody>
      </p:sp>
      <p:sp>
        <p:nvSpPr>
          <p:cNvPr id="51" name="Shape 48"/>
          <p:cNvSpPr/>
          <p:nvPr/>
        </p:nvSpPr>
        <p:spPr>
          <a:xfrm>
            <a:off x="7818120" y="4983480"/>
            <a:ext cx="150876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7854696" y="5056632"/>
            <a:ext cx="14356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Ready for review</a:t>
            </a:r>
            <a:endParaRPr lang="en-US" sz="720" dirty="0"/>
          </a:p>
        </p:txBody>
      </p:sp>
      <p:sp>
        <p:nvSpPr>
          <p:cNvPr id="53" name="Shape 50"/>
          <p:cNvSpPr/>
          <p:nvPr/>
        </p:nvSpPr>
        <p:spPr>
          <a:xfrm>
            <a:off x="9326880" y="4983480"/>
            <a:ext cx="178308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9363456" y="5056632"/>
            <a:ext cx="1709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On track</a:t>
            </a:r>
            <a:endParaRPr lang="en-US" sz="720" dirty="0"/>
          </a:p>
        </p:txBody>
      </p:sp>
      <p:sp>
        <p:nvSpPr>
          <p:cNvPr id="55" name="Shape 52"/>
          <p:cNvSpPr/>
          <p:nvPr/>
        </p:nvSpPr>
        <p:spPr>
          <a:xfrm>
            <a:off x="9646920" y="1078992"/>
            <a:ext cx="1325880" cy="685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9784080" y="121615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RNI ITEMS</a:t>
            </a:r>
            <a:endParaRPr lang="en-US" sz="750" dirty="0"/>
          </a:p>
        </p:txBody>
      </p:sp>
      <p:sp>
        <p:nvSpPr>
          <p:cNvPr id="57" name="Text 54"/>
          <p:cNvSpPr/>
          <p:nvPr/>
        </p:nvSpPr>
        <p:spPr>
          <a:xfrm>
            <a:off x="9756648" y="14630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</a:rPr>
              <a:t>18</a:t>
            </a:r>
            <a:endParaRPr lang="en-US" sz="2200" dirty="0"/>
          </a:p>
        </p:txBody>
      </p:sp>
      <p:sp>
        <p:nvSpPr>
          <p:cNvPr id="58" name="Shape 55"/>
          <p:cNvSpPr/>
          <p:nvPr/>
        </p:nvSpPr>
        <p:spPr>
          <a:xfrm>
            <a:off x="9646920" y="1874520"/>
            <a:ext cx="1325880" cy="685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9E1F2"/>
            </a:solidFill>
            <a:prstDash val="solid"/>
          </a:ln>
          <a:effectLst>
            <a:outerShdw blurRad="2540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9784080" y="20116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4748B"/>
                </a:solidFill>
              </a:rPr>
              <a:t>CLOSE RATE</a:t>
            </a:r>
            <a:endParaRPr lang="en-US" sz="750" dirty="0"/>
          </a:p>
        </p:txBody>
      </p:sp>
      <p:sp>
        <p:nvSpPr>
          <p:cNvPr id="60" name="Text 57"/>
          <p:cNvSpPr/>
          <p:nvPr/>
        </p:nvSpPr>
        <p:spPr>
          <a:xfrm>
            <a:off x="9756648" y="2258568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76%</a:t>
            </a:r>
            <a:endParaRPr lang="en-US" sz="2200" dirty="0"/>
          </a:p>
        </p:txBody>
      </p:sp>
      <p:sp>
        <p:nvSpPr>
          <p:cNvPr id="61" name="Shape 58"/>
          <p:cNvSpPr/>
          <p:nvPr/>
        </p:nvSpPr>
        <p:spPr>
          <a:xfrm>
            <a:off x="685800" y="5715000"/>
            <a:ext cx="10424160" cy="457200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685800" y="5715000"/>
            <a:ext cx="73152" cy="45720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/>
          <p:nvPr/>
        </p:nvSpPr>
        <p:spPr>
          <a:xfrm>
            <a:off x="914400" y="5861304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The value of executive reporting is the connection between workflow status, financial exposure and responsible follow-up.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66" name="Text 6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743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Portfolio Roadmap &amp; Recruiter 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12064" y="713232"/>
            <a:ext cx="8961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A clean story for recruiters: practical reporting outputs mapped to real administrative roles.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561320" y="274320"/>
            <a:ext cx="11430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25328" y="3291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PORTFOLIO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SAMPLE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0" y="3401568"/>
            <a:ext cx="777240" cy="777240"/>
          </a:xfrm>
          <a:prstGeom prst="ellipse">
            <a:avLst/>
          </a:prstGeom>
          <a:solidFill>
            <a:srgbClr val="2E5395"/>
          </a:solidFill>
          <a:ln w="12700">
            <a:solidFill>
              <a:srgbClr val="2E53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98448" y="36027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43434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5395"/>
                </a:solidFill>
              </a:rPr>
              <a:t>Power BI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45994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</a:rPr>
              <a:t>Power BI Workforce KPI Dashboard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5001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4748B"/>
                </a:solidFill>
              </a:rPr>
              <a:t>Workforce, attendance and overtime analytics</a:t>
            </a:r>
            <a:endParaRPr lang="en-US" sz="680" dirty="0"/>
          </a:p>
        </p:txBody>
      </p:sp>
      <p:sp>
        <p:nvSpPr>
          <p:cNvPr id="12" name="Shape 10"/>
          <p:cNvSpPr/>
          <p:nvPr/>
        </p:nvSpPr>
        <p:spPr>
          <a:xfrm>
            <a:off x="2971800" y="3401568"/>
            <a:ext cx="777240" cy="77724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72968" y="36027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24912" y="43434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9A24B"/>
                </a:solidFill>
              </a:rPr>
              <a:t>Excel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45994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</a:rPr>
              <a:t>Executive Project Operations Control Center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560320" y="5001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4748B"/>
                </a:solidFill>
              </a:rPr>
              <a:t>Actions, procurement, workforce, KPI scorecard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846320" y="3401568"/>
            <a:ext cx="777240" cy="7772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47488" y="36027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9432" y="43434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7D32"/>
                </a:solidFill>
              </a:rPr>
              <a:t>Excel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434840" y="45994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</a:rPr>
              <a:t>Management Action Tracker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434840" y="5001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4748B"/>
                </a:solidFill>
              </a:rPr>
              <a:t>Action status, priority, aging and department exposure</a:t>
            </a:r>
            <a:endParaRPr lang="en-US" sz="680" dirty="0"/>
          </a:p>
        </p:txBody>
      </p:sp>
      <p:sp>
        <p:nvSpPr>
          <p:cNvPr id="22" name="Shape 20"/>
          <p:cNvSpPr/>
          <p:nvPr/>
        </p:nvSpPr>
        <p:spPr>
          <a:xfrm>
            <a:off x="6720840" y="3401568"/>
            <a:ext cx="777240" cy="7772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22008" y="36027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73952" y="43434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Excel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09360" y="45994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</a:rPr>
              <a:t>Document Control Command Center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09360" y="5001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4748B"/>
                </a:solidFill>
              </a:rPr>
              <a:t>Correspondence, document register and hyperlinks</a:t>
            </a:r>
            <a:endParaRPr lang="en-US" sz="680" dirty="0"/>
          </a:p>
        </p:txBody>
      </p:sp>
      <p:sp>
        <p:nvSpPr>
          <p:cNvPr id="27" name="Shape 25"/>
          <p:cNvSpPr/>
          <p:nvPr/>
        </p:nvSpPr>
        <p:spPr>
          <a:xfrm>
            <a:off x="8595360" y="3401568"/>
            <a:ext cx="777240" cy="77724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796528" y="360273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48472" y="43434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</a:rPr>
              <a:t>PowerPoint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183880" y="45994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F3864"/>
                </a:solidFill>
              </a:rPr>
              <a:t>Executive Reporting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183880" y="50017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4748B"/>
                </a:solidFill>
              </a:rPr>
              <a:t>Board / management reporting presentation sample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68680" y="1051560"/>
            <a:ext cx="5212080" cy="19385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68680" y="1051560"/>
            <a:ext cx="2011680" cy="365760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05256" y="1124712"/>
            <a:ext cx="1938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Target role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880360" y="1051560"/>
            <a:ext cx="3200400" cy="365760"/>
          </a:xfrm>
          <a:prstGeom prst="rect">
            <a:avLst/>
          </a:prstGeom>
          <a:solidFill>
            <a:srgbClr val="1F3864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916936" y="1124712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Portfolio proof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68680" y="1417320"/>
            <a:ext cx="20116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05256" y="1490472"/>
            <a:ext cx="1938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Executive Assistant / Secretary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2880360" y="1417320"/>
            <a:ext cx="3200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916936" y="1490472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Board cycle, MOM, action log, presentation deck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868680" y="1783080"/>
            <a:ext cx="201168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05256" y="1856232"/>
            <a:ext cx="1938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Project Administrator / PMO Support</a:t>
            </a:r>
            <a:endParaRPr lang="en-US" sz="720" dirty="0"/>
          </a:p>
        </p:txBody>
      </p:sp>
      <p:sp>
        <p:nvSpPr>
          <p:cNvPr id="43" name="Shape 41"/>
          <p:cNvSpPr/>
          <p:nvPr/>
        </p:nvSpPr>
        <p:spPr>
          <a:xfrm>
            <a:off x="2880360" y="1783080"/>
            <a:ext cx="32004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916936" y="1856232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Project control center + KPI dashboards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868680" y="2148840"/>
            <a:ext cx="20116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05256" y="2221992"/>
            <a:ext cx="1938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Document Controller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880360" y="2148840"/>
            <a:ext cx="320040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916936" y="2221992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Correspondence command center + hyperlink registers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868680" y="2514600"/>
            <a:ext cx="201168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905256" y="2587752"/>
            <a:ext cx="1938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0F172A"/>
                </a:solidFill>
              </a:rPr>
              <a:t>Operations / Facilities Coordinator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880360" y="2514600"/>
            <a:ext cx="3200400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916936" y="2587752"/>
            <a:ext cx="3127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0F172A"/>
                </a:solidFill>
              </a:rPr>
              <a:t>Workforce, fleet, procurement and action controls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>
            <a:off x="6629400" y="1051560"/>
            <a:ext cx="4526280" cy="1097280"/>
          </a:xfrm>
          <a:prstGeom prst="roundRect">
            <a:avLst/>
          </a:prstGeom>
          <a:solidFill>
            <a:srgbClr val="FFF7E0"/>
          </a:solidFill>
          <a:ln w="8890">
            <a:solidFill>
              <a:srgbClr val="F3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629400" y="1051560"/>
            <a:ext cx="73152" cy="10972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58000" y="1197864"/>
            <a:ext cx="4160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7A5A00"/>
                </a:solidFill>
              </a:rPr>
              <a:t>Recommended GitHub strategy: keep fewer repositories, but make each one polished, role-relevant and easy for recruiters to understand in 30 seconds.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629400" y="5779008"/>
            <a:ext cx="4526280" cy="0"/>
          </a:xfrm>
          <a:prstGeom prst="line">
            <a:avLst/>
          </a:prstGeom>
          <a:noFill/>
          <a:ln w="1016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858000" y="5861304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</a:rPr>
              <a:t>GitHub / Tech Portfolio Link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58000" y="603504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5395"/>
                </a:solidFill>
              </a:rPr>
              <a:t>https://github.com/sudheer-ahmed-khattak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02920" y="6446520"/>
            <a:ext cx="11201400" cy="0"/>
          </a:xfrm>
          <a:prstGeom prst="line">
            <a:avLst/>
          </a:prstGeom>
          <a:noFill/>
          <a:ln w="8890">
            <a:solidFill>
              <a:srgbClr val="D9E1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02920" y="6510528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Executive &amp; Project Administration • Management Reporting • Board Support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C9A24B"/>
                </a:solidFill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</TotalTime>
  <Words>998</Words>
  <Application>Microsoft Office PowerPoint</Application>
  <PresentationFormat>Widescreen</PresentationFormat>
  <Paragraphs>306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 Display</vt:lpstr>
      <vt:lpstr>Arial</vt:lpstr>
      <vt:lpstr>Century Gothic</vt:lpstr>
      <vt:lpstr>Wingdings 3</vt:lpstr>
      <vt:lpstr>Slice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Portfolio Demonstration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Management Reporting &amp; Board Support Portfolio</dc:title>
  <dc:subject>Executive Management Reporting &amp; Board Support Portfolio</dc:subject>
  <dc:creator>Sudheer Ahmed Khattak</dc:creator>
  <cp:lastModifiedBy>Sudheer Ahmed</cp:lastModifiedBy>
  <cp:revision>2</cp:revision>
  <dcterms:created xsi:type="dcterms:W3CDTF">2026-07-27T11:42:19Z</dcterms:created>
  <dcterms:modified xsi:type="dcterms:W3CDTF">2026-07-27T11:55:10Z</dcterms:modified>
</cp:coreProperties>
</file>