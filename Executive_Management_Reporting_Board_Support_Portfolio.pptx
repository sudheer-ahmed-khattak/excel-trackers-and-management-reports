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solidFill>
              <a:srgbClr val="0E3B3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Finance</c:v>
                </c:pt>
                <c:pt idx="1">
                  <c:v>Procurement</c:v>
                </c:pt>
                <c:pt idx="2">
                  <c:v>Engineering</c:v>
                </c:pt>
                <c:pt idx="3">
                  <c:v>Doc. Control</c:v>
                </c:pt>
                <c:pt idx="4">
                  <c:v>HR/Admin</c:v>
                </c:pt>
                <c:pt idx="5">
                  <c:v>Logistics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13</c:v>
                </c:pt>
                <c:pt idx="2">
                  <c:v>11</c:v>
                </c:pt>
                <c:pt idx="3">
                  <c:v>15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5B-4714-B68C-EAEEC63A85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Overdue</c:v>
                </c:pt>
              </c:strCache>
            </c:strRef>
          </c:tx>
          <c:spPr>
            <a:solidFill>
              <a:srgbClr val="C9973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Finance</c:v>
                </c:pt>
                <c:pt idx="1">
                  <c:v>Procurement</c:v>
                </c:pt>
                <c:pt idx="2">
                  <c:v>Engineering</c:v>
                </c:pt>
                <c:pt idx="3">
                  <c:v>Doc. Control</c:v>
                </c:pt>
                <c:pt idx="4">
                  <c:v>HR/Admin</c:v>
                </c:pt>
                <c:pt idx="5">
                  <c:v>Logistics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5B-4714-B68C-EAEEC63A8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6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C8F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E76-4398-9ACB-0965EA78B180}"/>
              </c:ext>
            </c:extLst>
          </c:dPt>
          <c:dPt>
            <c:idx val="1"/>
            <c:bubble3D val="0"/>
            <c:spPr>
              <a:solidFill>
                <a:srgbClr val="155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76-4398-9ACB-0965EA78B180}"/>
              </c:ext>
            </c:extLst>
          </c:dPt>
          <c:dPt>
            <c:idx val="2"/>
            <c:bubble3D val="0"/>
            <c:spPr>
              <a:solidFill>
                <a:srgbClr val="C997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76-4398-9ACB-0965EA78B180}"/>
              </c:ext>
            </c:extLst>
          </c:dPt>
          <c:dPt>
            <c:idx val="3"/>
            <c:bubble3D val="0"/>
            <c:spPr>
              <a:solidFill>
                <a:srgbClr val="B343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76-4398-9ACB-0965EA78B180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76-4398-9ACB-0965EA78B180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76-4398-9ACB-0965EA78B180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E76-4398-9ACB-0965EA78B180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E76-4398-9ACB-0965EA78B18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Closed</c:v>
                </c:pt>
                <c:pt idx="1">
                  <c:v>In Progress</c:v>
                </c:pt>
                <c:pt idx="2">
                  <c:v>Open</c:v>
                </c:pt>
                <c:pt idx="3">
                  <c:v>Overdue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31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76-4398-9ACB-0965EA78B1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6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97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8D-4C90-9437-EEDAC45CC065}"/>
              </c:ext>
            </c:extLst>
          </c:dPt>
          <c:dPt>
            <c:idx val="1"/>
            <c:bubble3D val="0"/>
            <c:spPr>
              <a:solidFill>
                <a:srgbClr val="155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8D-4C90-9437-EEDAC45CC065}"/>
              </c:ext>
            </c:extLst>
          </c:dPt>
          <c:dPt>
            <c:idx val="2"/>
            <c:bubble3D val="0"/>
            <c:spPr>
              <a:solidFill>
                <a:srgbClr val="B343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8D-4C90-9437-EEDAC45CC065}"/>
              </c:ext>
            </c:extLst>
          </c:dPt>
          <c:dPt>
            <c:idx val="3"/>
            <c:bubble3D val="0"/>
            <c:spPr>
              <a:solidFill>
                <a:srgbClr val="3C8F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8D-4C90-9437-EEDAC45CC065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D-4C90-9437-EEDAC45CC065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8D-4C90-9437-EEDAC45CC065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8D-4C90-9437-EEDAC45CC065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58D-4C90-9437-EEDAC45CC06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Open</c:v>
                </c:pt>
                <c:pt idx="1">
                  <c:v>Under Review</c:v>
                </c:pt>
                <c:pt idx="2">
                  <c:v>Action Req.</c:v>
                </c:pt>
                <c:pt idx="3">
                  <c:v>Closed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14</c:v>
                </c:pt>
                <c:pt idx="2">
                  <c:v>9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8D-4C90-9437-EEDAC45CC0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B6B6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items</c:v>
                </c:pt>
              </c:strCache>
            </c:strRef>
          </c:tx>
          <c:spPr>
            <a:solidFill>
              <a:srgbClr val="0E3B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B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Doc. Control</c:v>
                </c:pt>
                <c:pt idx="1">
                  <c:v>Contracts</c:v>
                </c:pt>
                <c:pt idx="2">
                  <c:v>Engineering</c:v>
                </c:pt>
                <c:pt idx="3">
                  <c:v>Management</c:v>
                </c:pt>
                <c:pt idx="4">
                  <c:v>HSE</c:v>
                </c:pt>
                <c:pt idx="5">
                  <c:v>Procurement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FF-4956-BE2B-1B6FDB11B8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6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value</c:v>
                </c:pt>
              </c:strCache>
            </c:strRef>
          </c:tx>
          <c:spPr>
            <a:ln w="31750" cap="flat">
              <a:solidFill>
                <a:srgbClr val="B3432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3432F"/>
              </a:solidFill>
              <a:ln w="9525" cap="flat">
                <a:solidFill>
                  <a:srgbClr val="B3432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2.8</c:v>
                </c:pt>
                <c:pt idx="2">
                  <c:v>3.6</c:v>
                </c:pt>
                <c:pt idx="3">
                  <c:v>3.2</c:v>
                </c:pt>
                <c:pt idx="4">
                  <c:v>2.7</c:v>
                </c:pt>
                <c:pt idx="5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C8-4E06-9E2B-43C7EE42F3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value</c:v>
                </c:pt>
              </c:strCache>
            </c:strRef>
          </c:tx>
          <c:spPr>
            <a:ln w="31750" cap="flat">
              <a:solidFill>
                <a:srgbClr val="3C8F6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C8F6D"/>
              </a:solidFill>
              <a:ln w="9525" cap="flat">
                <a:solidFill>
                  <a:srgbClr val="3C8F6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</c:v>
                </c:pt>
                <c:pt idx="1">
                  <c:v>1.6</c:v>
                </c:pt>
                <c:pt idx="2">
                  <c:v>2</c:v>
                </c:pt>
                <c:pt idx="3">
                  <c:v>2.8</c:v>
                </c:pt>
                <c:pt idx="4">
                  <c:v>3.1</c:v>
                </c:pt>
                <c:pt idx="5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C8-4E06-9E2B-43C7EE42F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6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6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hart" Target="../charts/chart3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chart" Target="../charts/chart4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754880"/>
            <a:ext cx="4754880" cy="475488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PORTFOLIO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Management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Board Support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sample demonstrating executive reporting, board meeting support,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tracking, and project-control presentation capability.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46920" y="54864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46920" y="548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SUDHEER
</a:t>
            </a:r>
            <a:r>
              <a:rPr lang="en-US" sz="14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3337560"/>
            <a:ext cx="1737360" cy="1737360"/>
          </a:xfrm>
          <a:prstGeom prst="ellipse">
            <a:avLst/>
          </a:prstGeom>
          <a:solidFill>
            <a:srgbClr val="C9973E"/>
          </a:solidFill>
          <a:ln/>
          <a:effectLst>
            <a:outerShdw blurRad="1778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33375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56188" y="2148840"/>
            <a:ext cx="868680" cy="868680"/>
          </a:xfrm>
          <a:prstGeom prst="ellipse">
            <a:avLst/>
          </a:prstGeom>
          <a:solidFill>
            <a:srgbClr val="155E52"/>
          </a:solidFill>
          <a:ln w="15875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portfolio/pptx_vip/icons/p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882" y="2663992"/>
            <a:ext cx="399593" cy="39959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82694" y="303364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59217" y="3535884"/>
            <a:ext cx="868680" cy="868680"/>
          </a:xfrm>
          <a:prstGeom prst="ellipse">
            <a:avLst/>
          </a:prstGeom>
          <a:solidFill>
            <a:srgbClr val="155E52"/>
          </a:solidFill>
          <a:ln w="15875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portfolio/pptx_vip/icons/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761" y="3777469"/>
            <a:ext cx="399593" cy="3995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07757" y="44390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970388" y="4909654"/>
            <a:ext cx="868680" cy="868680"/>
          </a:xfrm>
          <a:prstGeom prst="ellipse">
            <a:avLst/>
          </a:prstGeom>
          <a:solidFill>
            <a:srgbClr val="155E52"/>
          </a:solidFill>
          <a:ln w="15875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portfolio/pptx_vip/icons/procure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932" y="5144198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18928" y="580576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9511054" y="4654296"/>
            <a:ext cx="868680" cy="868680"/>
          </a:xfrm>
          <a:prstGeom prst="ellipse">
            <a:avLst/>
          </a:prstGeom>
          <a:solidFill>
            <a:srgbClr val="155E52"/>
          </a:solidFill>
          <a:ln w="15875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portfolio/pptx_vip/icons/do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598" y="4875405"/>
            <a:ext cx="399593" cy="399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59594" y="553697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9854163" y="3098867"/>
            <a:ext cx="868680" cy="868680"/>
          </a:xfrm>
          <a:prstGeom prst="ellipse">
            <a:avLst/>
          </a:prstGeom>
          <a:solidFill>
            <a:srgbClr val="155E52"/>
          </a:solidFill>
          <a:ln w="15875">
            <a:solidFill>
              <a:srgbClr val="C997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portfolio/pptx_vip/icons/k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645" y="3342553"/>
            <a:ext cx="399593" cy="399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18641" y="400412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155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548640" y="63642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demonstration with synthetic / anonymized sample data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966960" y="6364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Reporting Positioning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executive office coordination, board support, PMO-style project administration and management reporting.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 yrs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52344" y="1572768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52344" y="16642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/ PSM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52344" y="22402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SUPPORT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01768" y="1572768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01768" y="16642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+ BI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01768" y="22402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51192" y="1572768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16642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/ Aconex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51192" y="22402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500616" y="1572768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00616" y="16642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 / Sign-off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500616" y="22402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SUPPORT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POSITIONING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73552"/>
          <a:ext cx="11201400" cy="25237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Capability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Evidence in Work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Portfolio Proof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Executive office support with cross-functional follow-up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Action tracking, meeting notes, MOMs and closure visibility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Board support — MOMs, DocuSign, agendas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Management-level KPI reports, dashboards and presentations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Document control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This deck + action logs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Document workflows: Aconex, DocuSign, SharePoint / Drive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Letters, transmittals, drawings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Command Center workbook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Operations coordination across logistics, facilities, transport and procurement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KPI reporting — Excel, Power BI, SQL reporting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Power BI + Excel repos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Leadership follow-up on open actions and deadlines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Operations control — fleet, facilities, procurement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Control Center workbook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2920" y="6108192"/>
            <a:ext cx="11201400" cy="292608"/>
          </a:xfrm>
          <a:prstGeom prst="roundRect">
            <a:avLst>
              <a:gd name="adj" fmla="val 1875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5800" y="61081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is structured to prove practical administration and reporting capability — not only tools, but management follow-up, controls and decision-ready visibility.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Reporting Operating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reporting flow from raw inputs to management decisions and closed actions.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+ urgent follow-up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62763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700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 + KPI cut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62763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700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627632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06840" y="1700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Cycle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0684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+ MOM + sign-off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56716" y="28803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/home/claude/portfolio/pptx_vip/icons/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98" y="3082442"/>
            <a:ext cx="373075" cy="37307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" y="2770632"/>
            <a:ext cx="365760" cy="365760"/>
          </a:xfrm>
          <a:prstGeom prst="rect">
            <a:avLst/>
          </a:prstGeom>
          <a:solidFill>
            <a:srgbClr val="0A2B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3767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409651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meetings, Aconex, Oracle, site inputs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42032" y="30403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3415284" y="28803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/home/claude/portfolio/pptx_vip/icons/vali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3082442"/>
            <a:ext cx="373075" cy="3730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369564" y="2770632"/>
            <a:ext cx="365760" cy="365760"/>
          </a:xfrm>
          <a:prstGeom prst="rect">
            <a:avLst/>
          </a:prstGeom>
          <a:solidFill>
            <a:srgbClr val="0A2B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761488" y="3767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2807208" y="409651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owners, dates, evidence and status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800600" y="30403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673852" y="2880360"/>
            <a:ext cx="777240" cy="77724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/home/claude/portfolio/pptx_vip/icons/stru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934" y="3082442"/>
            <a:ext cx="373075" cy="37307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628132" y="2770632"/>
            <a:ext cx="365760" cy="365760"/>
          </a:xfrm>
          <a:prstGeom prst="rect">
            <a:avLst/>
          </a:prstGeom>
          <a:solidFill>
            <a:srgbClr val="0A2B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020056" y="3767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5065776" y="409651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registers, trackers and KPI logic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059168" y="30403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7932420" y="28803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/home/claude/portfolio/pptx_vip/icons/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502" y="3082442"/>
            <a:ext cx="373075" cy="37307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886700" y="2770632"/>
            <a:ext cx="365760" cy="365760"/>
          </a:xfrm>
          <a:prstGeom prst="rect">
            <a:avLst/>
          </a:prstGeom>
          <a:solidFill>
            <a:srgbClr val="0A2B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278624" y="3767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7324344" y="409651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presentations and summary notes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9317736" y="30403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43" name="Shape 37"/>
          <p:cNvSpPr/>
          <p:nvPr/>
        </p:nvSpPr>
        <p:spPr>
          <a:xfrm>
            <a:off x="10190988" y="28803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/home/claude/portfolio/pptx_vip/icons/follow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3070" y="3082442"/>
            <a:ext cx="373075" cy="37307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0145268" y="2770632"/>
            <a:ext cx="365760" cy="365760"/>
          </a:xfrm>
          <a:prstGeom prst="rect">
            <a:avLst/>
          </a:prstGeom>
          <a:solidFill>
            <a:srgbClr val="0A2B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9537192" y="3767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up</a:t>
            </a:r>
            <a:endParaRPr lang="en-US" sz="1350" dirty="0"/>
          </a:p>
        </p:txBody>
      </p:sp>
      <p:sp>
        <p:nvSpPr>
          <p:cNvPr id="47" name="Text 40"/>
          <p:cNvSpPr/>
          <p:nvPr/>
        </p:nvSpPr>
        <p:spPr>
          <a:xfrm>
            <a:off x="9582912" y="409651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Escalate, close, archive and retain visibility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result: leadership does not chase status manually — they see open items, risk, ownership and overdue exposure in one structured reporting cycle.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Executive KPI Pack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/ management review slide combining status, risk and action closure visibility.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34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57276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C8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076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69680" y="157276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REVIEW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EXPOSURE BY FUNCTION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999232"/>
          <a:ext cx="5532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1722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STATUS MIX</a:t>
            </a:r>
            <a:endParaRPr lang="en-US" sz="11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080760" y="2999232"/>
          <a:ext cx="2880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91897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999232"/>
          <a:ext cx="2560320" cy="19751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Risk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Cnt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Pri.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Overdue &gt;14d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Unassigned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Pending sign-off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Late submission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Closed this wk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Pos.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to management: focus first on overdue items, missing owners and pending sign-offs; everything else remains visible through the routine dashboard cycle.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&amp; Management Meeting 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board secretariat workflow: agenda, minutes, approvals and action closure.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SECRETARIAT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56716" y="19659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portfolio/pptx_vip/icons/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98" y="2168042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8346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542032" y="21259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15284" y="19659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portfolio/pptx_vip/icons/no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216804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1488" y="28346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800600" y="21259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673852" y="19659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portfolio/pptx_vip/icons/m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934" y="216804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0056" y="28346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059168" y="21259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7932420" y="1965960"/>
            <a:ext cx="777240" cy="77724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ortfolio/pptx_vip/icons/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502" y="21680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8624" y="28346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DocuSign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317736" y="21259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E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10190988" y="1965960"/>
            <a:ext cx="777240" cy="77724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portfolio/pptx_vip/icons/clos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3070" y="2168042"/>
            <a:ext cx="373075" cy="3730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37192" y="28346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553212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Output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28"/>
                          </a:solidFill>
                        </a:rPr>
                        <a:t>Agenda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Meeting scope &amp; owner inputs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28"/>
                          </a:solidFill>
                        </a:rPr>
                        <a:t>MOM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Decisions and action owners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28"/>
                          </a:solidFill>
                        </a:rPr>
                        <a:t>Action Log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Closure status and aging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28"/>
                          </a:solidFill>
                        </a:rPr>
                        <a:t>Sign-off Pack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Controlled approval trail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28"/>
                          </a:solidFill>
                        </a:rPr>
                        <a:t>Summary Note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Fast leadership review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0"/>
          <p:cNvSpPr/>
          <p:nvPr/>
        </p:nvSpPr>
        <p:spPr>
          <a:xfrm>
            <a:off x="6355080" y="3703320"/>
            <a:ext cx="5349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473952" y="3785616"/>
            <a:ext cx="420624" cy="420624"/>
          </a:xfrm>
          <a:prstGeom prst="ellipse">
            <a:avLst/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/home/claude/portfolio/pptx_vip/icons/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314" y="3894978"/>
            <a:ext cx="201900" cy="2019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22592" y="37581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7022592" y="40050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approval trail via sign-off pack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6355080" y="4379976"/>
            <a:ext cx="5349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6473952" y="4462272"/>
            <a:ext cx="420624" cy="420624"/>
          </a:xfrm>
          <a:prstGeom prst="ellipse">
            <a:avLst/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/home/claude/portfolio/pptx_vip/icons/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314" y="4571634"/>
            <a:ext cx="201900" cy="2019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22592" y="44348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Ownership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7022592" y="46817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mapped to a named owner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6355080" y="5056632"/>
            <a:ext cx="5349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6473952" y="5138928"/>
            <a:ext cx="420624" cy="420624"/>
          </a:xfrm>
          <a:prstGeom prst="ellipse">
            <a:avLst/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7" descr="/home/claude/portfolio/pptx_vip/icons/clos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314" y="5248290"/>
            <a:ext cx="201900" cy="2019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022592" y="5111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 Focus</a:t>
            </a:r>
            <a:endParaRPr lang="en-US" sz="1150" dirty="0"/>
          </a:p>
        </p:txBody>
      </p:sp>
      <p:sp>
        <p:nvSpPr>
          <p:cNvPr id="42" name="Text 31"/>
          <p:cNvSpPr/>
          <p:nvPr/>
        </p:nvSpPr>
        <p:spPr>
          <a:xfrm>
            <a:off x="7022592" y="53583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trail carried through to action closure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502920" y="5806440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3"/>
          <p:cNvSpPr/>
          <p:nvPr/>
        </p:nvSpPr>
        <p:spPr>
          <a:xfrm>
            <a:off x="777240" y="580644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board support is not only writing minutes — it is preserving decisions, owners, deadlines and follow-up discipline.</a:t>
            </a:r>
            <a:endParaRPr lang="en-US" sz="1150" dirty="0"/>
          </a:p>
        </p:txBody>
      </p:sp>
      <p:sp>
        <p:nvSpPr>
          <p:cNvPr id="45" name="Text 34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46" name="Text 3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Control &amp; Correspondence Reporting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design for correspondence registers, transmittals, revision tracking and response aging.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 STATUS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737360"/>
          <a:ext cx="35661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EXPOSURE BY DEPARTMENT</a:t>
            </a:r>
            <a:endParaRPr lang="en-US" sz="10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365760" y="4187952"/>
          <a:ext cx="35661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25196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 REGISTER (SAMPLE)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755648"/>
          <a:ext cx="3794760" cy="240487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Ref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Aging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Owner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COR-001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Letter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Action Req.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18d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Contracts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COR-002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Transmittal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Under Review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7d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Engineering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COR-003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RFI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Open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12d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Construction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COR-004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Submittal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Closed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0d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Doc Control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COR-005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Memo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Open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21d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Management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822960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WORKFLOW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229600" y="1828800"/>
            <a:ext cx="475488" cy="47548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portfolio/pptx_vip/icons/rece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227" y="1952427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23960" y="1801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823960" y="2048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/ drawing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8229600" y="2414016"/>
            <a:ext cx="475488" cy="47548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ortfolio/pptx_vip/icons/regi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227" y="2537643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23960" y="2386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823960" y="26334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no. &amp; metadata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8229600" y="2999232"/>
            <a:ext cx="475488" cy="47548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/home/claude/portfolio/pptx_vip/icons/assig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227" y="3122859"/>
            <a:ext cx="228234" cy="22823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82396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8823960" y="3218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due date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8229600" y="3584448"/>
            <a:ext cx="475488" cy="47548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/home/claude/portfolio/pptx_vip/icons/tr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227" y="3708075"/>
            <a:ext cx="228234" cy="2282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823960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8823960" y="3803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+ response</a:t>
            </a:r>
            <a:endParaRPr lang="en-US" sz="850" dirty="0"/>
          </a:p>
        </p:txBody>
      </p:sp>
      <p:sp>
        <p:nvSpPr>
          <p:cNvPr id="30" name="Shape 21"/>
          <p:cNvSpPr/>
          <p:nvPr/>
        </p:nvSpPr>
        <p:spPr>
          <a:xfrm>
            <a:off x="8229600" y="4169664"/>
            <a:ext cx="475488" cy="47548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portfolio/pptx_vip/icons/archi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3227" y="4293291"/>
            <a:ext cx="228234" cy="22823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823960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8823960" y="43891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+ closure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4160520" y="4005072"/>
            <a:ext cx="379476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4389120" y="4133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389120" y="4462272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letter, transmittal or RFI is registered with a reference number, an owner and a due date — so response aging is visible before it becomes a delay.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items retain a link back to the original document, keeping the register audit-ready at any point in the project.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8229600" y="48920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/>
          <p:nvPr/>
        </p:nvSpPr>
        <p:spPr>
          <a:xfrm>
            <a:off x="8412480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DAYS</a:t>
            </a:r>
            <a:endParaRPr lang="en-US" sz="2400" dirty="0"/>
          </a:p>
        </p:txBody>
      </p:sp>
      <p:sp>
        <p:nvSpPr>
          <p:cNvPr id="39" name="Text 29"/>
          <p:cNvSpPr/>
          <p:nvPr/>
        </p:nvSpPr>
        <p:spPr>
          <a:xfrm>
            <a:off x="8412480" y="54315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correspondence response time across all departments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Procurement, Payment &amp; Operations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view connecting PR/PO workflows, invoices, payments and operational support.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0120" y="1572768"/>
            <a:ext cx="640080" cy="64008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ortfolio/pptx_vip/icons/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173918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267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39112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42616" y="1572768"/>
            <a:ext cx="640080" cy="64008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ortfolio/pptx_vip/icons/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037" y="17391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85416" y="2267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721608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E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25112" y="1572768"/>
            <a:ext cx="640080" cy="64008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ortfolio/pptx_vip/icons/deliv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1533" y="17391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67912" y="2267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Received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04104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007608" y="1572768"/>
            <a:ext cx="640080" cy="640080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portfolio/pptx_vip/icons/invo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029" y="1739189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50408" y="2267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086600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690104" y="1572768"/>
            <a:ext cx="640080" cy="64008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portfolio/pptx_vip/icons/pay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6525" y="1739189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32904" y="2267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006840" y="1572768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9006840" y="16642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34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90068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RNI ITEMS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10378440" y="1572768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  <a:effectLst>
            <a:outerShdw blurRad="101600" dist="25400" dir="5400000" algn="bl" rotWithShape="0">
              <a:srgbClr val="1B2B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10378440" y="16642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C8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103784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RATE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02920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CONTROL TREND (M SAR)</a:t>
            </a:r>
            <a:endParaRPr lang="en-US" sz="105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365760" y="3154680"/>
          <a:ext cx="5532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4" name="Text 26"/>
          <p:cNvSpPr/>
          <p:nvPr/>
        </p:nvSpPr>
        <p:spPr>
          <a:xfrm>
            <a:off x="6309360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AREAS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154680"/>
          <a:ext cx="544068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Control Area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3EFE4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PR/PO Aging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14 open &gt; 10d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Watch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Delivery Records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92% received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On Track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Invoice Follow-up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8 pending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Action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DocuSign Sign-off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5 waiting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Action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Monthly Close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Ready for review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28"/>
                          </a:solidFill>
                        </a:rPr>
                        <a:t>On Track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Shape 27"/>
          <p:cNvSpPr/>
          <p:nvPr/>
        </p:nvSpPr>
        <p:spPr>
          <a:xfrm>
            <a:off x="502920" y="5806440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777240" y="580644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executive reporting is the connection between workflow status, financial exposure and responsible follow-up.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Roadmap &amp; Recruiter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story for recruiters: practical reporting outputs mapped to real administrative roles.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7360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566928" cy="566928"/>
          </a:xfrm>
          <a:prstGeom prst="ellipse">
            <a:avLst/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portfolio/pptx_vip/icons/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1756745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" y="1453896"/>
            <a:ext cx="329184" cy="329184"/>
          </a:xfrm>
          <a:prstGeom prst="rect">
            <a:avLst/>
          </a:prstGeom>
          <a:solidFill>
            <a:srgbClr val="C997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71600" y="15544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Assistant / Secretary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1828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cycle, MOM, action log, presentation deck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371600" y="20574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 Deck  —  Board / management reporting presentation sample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2441448"/>
            <a:ext cx="7360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0080" y="2542032"/>
            <a:ext cx="566928" cy="56692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portfolio/pptx_vip/icons/k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2689433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6072" y="2386584"/>
            <a:ext cx="329184" cy="329184"/>
          </a:xfrm>
          <a:prstGeom prst="rect">
            <a:avLst/>
          </a:prstGeom>
          <a:solidFill>
            <a:srgbClr val="C997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371600" y="24871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Administrator / PMO Support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371600" y="27614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control center + KPI dashboards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371600" y="29900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Workforce KPI Dashboard  —  Workforce, attendance and overtime analytics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3374136"/>
            <a:ext cx="7360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40080" y="3474720"/>
            <a:ext cx="566928" cy="566928"/>
          </a:xfrm>
          <a:prstGeom prst="ellipse">
            <a:avLst/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/home/claude/portfolio/pptx_vip/icons/do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3622121"/>
            <a:ext cx="272125" cy="2721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6072" y="3319272"/>
            <a:ext cx="329184" cy="329184"/>
          </a:xfrm>
          <a:prstGeom prst="rect">
            <a:avLst/>
          </a:prstGeom>
          <a:solidFill>
            <a:srgbClr val="C997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371600" y="34198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Controller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371600" y="36941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 command center + hyperlink registers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371600" y="39227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Command Center  —  Correspondence, document register and hyperlinks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02920" y="4306824"/>
            <a:ext cx="7360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40080" y="4407408"/>
            <a:ext cx="566928" cy="566928"/>
          </a:xfrm>
          <a:prstGeom prst="ellipse">
            <a:avLst/>
          </a:prstGeom>
          <a:solidFill>
            <a:srgbClr val="155E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/home/claude/portfolio/pptx_vip/icons/procure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81" y="4554809"/>
            <a:ext cx="272125" cy="27212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6072" y="4251960"/>
            <a:ext cx="329184" cy="329184"/>
          </a:xfrm>
          <a:prstGeom prst="rect">
            <a:avLst/>
          </a:prstGeom>
          <a:solidFill>
            <a:srgbClr val="C997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371600" y="43525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/ Facilities Coordinator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371600" y="46268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Workforce, fleet, procurement and action controls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1371600" y="48554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Project Operations Control Center  —  Actions, procurement, workforce, KPI scorecard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092440" y="1508760"/>
            <a:ext cx="3611880" cy="3611880"/>
          </a:xfrm>
          <a:prstGeom prst="roundRect">
            <a:avLst>
              <a:gd name="adj" fmla="val 2532"/>
            </a:avLst>
          </a:prstGeom>
          <a:solidFill>
            <a:srgbClr val="0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366760" y="1737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C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STRATEGY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8366760" y="2331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fewer repositories, but make each one polished, role-relevant, and easy for recruiters to understand in 30 seconds.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366760" y="342900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/home/claude/portfolio/pptx_vip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1294" y="3583534"/>
            <a:ext cx="285293" cy="28529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09828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sudheer-ahmed-khattak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366760" y="4251960"/>
            <a:ext cx="3063240" cy="0"/>
          </a:xfrm>
          <a:prstGeom prst="line">
            <a:avLst/>
          </a:prstGeom>
          <a:noFill/>
          <a:ln w="12700">
            <a:solidFill>
              <a:srgbClr val="155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8366760" y="4389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portfolio pieces  •  3 tools  •  1 clear story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in this portfolio maps directly to a target role — recruiters can trace capability to proof in under a minute.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Project Administration  •  Management Reporting  •  Board Support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PresentationFormat>Widescreen</PresentationFormat>
  <Paragraphs>311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Sudheer Ahmed</cp:lastModifiedBy>
  <cp:revision>2</cp:revision>
  <dcterms:created xsi:type="dcterms:W3CDTF">2026-07-28T05:09:20Z</dcterms:created>
  <dcterms:modified xsi:type="dcterms:W3CDTF">2026-07-28T10:08:55Z</dcterms:modified>
</cp:coreProperties>
</file>